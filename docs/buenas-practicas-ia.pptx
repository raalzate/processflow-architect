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APERTURA (40s). Audiencia: arquitectos. Promesa: no es una charla de 'trucos de prompt', son 7 PATRONES de ingeniería para construir sistemas de IA confiables, con definiciones claras, DATOS medidos y DIAGRAMAS. Cada patrón es replicable en cualquier stack; lo evidencio con un caso real (Processflow Architect, app de escritorio con IA local) que además veremos como demo al final. Marca el contrato de la charla: 'defino el término, muestro el patrón general, doy el dato y enseño la evidencia'.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TESIS (45s). Fija expectativa: el modelo es commodity; el valor está en las 7 decisiones que lo rodean. Explica la estructura repetida de cada slide (define → patrón → dato → evidencia) para que el público sepa qué buscar. Recalca lo que pidió el encargo: el foco es el PATRÓN GENERAL replicable; el proyecto es la prueba, no el tema. Invita a robarse los patrones.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DEFINICIONES (75s). 'Resuelve preguntas y define términos' — esta es la slide del encargo. Léela como glosario compartido para que nadie se pierda después. Insiste en la CUARTA columna: cada ingeniería existe porque responde UNA pregunta concreta de diseño. Para arquitectos, esa pregunta es el gancho: si en tu sistema no tienes respuesta explícita a esas 7, ahí están tus riesgos. No te detengas en cada fila; es referencia, volveremos a cada una.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MAESTRO (90s). La slide-póster: si el público solo recuerda una, que sea esta. Recorre las columnas: la ingeniería, el patrón GENERAL para replicar (independiente del stack), dónde se evidencia en el proyecto, y el DATO que lo hace creíble. Destaca dos datos fuertes: Context ahorra 68-79% de tokens (medido, lo vemos en 3 slides) y Loop está acotado a 5 turnos. Di: 'las próximas 7 slides son una fila cada una, en detalle, con su diagrama'. Esta tabla es el índice ejecutable.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RETO EN DATOS (75s). Aterriza por qué todo lo demás importa, con NÚMEROS reales sacados del código. El modelo local pequeño quita las dos redes habituales: no hay backend para esconder latencia ni ventana enorme. Por eso el proyecto define presupuestos explícitos: 5 turnos de agente; límites de contexto por tipo de contenido (documentos 12k, grafo 8k, artefactos 3k, transcript 1.5k caracteres); las tareas ligeras topan a 600-800 y si se pasan van a la nube; las llaves siempre cifradas. Mensaje para arquitectos: presupuesto con tope duro + política al excederlo. Estos números reaparecen en las ingenierías de Context, Loop y Flow.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(100s). El patrón estrella y el que mejor se mide. Explica el pipeline: el GraphData trae coordenadas, colores y estados internos de la simulación (d3) — ruido que quema tokens; pruneNoise borra 22 claves; luego se codifica en TOON, donde un array de nodos se vuelve UNA tabla 'nodos[12]{id,nombre,tipo,...}:' con filas CSV en vez de repetir llaves. DATO medido sobre un grafo de 12 nodos: de ~2968 tokens (JSON legible) o ~1956 (compacto) a ~854 en TOON — 68 a 79% menos según el caso. Menos tokens = menos latencia que el usuario SIENTE, y cabe más dominio en la ventana. Para replicar en cualquier stack: mide tu payload, poda lo no semántico, tabula lo uniforme, presupuesta por fuente. La leyenda de una línea (TOON_LEGEND) le enseña al modelo a leer la tabla.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(90s). Lo contraintuitivo: el buen prompt es necesario pero NO suficiente con modelos locales pequeños. Aunque el system prompt exija 'responde solo el tipo, sin comillas', el modelo devuelve basura alrededor. La tabla es evidencia real del repo: seis formas en que desobedece y la función que lo limpia (stripQuotes, stripFence, stripTrailingCommas, parseJson, extractField) más la validación contra lista cerrada (NODE_TYPES). Mensaje para arquitectos, y el más importante de esta slide: 'toda salida de un LLM es entrada no confiable' — valídala como validarías un formulario de internet. El prompt propone; el parser dispone.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INTENT (85s). Patrón de arquitectura pura. En vez de esparcir lógica de IA (elección de proveedor, prompt, parseo) por los componentes, cada capacidad se DECLARA como una AiTask: id, tier (light/heavy), si exige salida estructurada, tope de entrada, cómo construir el prompt y cómo parsear. Es dato, no código imperativo. La tabla contrasta el antes/después. La regla del repo: 'añadir una función de IA = declarar una AiTask, nada más' — no se toca el router ni la UI. Para el arquitecto: esto es capturar la INTENCIÓN de negocio de forma que el sistema la pueda enrutar solo; es lo que hace que el siguiente patrón (Flow) sea posible.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FLOW (95s). El router es el director de orquesta y el único que decide el motor. Sigue el árbol: si el modo es 'local' → todo local; si es 'remote' → todo nube; si es 'híbrido' (el default), entra la política: tarea heavy o que exige salida estructurada → SIEMPRE nube, y NUNCA degrada a local (preferimos un error claro a una salida basura del modelo pequeño); tarea ligera → local, salvo que la entrada supere el tope (600-800), entonces sube a la nube. El fallback es asimétrico A PROPÓSITO. Y clave para operar: route() devuelve provider, fellBack y reason — la decisión es observable, no magia. Seguridad: las llaves se cifran con safeStorage en el proceso main, nunca tocan el renderer ni los logs. Para replicar: centraliza la política y hazla trazable.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LOOP (90s). Aquí nace la autonomía y su riesgo. El agente sigue ReAct: RAZONA, emite UNA acción en JSON (generar documento o diagrama), el runtime EJECUTA la herramienta y le devuelve la OBSERVACIÓN, y vuelve a razonar con ese resultado. El patrón obligatorio es ACOTAR: MAX_TURNS=5 evita ciclos infinitos y costo descontrolado; el contrato es una acción por turno o el objeto {final}; una acción inválida recibe un mensaje correctivo en vez de romper el turno; y si el JSON viene ilegible, se rescata el 'final'. Contrasta con la siguiente slide: aquí el bucle es del AGENTE; el freno HUMANO es otra cosa. Regla para arquitectos: ningún bucle de agente sin límite duro y sin contrato de terminación.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HITL (85s). Punto de madurez en confiabilidad y decisión de diseño explícita: el agente de Processflow NO edita el lienzo. Solo LEE el contexto y PRODUCE artefactos (documentos markdown, diagramas mermaid) que el usuario revisa, versiona y decide insertar o descartar. El humano es la compuerta entre 'la IA propuso' y 'entró al modelo de dominio' — nada cambia en silencio; cero escrituras directas. Combínalo con las redes de seguridad (siguiente slide) para doble protección ante la impredecibilidad del modelo. Para arquitectos: identifica en TU sistema la frontera donde la aprobación humana es innegociable, y hazla imposible de saltar por diseño, no por convención.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HARNESS (85s). El cierre técnico, el menos glamuroso, el que sostiene todo lo demás. La regla del proyecto: la lógica que DECIDE (grafo, TOON, tareas, enrutamiento, parseo) vive en src/lib/ SIN React ni Electron — pura, determinista, testeable. TDD: toda función nueva o cambio de comportamiento lleva prueba, junto al módulo en __tests__/. El gate de CI corre typecheck + vitest + cobertura en cada push/PR a main; en rojo no se mergea. Y se prueban también las redes de seguridad, no solo el camino feliz. Mensaje: el arnés (pruebas + observabilidad) es lo que convierte un demo que impresiona en un sistema en el que confías. Para arquitectos: si tu lógica de IA no se puede testear, primero aíslala del framework.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DEGRADAR (75s). Este patrón no es una de las 7, es transversal: aparece en Context, Flow, Loop y Harness. Dos ejemplos reales. (1) safeGraphToToon nunca lanza: si la codificación TOON falla, degrada a JSON compacto, y si eso falla, a cadena vacía — un grafo mal formado no tumba el turno. (2) graph-processor: si la IA no produjo agregados con nodos pero sí un big_picture, lo expone como 'Visión General'; si el filtro de nodos conectados vació el lienzo, incluye los sueltos. La regla del repo: 'el lienzo nunca queda en blanco'. Para arquitectos: diseña el estado degradado ANTES de necesitarlo y pruébalo; con IA, el fallo no es excepcional, es rutina.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ARQUITECTURA (85s). Recompón el rompecabezas con un caso end-to-end, la vista que un arquitecto necesita. El usuario suelta un PDF y pide modelarlo: Intent lo vuelve una o varias AiTask; Context mete el PDF y el grafo comprimidos en TOON; Prompt formula cada paso y sanea la salida; Flow enruta según peso; Loop (ReAct) itera hasta cerrar, acotado; HITL deja que el usuario apruebe cada artefacto; Harness garantiza que nada se rompió. Remate y frase para llevar: 'ninguna capa sobra; quita una y el sistema deja de ser confiable' — nómbralas: sin Context alucina, sin Loop no compone, sin HITL corrompe, sin Harness no te enteras.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REPLICAR (70s). La slide accionable, hecha para arquitectos. Es el resumen ejecutable: ocho principios (las 7 ingenierías + el patrón transversal de degradación) con su 'cómo' independiente del stack. Invita a que la fotografíen. Recórrela rápido enfatizando que ninguna depende de Processflow ni de un modelo local: aplican igual con un LLM en la nube, solo que a escala los costos de ignorarlas son mayores. Cierra: 'ahora veámoslo vivo'.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(3-4 min · corazón de la charla). La app deja de ser diapositiva y se vuelve prueba viva. Sigue el guion y NOMBRA el patrón en voz alta en cada paso: (1) suelto un PDF y pido modelarlo → Intent y Context (el documento entra comprimido); (2) el agente hace su bucle ReAct y propone un diagrama → Loop y parseo defensivo del JSON; (3) reviso el artefacto y decido insertarlo → HITL; (4) provoco un fallo (dato raro o corto la nube) y el lienzo sigue mostrando algo → degradación; (5) activo modo híbrido en una tarea pesada y muestro el 'reason' del router → Flow observable. PLAN B por si falla el equipo: capturas o video corto listos. Cierra: 'no hay magia; es la suma de los patrones que acabamos de ver'.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(45s). Frase memorable: 'el demo lo hace cualquiera; la confiabilidad son las 7 ingenierías'. Repite la división mental (3 sobre qué le pides al modelo, 4 sobre cómo lo construyes) y recuerda los tres datos ancla: 79% menos tokens, 5 turnos, cero escrituras sin aprobación humana. Reencuadra la restricción del modelo local como ventaja pedagógica: te obliga a la disciplina que igual necesitarás a escala en la nube. Abre preguntas; si sobra tiempo, vuelve a la app.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863840" y="-1097280"/>
            <a:ext cx="5486400" cy="5486400"/>
          </a:xfrm>
          <a:prstGeom prst="roundRect">
            <a:avLst>
              <a:gd name="adj" fmla="val 12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52560" y="3291840"/>
            <a:ext cx="4572000" cy="4572000"/>
          </a:xfrm>
          <a:prstGeom prst="roundRect">
            <a:avLst>
              <a:gd name="adj" fmla="val 12000"/>
            </a:avLst>
          </a:prstGeom>
          <a:solidFill>
            <a:srgbClr val="15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188720"/>
            <a:ext cx="128016" cy="3566160"/>
          </a:xfrm>
          <a:prstGeom prst="rect">
            <a:avLst/>
          </a:prstGeom>
          <a:solidFill>
            <a:srgbClr val="34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987552"/>
            <a:ext cx="10058400" cy="54864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400" b="1">
                <a:solidFill>
                  <a:srgbClr val="34D3EE"/>
                </a:solidFill>
                <a:latin typeface="Segoe UI"/>
              </a:rPr>
              <a:t>IA APLICADA · PATRONES DE ARQUITECTURA PARA REPLICAR</a:t>
            </a:r>
          </a:p>
        </p:txBody>
      </p:sp>
      <p:sp>
        <p:nvSpPr>
          <p:cNvPr id="7" name="TextBox 6"/>
          <p:cNvSpPr txBox="1"/>
          <p:nvPr/>
        </p:nvSpPr>
        <p:spPr>
          <a:xfrm>
            <a:off x="1143000" y="1481328"/>
            <a:ext cx="9784080" cy="2194560"/>
          </a:xfrm>
          <a:prstGeom prst="rect">
            <a:avLst/>
          </a:prstGeom>
          <a:noFill/>
        </p:spPr>
        <p:txBody>
          <a:bodyPr wrap="square" anchor="t" lIns="12700" rIns="12700" tIns="12700" bIns="12700">
            <a:spAutoFit/>
          </a:bodyPr>
          <a:lstStyle/>
          <a:p>
            <a:pPr algn="l">
              <a:lnSpc>
                <a:spcPct val="98000"/>
              </a:lnSpc>
              <a:spcBef>
                <a:spcPts val="0"/>
              </a:spcBef>
              <a:spcAft>
                <a:spcPts val="500"/>
              </a:spcAft>
            </a:pPr>
            <a:r>
              <a:rPr sz="5400" b="1">
                <a:solidFill>
                  <a:srgbClr val="F4F6FB"/>
                </a:solidFill>
                <a:latin typeface="Segoe UI"/>
              </a:rPr>
              <a:t>Las 7 ingenierías</a:t>
            </a:r>
          </a:p>
          <a:p>
            <a:pPr algn="l">
              <a:lnSpc>
                <a:spcPct val="98000"/>
              </a:lnSpc>
              <a:spcBef>
                <a:spcPts val="0"/>
              </a:spcBef>
              <a:spcAft>
                <a:spcPts val="500"/>
              </a:spcAft>
            </a:pPr>
            <a:r>
              <a:rPr sz="5400" b="1">
                <a:solidFill>
                  <a:srgbClr val="F4F6FB"/>
                </a:solidFill>
                <a:latin typeface="Segoe UI"/>
              </a:rPr>
              <a:t>de la IA aplicada</a:t>
            </a:r>
          </a:p>
        </p:txBody>
      </p:sp>
      <p:sp>
        <p:nvSpPr>
          <p:cNvPr id="8" name="TextBox 7"/>
          <p:cNvSpPr txBox="1"/>
          <p:nvPr/>
        </p:nvSpPr>
        <p:spPr>
          <a:xfrm>
            <a:off x="1188720" y="3840480"/>
            <a:ext cx="9784080" cy="1097280"/>
          </a:xfrm>
          <a:prstGeom prst="rect">
            <a:avLst/>
          </a:prstGeom>
          <a:noFill/>
        </p:spPr>
        <p:txBody>
          <a:bodyPr wrap="square" anchor="t" lIns="12700" rIns="12700" tIns="12700" bIns="12700">
            <a:spAutoFit/>
          </a:bodyPr>
          <a:lstStyle/>
          <a:p>
            <a:pPr algn="l">
              <a:lnSpc>
                <a:spcPct val="115000"/>
              </a:lnSpc>
              <a:spcBef>
                <a:spcPts val="0"/>
              </a:spcBef>
              <a:spcAft>
                <a:spcPts val="500"/>
              </a:spcAft>
            </a:pPr>
            <a:r>
              <a:rPr sz="1900" b="0">
                <a:solidFill>
                  <a:srgbClr val="9AA4C0"/>
                </a:solidFill>
                <a:latin typeface="Segoe UI"/>
              </a:rPr>
              <a:t>Definiciones, </a:t>
            </a:r>
            <a:r>
              <a:rPr sz="1900" b="1">
                <a:solidFill>
                  <a:srgbClr val="34D3EE"/>
                </a:solidFill>
                <a:latin typeface="Segoe UI"/>
              </a:rPr>
              <a:t>datos</a:t>
            </a:r>
            <a:r>
              <a:rPr sz="1900" b="0">
                <a:solidFill>
                  <a:srgbClr val="9AA4C0"/>
                </a:solidFill>
                <a:latin typeface="Segoe UI"/>
              </a:rPr>
              <a:t> y </a:t>
            </a:r>
            <a:r>
              <a:rPr sz="1900" b="1">
                <a:solidFill>
                  <a:srgbClr val="34D3EE"/>
                </a:solidFill>
                <a:latin typeface="Segoe UI"/>
              </a:rPr>
              <a:t>diagramas</a:t>
            </a:r>
            <a:r>
              <a:rPr sz="1900" b="0">
                <a:solidFill>
                  <a:srgbClr val="9AA4C0"/>
                </a:solidFill>
                <a:latin typeface="Segoe UI"/>
              </a:rPr>
              <a:t> — cada ingeniería como un patrón que puedes llevarte a tu stack.</a:t>
            </a:r>
          </a:p>
        </p:txBody>
      </p:sp>
      <p:sp>
        <p:nvSpPr>
          <p:cNvPr id="9" name="TextBox 8"/>
          <p:cNvSpPr txBox="1"/>
          <p:nvPr/>
        </p:nvSpPr>
        <p:spPr>
          <a:xfrm>
            <a:off x="1188720" y="5074920"/>
            <a:ext cx="10058400" cy="4572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2600" b="0">
                <a:solidFill>
                  <a:srgbClr val="F4F6FB"/>
                </a:solidFill>
                <a:latin typeface="Segoe UI"/>
              </a:rPr>
              <a:t>🗣️  🧠  🎯  🌊  🔁  🔂  🧪</a:t>
            </a:r>
          </a:p>
        </p:txBody>
      </p:sp>
      <p:sp>
        <p:nvSpPr>
          <p:cNvPr id="10" name="TextBox 9"/>
          <p:cNvSpPr txBox="1"/>
          <p:nvPr/>
        </p:nvSpPr>
        <p:spPr>
          <a:xfrm>
            <a:off x="1188720" y="5806440"/>
            <a:ext cx="10058400" cy="4572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350" b="1">
                <a:solidFill>
                  <a:srgbClr val="3FD08C"/>
                </a:solidFill>
                <a:latin typeface="Segoe UI"/>
              </a:rPr>
              <a:t>Evidencia y demo:  </a:t>
            </a:r>
            <a:r>
              <a:rPr sz="1350" b="1">
                <a:solidFill>
                  <a:srgbClr val="F4F6FB"/>
                </a:solidFill>
                <a:latin typeface="Segoe UI"/>
              </a:rPr>
              <a:t>Processflow Architect</a:t>
            </a:r>
            <a:r>
              <a:rPr sz="1350" b="0">
                <a:solidFill>
                  <a:srgbClr val="9AA4C0"/>
                </a:solidFill>
                <a:latin typeface="Segoe UI"/>
              </a:rPr>
              <a:t>  · Event Storming con IA local (Electron + Next.js)</a:t>
            </a:r>
          </a:p>
        </p:txBody>
      </p:sp>
      <p:sp>
        <p:nvSpPr>
          <p:cNvPr id="11" name="Rectangle 10"/>
          <p:cNvSpPr/>
          <p:nvPr/>
        </p:nvSpPr>
        <p:spPr>
          <a:xfrm>
            <a:off x="0" y="6784848"/>
            <a:ext cx="12191695" cy="73152"/>
          </a:xfrm>
          <a:prstGeom prst="rect">
            <a:avLst/>
          </a:prstGeom>
          <a:solidFill>
            <a:srgbClr val="34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30352"/>
            <a:ext cx="292608" cy="54864"/>
          </a:xfrm>
          <a:prstGeom prst="rect">
            <a:avLst/>
          </a:prstGeom>
          <a:solidFill>
            <a:srgbClr val="34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07008" y="429768"/>
            <a:ext cx="10058400" cy="3657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34D3EE"/>
                </a:solidFill>
                <a:latin typeface="Segoe UI"/>
              </a:rPr>
              <a:t>LA TESIS</a:t>
            </a:r>
          </a:p>
        </p:txBody>
      </p:sp>
      <p:sp>
        <p:nvSpPr>
          <p:cNvPr id="5" name="TextBox 4"/>
          <p:cNvSpPr txBox="1"/>
          <p:nvPr/>
        </p:nvSpPr>
        <p:spPr>
          <a:xfrm>
            <a:off x="777240" y="777240"/>
            <a:ext cx="10607040" cy="9144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3000" b="1">
                <a:solidFill>
                  <a:srgbClr val="F4F6FB"/>
                </a:solidFill>
                <a:latin typeface="Segoe UI"/>
              </a:rPr>
              <a:t>El prompt es el 10%. La arquitectura es el 90%.</a:t>
            </a:r>
          </a:p>
        </p:txBody>
      </p:sp>
      <p:sp>
        <p:nvSpPr>
          <p:cNvPr id="6" name="TextBox 5"/>
          <p:cNvSpPr txBox="1"/>
          <p:nvPr/>
        </p:nvSpPr>
        <p:spPr>
          <a:xfrm>
            <a:off x="822960" y="1600200"/>
            <a:ext cx="10607040" cy="640080"/>
          </a:xfrm>
          <a:prstGeom prst="rect">
            <a:avLst/>
          </a:prstGeom>
          <a:noFill/>
        </p:spPr>
        <p:txBody>
          <a:bodyPr wrap="square" anchor="t" lIns="12700" rIns="12700" tIns="12700" bIns="12700">
            <a:spAutoFit/>
          </a:bodyPr>
          <a:lstStyle/>
          <a:p>
            <a:pPr algn="l">
              <a:lnSpc>
                <a:spcPct val="115000"/>
              </a:lnSpc>
              <a:spcBef>
                <a:spcPts val="0"/>
              </a:spcBef>
              <a:spcAft>
                <a:spcPts val="500"/>
              </a:spcAft>
            </a:pPr>
            <a:r>
              <a:rPr sz="1550" b="0">
                <a:solidFill>
                  <a:srgbClr val="9AA4C0"/>
                </a:solidFill>
                <a:latin typeface="Segoe UI"/>
              </a:rPr>
              <a:t>Lo que separa un demo de un sistema en producción no es el modelo: son 7 decisiones de ingeniería. </a:t>
            </a:r>
            <a:r>
              <a:rPr sz="1550" b="1">
                <a:solidFill>
                  <a:srgbClr val="F4F6FB"/>
                </a:solidFill>
                <a:latin typeface="Segoe UI"/>
              </a:rPr>
              <a:t>Cada slide sigue la misma estructura:</a:t>
            </a:r>
          </a:p>
        </p:txBody>
      </p:sp>
      <p:sp>
        <p:nvSpPr>
          <p:cNvPr id="7" name="Rounded Rectangle 6"/>
          <p:cNvSpPr/>
          <p:nvPr/>
        </p:nvSpPr>
        <p:spPr>
          <a:xfrm>
            <a:off x="822960" y="2651760"/>
            <a:ext cx="2587752" cy="2651760"/>
          </a:xfrm>
          <a:prstGeom prst="roundRect">
            <a:avLst>
              <a:gd name="adj" fmla="val 8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651760"/>
            <a:ext cx="2587752" cy="91440"/>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926079"/>
            <a:ext cx="2130552" cy="73152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4000" b="1">
                <a:solidFill>
                  <a:srgbClr val="5B8DEF"/>
                </a:solidFill>
                <a:latin typeface="Segoe UI"/>
              </a:rPr>
              <a:t>①</a:t>
            </a:r>
          </a:p>
        </p:txBody>
      </p:sp>
      <p:sp>
        <p:nvSpPr>
          <p:cNvPr id="10" name="TextBox 9"/>
          <p:cNvSpPr txBox="1"/>
          <p:nvPr/>
        </p:nvSpPr>
        <p:spPr>
          <a:xfrm>
            <a:off x="1051560" y="3794760"/>
            <a:ext cx="2130552" cy="4572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800" b="1">
                <a:solidFill>
                  <a:srgbClr val="F4F6FB"/>
                </a:solidFill>
                <a:latin typeface="Segoe UI"/>
              </a:rPr>
              <a:t>Defino</a:t>
            </a:r>
          </a:p>
        </p:txBody>
      </p:sp>
      <p:sp>
        <p:nvSpPr>
          <p:cNvPr id="11" name="TextBox 10"/>
          <p:cNvSpPr txBox="1"/>
          <p:nvPr/>
        </p:nvSpPr>
        <p:spPr>
          <a:xfrm>
            <a:off x="1051560" y="4343400"/>
            <a:ext cx="2130552" cy="914400"/>
          </a:xfrm>
          <a:prstGeom prst="rect">
            <a:avLst/>
          </a:prstGeom>
          <a:noFill/>
        </p:spPr>
        <p:txBody>
          <a:bodyPr wrap="square" anchor="t" lIns="12700" rIns="12700" tIns="12700" bIns="12700">
            <a:spAutoFit/>
          </a:bodyPr>
          <a:lstStyle/>
          <a:p>
            <a:pPr algn="l">
              <a:lnSpc>
                <a:spcPct val="115000"/>
              </a:lnSpc>
              <a:spcBef>
                <a:spcPts val="0"/>
              </a:spcBef>
              <a:spcAft>
                <a:spcPts val="500"/>
              </a:spcAft>
            </a:pPr>
            <a:r>
              <a:rPr sz="1250" b="0">
                <a:solidFill>
                  <a:srgbClr val="9AA4C0"/>
                </a:solidFill>
                <a:latin typeface="Segoe UI"/>
              </a:rPr>
              <a:t>el término y la pregunta que responde</a:t>
            </a:r>
          </a:p>
        </p:txBody>
      </p:sp>
      <p:sp>
        <p:nvSpPr>
          <p:cNvPr id="12" name="Rounded Rectangle 11"/>
          <p:cNvSpPr/>
          <p:nvPr/>
        </p:nvSpPr>
        <p:spPr>
          <a:xfrm>
            <a:off x="3666744" y="2651760"/>
            <a:ext cx="2587752" cy="2651760"/>
          </a:xfrm>
          <a:prstGeom prst="roundRect">
            <a:avLst>
              <a:gd name="adj" fmla="val 8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66744" y="2651760"/>
            <a:ext cx="2587752" cy="91440"/>
          </a:xfrm>
          <a:prstGeom prst="rect">
            <a:avLst/>
          </a:prstGeom>
          <a:solidFill>
            <a:srgbClr val="34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95344" y="2926079"/>
            <a:ext cx="2130552" cy="73152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4000" b="1">
                <a:solidFill>
                  <a:srgbClr val="34D3EE"/>
                </a:solidFill>
                <a:latin typeface="Segoe UI"/>
              </a:rPr>
              <a:t>②</a:t>
            </a:r>
          </a:p>
        </p:txBody>
      </p:sp>
      <p:sp>
        <p:nvSpPr>
          <p:cNvPr id="15" name="TextBox 14"/>
          <p:cNvSpPr txBox="1"/>
          <p:nvPr/>
        </p:nvSpPr>
        <p:spPr>
          <a:xfrm>
            <a:off x="3895344" y="3794760"/>
            <a:ext cx="2130552" cy="4572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800" b="1">
                <a:solidFill>
                  <a:srgbClr val="F4F6FB"/>
                </a:solidFill>
                <a:latin typeface="Segoe UI"/>
              </a:rPr>
              <a:t>Patrón</a:t>
            </a:r>
          </a:p>
        </p:txBody>
      </p:sp>
      <p:sp>
        <p:nvSpPr>
          <p:cNvPr id="16" name="TextBox 15"/>
          <p:cNvSpPr txBox="1"/>
          <p:nvPr/>
        </p:nvSpPr>
        <p:spPr>
          <a:xfrm>
            <a:off x="3895344" y="4343400"/>
            <a:ext cx="2130552" cy="914400"/>
          </a:xfrm>
          <a:prstGeom prst="rect">
            <a:avLst/>
          </a:prstGeom>
          <a:noFill/>
        </p:spPr>
        <p:txBody>
          <a:bodyPr wrap="square" anchor="t" lIns="12700" rIns="12700" tIns="12700" bIns="12700">
            <a:spAutoFit/>
          </a:bodyPr>
          <a:lstStyle/>
          <a:p>
            <a:pPr algn="l">
              <a:lnSpc>
                <a:spcPct val="115000"/>
              </a:lnSpc>
              <a:spcBef>
                <a:spcPts val="0"/>
              </a:spcBef>
              <a:spcAft>
                <a:spcPts val="500"/>
              </a:spcAft>
            </a:pPr>
            <a:r>
              <a:rPr sz="1250" b="0">
                <a:solidFill>
                  <a:srgbClr val="9AA4C0"/>
                </a:solidFill>
                <a:latin typeface="Segoe UI"/>
              </a:rPr>
              <a:t>el principio general, replicable en cualquier stack</a:t>
            </a:r>
          </a:p>
        </p:txBody>
      </p:sp>
      <p:sp>
        <p:nvSpPr>
          <p:cNvPr id="17" name="Rounded Rectangle 16"/>
          <p:cNvSpPr/>
          <p:nvPr/>
        </p:nvSpPr>
        <p:spPr>
          <a:xfrm>
            <a:off x="6510528" y="2651760"/>
            <a:ext cx="2587752" cy="2651760"/>
          </a:xfrm>
          <a:prstGeom prst="roundRect">
            <a:avLst>
              <a:gd name="adj" fmla="val 8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10528" y="2651760"/>
            <a:ext cx="2587752" cy="91440"/>
          </a:xfrm>
          <a:prstGeom prst="rect">
            <a:avLst/>
          </a:prstGeom>
          <a:solidFill>
            <a:srgbClr val="F5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39128" y="2926079"/>
            <a:ext cx="2130552" cy="73152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4000" b="1">
                <a:solidFill>
                  <a:srgbClr val="F5B341"/>
                </a:solidFill>
                <a:latin typeface="Segoe UI"/>
              </a:rPr>
              <a:t>③</a:t>
            </a:r>
          </a:p>
        </p:txBody>
      </p:sp>
      <p:sp>
        <p:nvSpPr>
          <p:cNvPr id="20" name="TextBox 19"/>
          <p:cNvSpPr txBox="1"/>
          <p:nvPr/>
        </p:nvSpPr>
        <p:spPr>
          <a:xfrm>
            <a:off x="6739128" y="3794760"/>
            <a:ext cx="2130552" cy="4572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800" b="1">
                <a:solidFill>
                  <a:srgbClr val="F4F6FB"/>
                </a:solidFill>
                <a:latin typeface="Segoe UI"/>
              </a:rPr>
              <a:t>Dato</a:t>
            </a:r>
          </a:p>
        </p:txBody>
      </p:sp>
      <p:sp>
        <p:nvSpPr>
          <p:cNvPr id="21" name="TextBox 20"/>
          <p:cNvSpPr txBox="1"/>
          <p:nvPr/>
        </p:nvSpPr>
        <p:spPr>
          <a:xfrm>
            <a:off x="6739128" y="4343400"/>
            <a:ext cx="2130552" cy="914400"/>
          </a:xfrm>
          <a:prstGeom prst="rect">
            <a:avLst/>
          </a:prstGeom>
          <a:noFill/>
        </p:spPr>
        <p:txBody>
          <a:bodyPr wrap="square" anchor="t" lIns="12700" rIns="12700" tIns="12700" bIns="12700">
            <a:spAutoFit/>
          </a:bodyPr>
          <a:lstStyle/>
          <a:p>
            <a:pPr algn="l">
              <a:lnSpc>
                <a:spcPct val="115000"/>
              </a:lnSpc>
              <a:spcBef>
                <a:spcPts val="0"/>
              </a:spcBef>
              <a:spcAft>
                <a:spcPts val="500"/>
              </a:spcAft>
            </a:pPr>
            <a:r>
              <a:rPr sz="1250" b="0">
                <a:solidFill>
                  <a:srgbClr val="9AA4C0"/>
                </a:solidFill>
                <a:latin typeface="Segoe UI"/>
              </a:rPr>
              <a:t>una métrica o límite concreto que lo respalda</a:t>
            </a:r>
          </a:p>
        </p:txBody>
      </p:sp>
      <p:sp>
        <p:nvSpPr>
          <p:cNvPr id="22" name="Rounded Rectangle 21"/>
          <p:cNvSpPr/>
          <p:nvPr/>
        </p:nvSpPr>
        <p:spPr>
          <a:xfrm>
            <a:off x="9354312" y="2651760"/>
            <a:ext cx="2587752" cy="2651760"/>
          </a:xfrm>
          <a:prstGeom prst="roundRect">
            <a:avLst>
              <a:gd name="adj" fmla="val 8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354312" y="2651760"/>
            <a:ext cx="2587752" cy="91440"/>
          </a:xfrm>
          <a:prstGeom prst="rect">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82912" y="2926079"/>
            <a:ext cx="2130552" cy="73152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4000" b="1">
                <a:solidFill>
                  <a:srgbClr val="3FD08C"/>
                </a:solidFill>
                <a:latin typeface="Segoe UI"/>
              </a:rPr>
              <a:t>④</a:t>
            </a:r>
          </a:p>
        </p:txBody>
      </p:sp>
      <p:sp>
        <p:nvSpPr>
          <p:cNvPr id="25" name="TextBox 24"/>
          <p:cNvSpPr txBox="1"/>
          <p:nvPr/>
        </p:nvSpPr>
        <p:spPr>
          <a:xfrm>
            <a:off x="9582912" y="3794760"/>
            <a:ext cx="2130552" cy="4572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800" b="1">
                <a:solidFill>
                  <a:srgbClr val="F4F6FB"/>
                </a:solidFill>
                <a:latin typeface="Segoe UI"/>
              </a:rPr>
              <a:t>Evidencia</a:t>
            </a:r>
          </a:p>
        </p:txBody>
      </p:sp>
      <p:sp>
        <p:nvSpPr>
          <p:cNvPr id="26" name="TextBox 25"/>
          <p:cNvSpPr txBox="1"/>
          <p:nvPr/>
        </p:nvSpPr>
        <p:spPr>
          <a:xfrm>
            <a:off x="9582912" y="4343400"/>
            <a:ext cx="2130552" cy="914400"/>
          </a:xfrm>
          <a:prstGeom prst="rect">
            <a:avLst/>
          </a:prstGeom>
          <a:noFill/>
        </p:spPr>
        <p:txBody>
          <a:bodyPr wrap="square" anchor="t" lIns="12700" rIns="12700" tIns="12700" bIns="12700">
            <a:spAutoFit/>
          </a:bodyPr>
          <a:lstStyle/>
          <a:p>
            <a:pPr algn="l">
              <a:lnSpc>
                <a:spcPct val="115000"/>
              </a:lnSpc>
              <a:spcBef>
                <a:spcPts val="0"/>
              </a:spcBef>
              <a:spcAft>
                <a:spcPts val="500"/>
              </a:spcAft>
            </a:pPr>
            <a:r>
              <a:rPr sz="1250" b="0">
                <a:solidFill>
                  <a:srgbClr val="9AA4C0"/>
                </a:solidFill>
                <a:latin typeface="Segoe UI"/>
              </a:rPr>
              <a:t>dónde vive en el proyecto (y la demo)</a:t>
            </a:r>
          </a:p>
        </p:txBody>
      </p:sp>
      <p:sp>
        <p:nvSpPr>
          <p:cNvPr id="27" name="TextBox 26"/>
          <p:cNvSpPr txBox="1"/>
          <p:nvPr/>
        </p:nvSpPr>
        <p:spPr>
          <a:xfrm>
            <a:off x="822960" y="5532120"/>
            <a:ext cx="10607040" cy="548640"/>
          </a:xfrm>
          <a:prstGeom prst="rect">
            <a:avLst/>
          </a:prstGeom>
          <a:noFill/>
        </p:spPr>
        <p:txBody>
          <a:bodyPr wrap="square" anchor="t" lIns="12700" rIns="12700" tIns="12700" bIns="12700">
            <a:spAutoFit/>
          </a:bodyPr>
          <a:lstStyle/>
          <a:p>
            <a:pPr algn="l">
              <a:lnSpc>
                <a:spcPct val="110000"/>
              </a:lnSpc>
              <a:spcBef>
                <a:spcPts val="0"/>
              </a:spcBef>
              <a:spcAft>
                <a:spcPts val="500"/>
              </a:spcAft>
            </a:pPr>
            <a:r>
              <a:rPr sz="1350" b="1">
                <a:solidFill>
                  <a:srgbClr val="F4F6FB"/>
                </a:solidFill>
                <a:latin typeface="Segoe UI"/>
              </a:rPr>
              <a:t>Para arquitectos: cada patrón viene con “cómo aplicarlo” independiente del proyecto. </a:t>
            </a:r>
            <a:r>
              <a:rPr sz="1350" b="0">
                <a:solidFill>
                  <a:srgbClr val="9AA4C0"/>
                </a:solidFill>
                <a:latin typeface="Segoe UI"/>
              </a:rPr>
              <a:t>El caso solo prueba que funciona.</a:t>
            </a:r>
          </a:p>
        </p:txBody>
      </p:sp>
      <p:sp>
        <p:nvSpPr>
          <p:cNvPr id="28" name="TextBox 27"/>
          <p:cNvSpPr txBox="1"/>
          <p:nvPr/>
        </p:nvSpPr>
        <p:spPr>
          <a:xfrm>
            <a:off x="11018520" y="6419088"/>
            <a:ext cx="960120" cy="365760"/>
          </a:xfrm>
          <a:prstGeom prst="rect">
            <a:avLst/>
          </a:prstGeom>
          <a:noFill/>
        </p:spPr>
        <p:txBody>
          <a:bodyPr wrap="square" anchor="t" lIns="12700" rIns="12700" tIns="12700" bIns="12700">
            <a:spAutoFit/>
          </a:bodyPr>
          <a:lstStyle/>
          <a:p>
            <a:pPr algn="r">
              <a:lnSpc>
                <a:spcPct val="105000"/>
              </a:lnSpc>
              <a:spcBef>
                <a:spcPts val="0"/>
              </a:spcBef>
              <a:spcAft>
                <a:spcPts val="500"/>
              </a:spcAft>
            </a:pPr>
            <a:r>
              <a:rPr sz="1100" b="1">
                <a:solidFill>
                  <a:srgbClr val="9AA4C0"/>
                </a:solidFill>
                <a:latin typeface="Segoe UI"/>
              </a:rPr>
              <a:t>02</a:t>
            </a:r>
          </a:p>
        </p:txBody>
      </p:sp>
      <p:sp>
        <p:nvSpPr>
          <p:cNvPr id="29" name="Rectangle 28"/>
          <p:cNvSpPr/>
          <p:nvPr/>
        </p:nvSpPr>
        <p:spPr>
          <a:xfrm>
            <a:off x="0" y="6784848"/>
            <a:ext cx="12191695" cy="73152"/>
          </a:xfrm>
          <a:prstGeom prst="rect">
            <a:avLst/>
          </a:prstGeom>
          <a:solidFill>
            <a:srgbClr val="34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30352"/>
            <a:ext cx="292608" cy="54864"/>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07008" y="429768"/>
            <a:ext cx="10058400" cy="3657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5B8DEF"/>
                </a:solidFill>
                <a:latin typeface="Segoe UI"/>
              </a:rPr>
              <a:t>RESOLVAMOS TÉRMINOS PRIMERO</a:t>
            </a:r>
          </a:p>
        </p:txBody>
      </p:sp>
      <p:sp>
        <p:nvSpPr>
          <p:cNvPr id="5" name="TextBox 4"/>
          <p:cNvSpPr txBox="1"/>
          <p:nvPr/>
        </p:nvSpPr>
        <p:spPr>
          <a:xfrm>
            <a:off x="777240" y="777240"/>
            <a:ext cx="10607040" cy="9144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3000" b="1">
                <a:solidFill>
                  <a:srgbClr val="F4F6FB"/>
                </a:solidFill>
                <a:latin typeface="Segoe UI"/>
              </a:rPr>
              <a:t>Las 7 ingenierías, definidas</a:t>
            </a:r>
          </a:p>
        </p:txBody>
      </p:sp>
      <p:sp>
        <p:nvSpPr>
          <p:cNvPr id="6" name="Rectangle 5"/>
          <p:cNvSpPr/>
          <p:nvPr/>
        </p:nvSpPr>
        <p:spPr>
          <a:xfrm>
            <a:off x="822960" y="1691640"/>
            <a:ext cx="502920" cy="580644"/>
          </a:xfrm>
          <a:prstGeom prst="rect">
            <a:avLst/>
          </a:prstGeom>
          <a:solidFill>
            <a:srgbClr val="5B8DEF"/>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691640"/>
            <a:ext cx="30175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0B1020"/>
                </a:solidFill>
                <a:latin typeface="Segoe UI"/>
              </a:rPr>
              <a:t/>
            </a:r>
          </a:p>
        </p:txBody>
      </p:sp>
      <p:sp>
        <p:nvSpPr>
          <p:cNvPr id="8" name="Rectangle 7"/>
          <p:cNvSpPr/>
          <p:nvPr/>
        </p:nvSpPr>
        <p:spPr>
          <a:xfrm>
            <a:off x="1325880" y="1691640"/>
            <a:ext cx="1920240" cy="580644"/>
          </a:xfrm>
          <a:prstGeom prst="rect">
            <a:avLst/>
          </a:prstGeom>
          <a:solidFill>
            <a:srgbClr val="5B8DEF"/>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35608" y="1691640"/>
            <a:ext cx="171907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0B1020"/>
                </a:solidFill>
                <a:latin typeface="Segoe UI"/>
              </a:rPr>
              <a:t>Ingeniería</a:t>
            </a:r>
          </a:p>
        </p:txBody>
      </p:sp>
      <p:sp>
        <p:nvSpPr>
          <p:cNvPr id="10" name="Rectangle 9"/>
          <p:cNvSpPr/>
          <p:nvPr/>
        </p:nvSpPr>
        <p:spPr>
          <a:xfrm>
            <a:off x="3246120" y="1691640"/>
            <a:ext cx="5074920" cy="580644"/>
          </a:xfrm>
          <a:prstGeom prst="rect">
            <a:avLst/>
          </a:prstGeom>
          <a:solidFill>
            <a:srgbClr val="5B8DEF"/>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55848" y="1691640"/>
            <a:ext cx="487375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0B1020"/>
                </a:solidFill>
                <a:latin typeface="Segoe UI"/>
              </a:rPr>
              <a:t>Definición en una línea</a:t>
            </a:r>
          </a:p>
        </p:txBody>
      </p:sp>
      <p:sp>
        <p:nvSpPr>
          <p:cNvPr id="12" name="Rectangle 11"/>
          <p:cNvSpPr/>
          <p:nvPr/>
        </p:nvSpPr>
        <p:spPr>
          <a:xfrm>
            <a:off x="8321040" y="1691640"/>
            <a:ext cx="3063240" cy="580644"/>
          </a:xfrm>
          <a:prstGeom prst="rect">
            <a:avLst/>
          </a:prstGeom>
          <a:solidFill>
            <a:srgbClr val="5B8DEF"/>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0767" y="1691640"/>
            <a:ext cx="286207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0B1020"/>
                </a:solidFill>
                <a:latin typeface="Segoe UI"/>
              </a:rPr>
              <a:t>Pregunta que responde</a:t>
            </a:r>
          </a:p>
        </p:txBody>
      </p:sp>
      <p:sp>
        <p:nvSpPr>
          <p:cNvPr id="14" name="Rectangle 13"/>
          <p:cNvSpPr/>
          <p:nvPr/>
        </p:nvSpPr>
        <p:spPr>
          <a:xfrm>
            <a:off x="822960" y="2272284"/>
            <a:ext cx="502920" cy="58064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272284"/>
            <a:ext cx="30175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F4F6FB"/>
                </a:solidFill>
                <a:latin typeface="Segoe UI"/>
              </a:rPr>
              <a:t>🗣️</a:t>
            </a:r>
          </a:p>
        </p:txBody>
      </p:sp>
      <p:sp>
        <p:nvSpPr>
          <p:cNvPr id="16" name="Rectangle 15"/>
          <p:cNvSpPr/>
          <p:nvPr/>
        </p:nvSpPr>
        <p:spPr>
          <a:xfrm>
            <a:off x="1325880" y="2272284"/>
            <a:ext cx="1920240" cy="58064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35608" y="2272284"/>
            <a:ext cx="171907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Prompt</a:t>
            </a:r>
          </a:p>
        </p:txBody>
      </p:sp>
      <p:sp>
        <p:nvSpPr>
          <p:cNvPr id="18" name="Rectangle 17"/>
          <p:cNvSpPr/>
          <p:nvPr/>
        </p:nvSpPr>
        <p:spPr>
          <a:xfrm>
            <a:off x="3246120" y="2272284"/>
            <a:ext cx="5074920" cy="58064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55848" y="2272284"/>
            <a:ext cx="487375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Diseñar instrucciones (rol, formato, límites) para respuestas útiles y parseables</a:t>
            </a:r>
          </a:p>
        </p:txBody>
      </p:sp>
      <p:sp>
        <p:nvSpPr>
          <p:cNvPr id="20" name="Rectangle 19"/>
          <p:cNvSpPr/>
          <p:nvPr/>
        </p:nvSpPr>
        <p:spPr>
          <a:xfrm>
            <a:off x="8321040" y="2272284"/>
            <a:ext cx="3063240" cy="58064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7" y="2272284"/>
            <a:ext cx="286207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¿Cómo le pido al modelo?</a:t>
            </a:r>
          </a:p>
        </p:txBody>
      </p:sp>
      <p:sp>
        <p:nvSpPr>
          <p:cNvPr id="22" name="Rectangle 21"/>
          <p:cNvSpPr/>
          <p:nvPr/>
        </p:nvSpPr>
        <p:spPr>
          <a:xfrm>
            <a:off x="822960" y="2852928"/>
            <a:ext cx="502920" cy="58064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2852928"/>
            <a:ext cx="30175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F4F6FB"/>
                </a:solidFill>
                <a:latin typeface="Segoe UI"/>
              </a:rPr>
              <a:t>🧠</a:t>
            </a:r>
          </a:p>
        </p:txBody>
      </p:sp>
      <p:sp>
        <p:nvSpPr>
          <p:cNvPr id="24" name="Rectangle 23"/>
          <p:cNvSpPr/>
          <p:nvPr/>
        </p:nvSpPr>
        <p:spPr>
          <a:xfrm>
            <a:off x="1325880" y="2852928"/>
            <a:ext cx="1920240" cy="58064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35608" y="2852928"/>
            <a:ext cx="171907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Context</a:t>
            </a:r>
          </a:p>
        </p:txBody>
      </p:sp>
      <p:sp>
        <p:nvSpPr>
          <p:cNvPr id="26" name="Rectangle 25"/>
          <p:cNvSpPr/>
          <p:nvPr/>
        </p:nvSpPr>
        <p:spPr>
          <a:xfrm>
            <a:off x="3246120" y="2852928"/>
            <a:ext cx="5074920" cy="58064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55848" y="2852928"/>
            <a:ext cx="487375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Seleccionar, comprimir e inyectar datos y reglas que el modelo necesita</a:t>
            </a:r>
          </a:p>
        </p:txBody>
      </p:sp>
      <p:sp>
        <p:nvSpPr>
          <p:cNvPr id="28" name="Rectangle 27"/>
          <p:cNvSpPr/>
          <p:nvPr/>
        </p:nvSpPr>
        <p:spPr>
          <a:xfrm>
            <a:off x="8321040" y="2852928"/>
            <a:ext cx="3063240" cy="58064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30767" y="2852928"/>
            <a:ext cx="286207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¿Qué debe saber para decidir?</a:t>
            </a:r>
          </a:p>
        </p:txBody>
      </p:sp>
      <p:sp>
        <p:nvSpPr>
          <p:cNvPr id="30" name="Rectangle 29"/>
          <p:cNvSpPr/>
          <p:nvPr/>
        </p:nvSpPr>
        <p:spPr>
          <a:xfrm>
            <a:off x="822960" y="3433572"/>
            <a:ext cx="502920" cy="58064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8" y="3433572"/>
            <a:ext cx="30175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F4F6FB"/>
                </a:solidFill>
                <a:latin typeface="Segoe UI"/>
              </a:rPr>
              <a:t>🎯</a:t>
            </a:r>
          </a:p>
        </p:txBody>
      </p:sp>
      <p:sp>
        <p:nvSpPr>
          <p:cNvPr id="32" name="Rectangle 31"/>
          <p:cNvSpPr/>
          <p:nvPr/>
        </p:nvSpPr>
        <p:spPr>
          <a:xfrm>
            <a:off x="1325880" y="3433572"/>
            <a:ext cx="1920240" cy="58064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435608" y="3433572"/>
            <a:ext cx="171907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Intent</a:t>
            </a:r>
          </a:p>
        </p:txBody>
      </p:sp>
      <p:sp>
        <p:nvSpPr>
          <p:cNvPr id="34" name="Rectangle 33"/>
          <p:cNvSpPr/>
          <p:nvPr/>
        </p:nvSpPr>
        <p:spPr>
          <a:xfrm>
            <a:off x="3246120" y="3433572"/>
            <a:ext cx="5074920" cy="58064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55848" y="3433572"/>
            <a:ext cx="487375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Traducir una necesidad de negocio en un objetivo declarativo y ejecutable</a:t>
            </a:r>
          </a:p>
        </p:txBody>
      </p:sp>
      <p:sp>
        <p:nvSpPr>
          <p:cNvPr id="36" name="Rectangle 35"/>
          <p:cNvSpPr/>
          <p:nvPr/>
        </p:nvSpPr>
        <p:spPr>
          <a:xfrm>
            <a:off x="8321040" y="3433572"/>
            <a:ext cx="3063240" cy="58064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30767" y="3433572"/>
            <a:ext cx="286207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¿Qué quiero lograr?</a:t>
            </a:r>
          </a:p>
        </p:txBody>
      </p:sp>
      <p:sp>
        <p:nvSpPr>
          <p:cNvPr id="38" name="Rectangle 37"/>
          <p:cNvSpPr/>
          <p:nvPr/>
        </p:nvSpPr>
        <p:spPr>
          <a:xfrm>
            <a:off x="822960" y="4014215"/>
            <a:ext cx="502920" cy="58064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2688" y="4014215"/>
            <a:ext cx="30175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F4F6FB"/>
                </a:solidFill>
                <a:latin typeface="Segoe UI"/>
              </a:rPr>
              <a:t>🌊</a:t>
            </a:r>
          </a:p>
        </p:txBody>
      </p:sp>
      <p:sp>
        <p:nvSpPr>
          <p:cNvPr id="40" name="Rectangle 39"/>
          <p:cNvSpPr/>
          <p:nvPr/>
        </p:nvSpPr>
        <p:spPr>
          <a:xfrm>
            <a:off x="1325880" y="4014215"/>
            <a:ext cx="1920240" cy="58064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435608" y="4014215"/>
            <a:ext cx="171907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Flow</a:t>
            </a:r>
          </a:p>
        </p:txBody>
      </p:sp>
      <p:sp>
        <p:nvSpPr>
          <p:cNvPr id="42" name="Rectangle 41"/>
          <p:cNvSpPr/>
          <p:nvPr/>
        </p:nvSpPr>
        <p:spPr>
          <a:xfrm>
            <a:off x="3246120" y="4014215"/>
            <a:ext cx="5074920" cy="58064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55848" y="4014215"/>
            <a:ext cx="487375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Orquestar modelos, agentes, APIs y tools de extremo a extremo</a:t>
            </a:r>
          </a:p>
        </p:txBody>
      </p:sp>
      <p:sp>
        <p:nvSpPr>
          <p:cNvPr id="44" name="Rectangle 43"/>
          <p:cNvSpPr/>
          <p:nvPr/>
        </p:nvSpPr>
        <p:spPr>
          <a:xfrm>
            <a:off x="8321040" y="4014215"/>
            <a:ext cx="3063240" cy="58064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30767" y="4014215"/>
            <a:ext cx="286207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¿Cómo conecto las piezas?</a:t>
            </a:r>
          </a:p>
        </p:txBody>
      </p:sp>
      <p:sp>
        <p:nvSpPr>
          <p:cNvPr id="46" name="Rectangle 45"/>
          <p:cNvSpPr/>
          <p:nvPr/>
        </p:nvSpPr>
        <p:spPr>
          <a:xfrm>
            <a:off x="822960" y="4594859"/>
            <a:ext cx="502920" cy="58064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32688" y="4594859"/>
            <a:ext cx="30175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F4F6FB"/>
                </a:solidFill>
                <a:latin typeface="Segoe UI"/>
              </a:rPr>
              <a:t>🔁</a:t>
            </a:r>
          </a:p>
        </p:txBody>
      </p:sp>
      <p:sp>
        <p:nvSpPr>
          <p:cNvPr id="48" name="Rectangle 47"/>
          <p:cNvSpPr/>
          <p:nvPr/>
        </p:nvSpPr>
        <p:spPr>
          <a:xfrm>
            <a:off x="1325880" y="4594859"/>
            <a:ext cx="1920240" cy="58064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435608" y="4594859"/>
            <a:ext cx="171907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Human-in-the-Loop</a:t>
            </a:r>
          </a:p>
        </p:txBody>
      </p:sp>
      <p:sp>
        <p:nvSpPr>
          <p:cNvPr id="50" name="Rectangle 49"/>
          <p:cNvSpPr/>
          <p:nvPr/>
        </p:nvSpPr>
        <p:spPr>
          <a:xfrm>
            <a:off x="3246120" y="4594859"/>
            <a:ext cx="5074920" cy="58064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55848" y="4594859"/>
            <a:ext cx="487375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Definir los puntos donde una persona valida antes de que la acción surta efecto</a:t>
            </a:r>
          </a:p>
        </p:txBody>
      </p:sp>
      <p:sp>
        <p:nvSpPr>
          <p:cNvPr id="52" name="Rectangle 51"/>
          <p:cNvSpPr/>
          <p:nvPr/>
        </p:nvSpPr>
        <p:spPr>
          <a:xfrm>
            <a:off x="8321040" y="4594859"/>
            <a:ext cx="3063240" cy="58064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30767" y="4594859"/>
            <a:ext cx="286207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¿Cuándo entra el humano?</a:t>
            </a:r>
          </a:p>
        </p:txBody>
      </p:sp>
      <p:sp>
        <p:nvSpPr>
          <p:cNvPr id="54" name="Rectangle 53"/>
          <p:cNvSpPr/>
          <p:nvPr/>
        </p:nvSpPr>
        <p:spPr>
          <a:xfrm>
            <a:off x="822960" y="5175503"/>
            <a:ext cx="502920" cy="58064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2688" y="5175503"/>
            <a:ext cx="30175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F4F6FB"/>
                </a:solidFill>
                <a:latin typeface="Segoe UI"/>
              </a:rPr>
              <a:t>🔂</a:t>
            </a:r>
          </a:p>
        </p:txBody>
      </p:sp>
      <p:sp>
        <p:nvSpPr>
          <p:cNvPr id="56" name="Rectangle 55"/>
          <p:cNvSpPr/>
          <p:nvPr/>
        </p:nvSpPr>
        <p:spPr>
          <a:xfrm>
            <a:off x="1325880" y="5175503"/>
            <a:ext cx="1920240" cy="58064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435608" y="5175503"/>
            <a:ext cx="171907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Loop</a:t>
            </a:r>
          </a:p>
        </p:txBody>
      </p:sp>
      <p:sp>
        <p:nvSpPr>
          <p:cNvPr id="58" name="Rectangle 57"/>
          <p:cNvSpPr/>
          <p:nvPr/>
        </p:nvSpPr>
        <p:spPr>
          <a:xfrm>
            <a:off x="3246120" y="5175503"/>
            <a:ext cx="5074920" cy="58064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55848" y="5175503"/>
            <a:ext cx="487375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Ciclos donde el agente planifica, ejecuta, evalúa y refina hasta el objetivo</a:t>
            </a:r>
          </a:p>
        </p:txBody>
      </p:sp>
      <p:sp>
        <p:nvSpPr>
          <p:cNvPr id="60" name="Rectangle 59"/>
          <p:cNvSpPr/>
          <p:nvPr/>
        </p:nvSpPr>
        <p:spPr>
          <a:xfrm>
            <a:off x="8321040" y="5175503"/>
            <a:ext cx="3063240" cy="58064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30767" y="5175503"/>
            <a:ext cx="286207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¿Cómo itera hasta lograrlo?</a:t>
            </a:r>
          </a:p>
        </p:txBody>
      </p:sp>
      <p:sp>
        <p:nvSpPr>
          <p:cNvPr id="62" name="Rectangle 61"/>
          <p:cNvSpPr/>
          <p:nvPr/>
        </p:nvSpPr>
        <p:spPr>
          <a:xfrm>
            <a:off x="822960" y="5756147"/>
            <a:ext cx="502920" cy="58064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32688" y="5756147"/>
            <a:ext cx="30175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F4F6FB"/>
                </a:solidFill>
                <a:latin typeface="Segoe UI"/>
              </a:rPr>
              <a:t>🧪</a:t>
            </a:r>
          </a:p>
        </p:txBody>
      </p:sp>
      <p:sp>
        <p:nvSpPr>
          <p:cNvPr id="64" name="Rectangle 63"/>
          <p:cNvSpPr/>
          <p:nvPr/>
        </p:nvSpPr>
        <p:spPr>
          <a:xfrm>
            <a:off x="1325880" y="5756147"/>
            <a:ext cx="1920240" cy="58064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435608" y="5756147"/>
            <a:ext cx="171907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Harness</a:t>
            </a:r>
          </a:p>
        </p:txBody>
      </p:sp>
      <p:sp>
        <p:nvSpPr>
          <p:cNvPr id="66" name="Rectangle 65"/>
          <p:cNvSpPr/>
          <p:nvPr/>
        </p:nvSpPr>
        <p:spPr>
          <a:xfrm>
            <a:off x="3246120" y="5756147"/>
            <a:ext cx="5074920" cy="58064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355848" y="5756147"/>
            <a:ext cx="487375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Entornos de prueba, evaluación y observabilidad que validan la confiabilidad</a:t>
            </a:r>
          </a:p>
        </p:txBody>
      </p:sp>
      <p:sp>
        <p:nvSpPr>
          <p:cNvPr id="68" name="Rectangle 67"/>
          <p:cNvSpPr/>
          <p:nvPr/>
        </p:nvSpPr>
        <p:spPr>
          <a:xfrm>
            <a:off x="8321040" y="5756147"/>
            <a:ext cx="3063240" cy="58064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30767" y="5756147"/>
            <a:ext cx="2862072" cy="58064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¿Cómo sé que funciona?</a:t>
            </a:r>
          </a:p>
        </p:txBody>
      </p:sp>
      <p:sp>
        <p:nvSpPr>
          <p:cNvPr id="70" name="TextBox 69"/>
          <p:cNvSpPr txBox="1"/>
          <p:nvPr/>
        </p:nvSpPr>
        <p:spPr>
          <a:xfrm>
            <a:off x="11018520" y="6419088"/>
            <a:ext cx="960120" cy="365760"/>
          </a:xfrm>
          <a:prstGeom prst="rect">
            <a:avLst/>
          </a:prstGeom>
          <a:noFill/>
        </p:spPr>
        <p:txBody>
          <a:bodyPr wrap="square" anchor="t" lIns="12700" rIns="12700" tIns="12700" bIns="12700">
            <a:spAutoFit/>
          </a:bodyPr>
          <a:lstStyle/>
          <a:p>
            <a:pPr algn="r">
              <a:lnSpc>
                <a:spcPct val="105000"/>
              </a:lnSpc>
              <a:spcBef>
                <a:spcPts val="0"/>
              </a:spcBef>
              <a:spcAft>
                <a:spcPts val="500"/>
              </a:spcAft>
            </a:pPr>
            <a:r>
              <a:rPr sz="1100" b="1">
                <a:solidFill>
                  <a:srgbClr val="9AA4C0"/>
                </a:solidFill>
                <a:latin typeface="Segoe UI"/>
              </a:rPr>
              <a:t>03</a:t>
            </a:r>
          </a:p>
        </p:txBody>
      </p:sp>
      <p:sp>
        <p:nvSpPr>
          <p:cNvPr id="71" name="Rectangle 70"/>
          <p:cNvSpPr/>
          <p:nvPr/>
        </p:nvSpPr>
        <p:spPr>
          <a:xfrm>
            <a:off x="0" y="6784848"/>
            <a:ext cx="12191695" cy="73152"/>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30352"/>
            <a:ext cx="292608" cy="54864"/>
          </a:xfrm>
          <a:prstGeom prst="rect">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07008" y="429768"/>
            <a:ext cx="10058400" cy="3657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3FD08C"/>
                </a:solidFill>
                <a:latin typeface="Segoe UI"/>
              </a:rPr>
              <a:t>EL MAPA MAESTRO</a:t>
            </a:r>
          </a:p>
        </p:txBody>
      </p:sp>
      <p:sp>
        <p:nvSpPr>
          <p:cNvPr id="5" name="TextBox 4"/>
          <p:cNvSpPr txBox="1"/>
          <p:nvPr/>
        </p:nvSpPr>
        <p:spPr>
          <a:xfrm>
            <a:off x="777240" y="777240"/>
            <a:ext cx="10607040" cy="9144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3000" b="1">
                <a:solidFill>
                  <a:srgbClr val="F4F6FB"/>
                </a:solidFill>
                <a:latin typeface="Segoe UI"/>
              </a:rPr>
              <a:t>Ingeniería → patrón → evidencia → dato</a:t>
            </a:r>
          </a:p>
        </p:txBody>
      </p:sp>
      <p:sp>
        <p:nvSpPr>
          <p:cNvPr id="6" name="Rectangle 5"/>
          <p:cNvSpPr/>
          <p:nvPr/>
        </p:nvSpPr>
        <p:spPr>
          <a:xfrm>
            <a:off x="822960" y="1691640"/>
            <a:ext cx="2011680" cy="576072"/>
          </a:xfrm>
          <a:prstGeom prst="rect">
            <a:avLst/>
          </a:prstGeom>
          <a:solidFill>
            <a:srgbClr val="3FD08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691640"/>
            <a:ext cx="181051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1">
                <a:solidFill>
                  <a:srgbClr val="0B1020"/>
                </a:solidFill>
                <a:latin typeface="Segoe UI"/>
              </a:rPr>
              <a:t>Ingeniería</a:t>
            </a:r>
          </a:p>
        </p:txBody>
      </p:sp>
      <p:sp>
        <p:nvSpPr>
          <p:cNvPr id="8" name="Rectangle 7"/>
          <p:cNvSpPr/>
          <p:nvPr/>
        </p:nvSpPr>
        <p:spPr>
          <a:xfrm>
            <a:off x="2834640" y="1691640"/>
            <a:ext cx="3703320" cy="576072"/>
          </a:xfrm>
          <a:prstGeom prst="rect">
            <a:avLst/>
          </a:prstGeom>
          <a:solidFill>
            <a:srgbClr val="3FD08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44368" y="1691640"/>
            <a:ext cx="3502151"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1">
                <a:solidFill>
                  <a:srgbClr val="0B1020"/>
                </a:solidFill>
                <a:latin typeface="Segoe UI"/>
              </a:rPr>
              <a:t>Patrón para replicar</a:t>
            </a:r>
          </a:p>
        </p:txBody>
      </p:sp>
      <p:sp>
        <p:nvSpPr>
          <p:cNvPr id="10" name="Rectangle 9"/>
          <p:cNvSpPr/>
          <p:nvPr/>
        </p:nvSpPr>
        <p:spPr>
          <a:xfrm>
            <a:off x="6537960" y="1691640"/>
            <a:ext cx="2468880" cy="576072"/>
          </a:xfrm>
          <a:prstGeom prst="rect">
            <a:avLst/>
          </a:prstGeom>
          <a:solidFill>
            <a:srgbClr val="3FD08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1691640"/>
            <a:ext cx="226771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1">
                <a:solidFill>
                  <a:srgbClr val="0B1020"/>
                </a:solidFill>
                <a:latin typeface="Segoe UI"/>
              </a:rPr>
              <a:t>Evidencia (proyecto)</a:t>
            </a:r>
          </a:p>
        </p:txBody>
      </p:sp>
      <p:sp>
        <p:nvSpPr>
          <p:cNvPr id="12" name="Rectangle 11"/>
          <p:cNvSpPr/>
          <p:nvPr/>
        </p:nvSpPr>
        <p:spPr>
          <a:xfrm>
            <a:off x="9006840" y="1691640"/>
            <a:ext cx="2377440" cy="576072"/>
          </a:xfrm>
          <a:prstGeom prst="rect">
            <a:avLst/>
          </a:prstGeom>
          <a:solidFill>
            <a:srgbClr val="3FD08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16568" y="1691640"/>
            <a:ext cx="217627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1">
                <a:solidFill>
                  <a:srgbClr val="0B1020"/>
                </a:solidFill>
                <a:latin typeface="Segoe UI"/>
              </a:rPr>
              <a:t>Dato</a:t>
            </a:r>
          </a:p>
        </p:txBody>
      </p:sp>
      <p:sp>
        <p:nvSpPr>
          <p:cNvPr id="14" name="Rectangle 13"/>
          <p:cNvSpPr/>
          <p:nvPr/>
        </p:nvSpPr>
        <p:spPr>
          <a:xfrm>
            <a:off x="822960" y="2267712"/>
            <a:ext cx="2011680" cy="576072"/>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267712"/>
            <a:ext cx="181051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1">
                <a:solidFill>
                  <a:srgbClr val="F4F6FB"/>
                </a:solidFill>
                <a:latin typeface="Segoe UI"/>
              </a:rPr>
              <a:t>🧠 Context</a:t>
            </a:r>
          </a:p>
        </p:txBody>
      </p:sp>
      <p:sp>
        <p:nvSpPr>
          <p:cNvPr id="16" name="Rectangle 15"/>
          <p:cNvSpPr/>
          <p:nvPr/>
        </p:nvSpPr>
        <p:spPr>
          <a:xfrm>
            <a:off x="2834640" y="2267712"/>
            <a:ext cx="3703320" cy="576072"/>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44368" y="2267712"/>
            <a:ext cx="3502151"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Podar ruido + comprimir (tabla) + presupuestos</a:t>
            </a:r>
          </a:p>
        </p:txBody>
      </p:sp>
      <p:sp>
        <p:nvSpPr>
          <p:cNvPr id="18" name="Rectangle 17"/>
          <p:cNvSpPr/>
          <p:nvPr/>
        </p:nvSpPr>
        <p:spPr>
          <a:xfrm>
            <a:off x="6537960" y="2267712"/>
            <a:ext cx="2468880" cy="576072"/>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47688" y="2267712"/>
            <a:ext cx="226771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graph-toon.ts</a:t>
            </a:r>
          </a:p>
        </p:txBody>
      </p:sp>
      <p:sp>
        <p:nvSpPr>
          <p:cNvPr id="20" name="Rectangle 19"/>
          <p:cNvSpPr/>
          <p:nvPr/>
        </p:nvSpPr>
        <p:spPr>
          <a:xfrm>
            <a:off x="9006840" y="2267712"/>
            <a:ext cx="2377440" cy="576072"/>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16568" y="2267712"/>
            <a:ext cx="217627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34D3EE"/>
                </a:solidFill>
                <a:latin typeface="Segoe UI"/>
              </a:rPr>
              <a:t>−68% a −79% tokens</a:t>
            </a:r>
          </a:p>
        </p:txBody>
      </p:sp>
      <p:sp>
        <p:nvSpPr>
          <p:cNvPr id="22" name="Rectangle 21"/>
          <p:cNvSpPr/>
          <p:nvPr/>
        </p:nvSpPr>
        <p:spPr>
          <a:xfrm>
            <a:off x="822960" y="2843784"/>
            <a:ext cx="2011680" cy="576072"/>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2843784"/>
            <a:ext cx="181051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1">
                <a:solidFill>
                  <a:srgbClr val="F4F6FB"/>
                </a:solidFill>
                <a:latin typeface="Segoe UI"/>
              </a:rPr>
              <a:t>🗣️ Prompt</a:t>
            </a:r>
          </a:p>
        </p:txBody>
      </p:sp>
      <p:sp>
        <p:nvSpPr>
          <p:cNvPr id="24" name="Rectangle 23"/>
          <p:cNvSpPr/>
          <p:nvPr/>
        </p:nvSpPr>
        <p:spPr>
          <a:xfrm>
            <a:off x="2834640" y="2843784"/>
            <a:ext cx="3703320" cy="576072"/>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44368" y="2843784"/>
            <a:ext cx="3502151"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Formato estricto + parseo defensivo + validar</a:t>
            </a:r>
          </a:p>
        </p:txBody>
      </p:sp>
      <p:sp>
        <p:nvSpPr>
          <p:cNvPr id="26" name="Rectangle 25"/>
          <p:cNvSpPr/>
          <p:nvPr/>
        </p:nvSpPr>
        <p:spPr>
          <a:xfrm>
            <a:off x="6537960" y="2843784"/>
            <a:ext cx="2468880" cy="576072"/>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47688" y="2843784"/>
            <a:ext cx="226771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template-prompt · tasks.ts</a:t>
            </a:r>
          </a:p>
        </p:txBody>
      </p:sp>
      <p:sp>
        <p:nvSpPr>
          <p:cNvPr id="28" name="Rectangle 27"/>
          <p:cNvSpPr/>
          <p:nvPr/>
        </p:nvSpPr>
        <p:spPr>
          <a:xfrm>
            <a:off x="9006840" y="2843784"/>
            <a:ext cx="2377440" cy="576072"/>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16568" y="2843784"/>
            <a:ext cx="217627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5B8DEF"/>
                </a:solidFill>
                <a:latin typeface="Segoe UI"/>
              </a:rPr>
              <a:t>5 saneadores + lista cerrada</a:t>
            </a:r>
          </a:p>
        </p:txBody>
      </p:sp>
      <p:sp>
        <p:nvSpPr>
          <p:cNvPr id="30" name="Rectangle 29"/>
          <p:cNvSpPr/>
          <p:nvPr/>
        </p:nvSpPr>
        <p:spPr>
          <a:xfrm>
            <a:off x="822960" y="3419856"/>
            <a:ext cx="2011680" cy="576072"/>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8" y="3419856"/>
            <a:ext cx="181051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1">
                <a:solidFill>
                  <a:srgbClr val="F4F6FB"/>
                </a:solidFill>
                <a:latin typeface="Segoe UI"/>
              </a:rPr>
              <a:t>🎯 Intent</a:t>
            </a:r>
          </a:p>
        </p:txBody>
      </p:sp>
      <p:sp>
        <p:nvSpPr>
          <p:cNvPr id="32" name="Rectangle 31"/>
          <p:cNvSpPr/>
          <p:nvPr/>
        </p:nvSpPr>
        <p:spPr>
          <a:xfrm>
            <a:off x="2834640" y="3419856"/>
            <a:ext cx="3703320" cy="576072"/>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44368" y="3419856"/>
            <a:ext cx="3502151"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Capacidad como DATO declarativo</a:t>
            </a:r>
          </a:p>
        </p:txBody>
      </p:sp>
      <p:sp>
        <p:nvSpPr>
          <p:cNvPr id="34" name="Rectangle 33"/>
          <p:cNvSpPr/>
          <p:nvPr/>
        </p:nvSpPr>
        <p:spPr>
          <a:xfrm>
            <a:off x="6537960" y="3419856"/>
            <a:ext cx="2468880" cy="576072"/>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47688" y="3419856"/>
            <a:ext cx="226771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tasks.ts (AiTask)</a:t>
            </a:r>
          </a:p>
        </p:txBody>
      </p:sp>
      <p:sp>
        <p:nvSpPr>
          <p:cNvPr id="36" name="Rectangle 35"/>
          <p:cNvSpPr/>
          <p:nvPr/>
        </p:nvSpPr>
        <p:spPr>
          <a:xfrm>
            <a:off x="9006840" y="3419856"/>
            <a:ext cx="2377440" cy="576072"/>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16568" y="3419856"/>
            <a:ext cx="217627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5B341"/>
                </a:solidFill>
                <a:latin typeface="Segoe UI"/>
              </a:rPr>
              <a:t>+1 entrada = +1 función</a:t>
            </a:r>
          </a:p>
        </p:txBody>
      </p:sp>
      <p:sp>
        <p:nvSpPr>
          <p:cNvPr id="38" name="Rectangle 37"/>
          <p:cNvSpPr/>
          <p:nvPr/>
        </p:nvSpPr>
        <p:spPr>
          <a:xfrm>
            <a:off x="822960" y="3995928"/>
            <a:ext cx="2011680" cy="576072"/>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2688" y="3995928"/>
            <a:ext cx="181051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1">
                <a:solidFill>
                  <a:srgbClr val="F4F6FB"/>
                </a:solidFill>
                <a:latin typeface="Segoe UI"/>
              </a:rPr>
              <a:t>🌊 Flow</a:t>
            </a:r>
          </a:p>
        </p:txBody>
      </p:sp>
      <p:sp>
        <p:nvSpPr>
          <p:cNvPr id="40" name="Rectangle 39"/>
          <p:cNvSpPr/>
          <p:nvPr/>
        </p:nvSpPr>
        <p:spPr>
          <a:xfrm>
            <a:off x="2834640" y="3995928"/>
            <a:ext cx="3703320" cy="576072"/>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44368" y="3995928"/>
            <a:ext cx="3502151"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Router con política explícita + fallback asimétrico</a:t>
            </a:r>
          </a:p>
        </p:txBody>
      </p:sp>
      <p:sp>
        <p:nvSpPr>
          <p:cNvPr id="42" name="Rectangle 41"/>
          <p:cNvSpPr/>
          <p:nvPr/>
        </p:nvSpPr>
        <p:spPr>
          <a:xfrm>
            <a:off x="6537960" y="3995928"/>
            <a:ext cx="2468880" cy="576072"/>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47688" y="3995928"/>
            <a:ext cx="226771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router.ts</a:t>
            </a:r>
          </a:p>
        </p:txBody>
      </p:sp>
      <p:sp>
        <p:nvSpPr>
          <p:cNvPr id="44" name="Rectangle 43"/>
          <p:cNvSpPr/>
          <p:nvPr/>
        </p:nvSpPr>
        <p:spPr>
          <a:xfrm>
            <a:off x="9006840" y="3995928"/>
            <a:ext cx="2377440" cy="576072"/>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16568" y="3995928"/>
            <a:ext cx="217627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27A3D"/>
                </a:solidFill>
                <a:latin typeface="Segoe UI"/>
              </a:rPr>
              <a:t>3 modos · 2 tiers · 3 proveedores</a:t>
            </a:r>
          </a:p>
        </p:txBody>
      </p:sp>
      <p:sp>
        <p:nvSpPr>
          <p:cNvPr id="46" name="Rectangle 45"/>
          <p:cNvSpPr/>
          <p:nvPr/>
        </p:nvSpPr>
        <p:spPr>
          <a:xfrm>
            <a:off x="822960" y="4572000"/>
            <a:ext cx="2011680" cy="576072"/>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32688" y="4572000"/>
            <a:ext cx="181051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1">
                <a:solidFill>
                  <a:srgbClr val="F4F6FB"/>
                </a:solidFill>
                <a:latin typeface="Segoe UI"/>
              </a:rPr>
              <a:t>🔂 Loop</a:t>
            </a:r>
          </a:p>
        </p:txBody>
      </p:sp>
      <p:sp>
        <p:nvSpPr>
          <p:cNvPr id="48" name="Rectangle 47"/>
          <p:cNvSpPr/>
          <p:nvPr/>
        </p:nvSpPr>
        <p:spPr>
          <a:xfrm>
            <a:off x="2834640" y="4572000"/>
            <a:ext cx="3703320" cy="576072"/>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44368" y="4572000"/>
            <a:ext cx="3502151"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ReAct acotado + contrato de terminación</a:t>
            </a:r>
          </a:p>
        </p:txBody>
      </p:sp>
      <p:sp>
        <p:nvSpPr>
          <p:cNvPr id="50" name="Rectangle 49"/>
          <p:cNvSpPr/>
          <p:nvPr/>
        </p:nvSpPr>
        <p:spPr>
          <a:xfrm>
            <a:off x="6537960" y="4572000"/>
            <a:ext cx="2468880" cy="576072"/>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47688" y="4572000"/>
            <a:ext cx="226771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litert-agent.ts</a:t>
            </a:r>
          </a:p>
        </p:txBody>
      </p:sp>
      <p:sp>
        <p:nvSpPr>
          <p:cNvPr id="52" name="Rectangle 51"/>
          <p:cNvSpPr/>
          <p:nvPr/>
        </p:nvSpPr>
        <p:spPr>
          <a:xfrm>
            <a:off x="9006840" y="4572000"/>
            <a:ext cx="2377440" cy="576072"/>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116568" y="4572000"/>
            <a:ext cx="217627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EF5DA8"/>
                </a:solidFill>
                <a:latin typeface="Segoe UI"/>
              </a:rPr>
              <a:t>MAX_TURNS = 5</a:t>
            </a:r>
          </a:p>
        </p:txBody>
      </p:sp>
      <p:sp>
        <p:nvSpPr>
          <p:cNvPr id="54" name="Rectangle 53"/>
          <p:cNvSpPr/>
          <p:nvPr/>
        </p:nvSpPr>
        <p:spPr>
          <a:xfrm>
            <a:off x="822960" y="5148072"/>
            <a:ext cx="2011680" cy="576072"/>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2688" y="5148072"/>
            <a:ext cx="181051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1">
                <a:solidFill>
                  <a:srgbClr val="F4F6FB"/>
                </a:solidFill>
                <a:latin typeface="Segoe UI"/>
              </a:rPr>
              <a:t>🔁 Human-in-the-Loop</a:t>
            </a:r>
          </a:p>
        </p:txBody>
      </p:sp>
      <p:sp>
        <p:nvSpPr>
          <p:cNvPr id="56" name="Rectangle 55"/>
          <p:cNvSpPr/>
          <p:nvPr/>
        </p:nvSpPr>
        <p:spPr>
          <a:xfrm>
            <a:off x="2834640" y="5148072"/>
            <a:ext cx="3703320" cy="576072"/>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944368" y="5148072"/>
            <a:ext cx="3502151"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El agente propone, el humano dispone</a:t>
            </a:r>
          </a:p>
        </p:txBody>
      </p:sp>
      <p:sp>
        <p:nvSpPr>
          <p:cNvPr id="58" name="Rectangle 57"/>
          <p:cNvSpPr/>
          <p:nvPr/>
        </p:nvSpPr>
        <p:spPr>
          <a:xfrm>
            <a:off x="6537960" y="5148072"/>
            <a:ext cx="2468880" cy="576072"/>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47688" y="5148072"/>
            <a:ext cx="226771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litert-agent (contrato)</a:t>
            </a:r>
          </a:p>
        </p:txBody>
      </p:sp>
      <p:sp>
        <p:nvSpPr>
          <p:cNvPr id="60" name="Rectangle 59"/>
          <p:cNvSpPr/>
          <p:nvPr/>
        </p:nvSpPr>
        <p:spPr>
          <a:xfrm>
            <a:off x="9006840" y="5148072"/>
            <a:ext cx="2377440" cy="576072"/>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116568" y="5148072"/>
            <a:ext cx="217627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9B8BF0"/>
                </a:solidFill>
                <a:latin typeface="Segoe UI"/>
              </a:rPr>
              <a:t>0 escrituras al lienzo</a:t>
            </a:r>
          </a:p>
        </p:txBody>
      </p:sp>
      <p:sp>
        <p:nvSpPr>
          <p:cNvPr id="62" name="Rectangle 61"/>
          <p:cNvSpPr/>
          <p:nvPr/>
        </p:nvSpPr>
        <p:spPr>
          <a:xfrm>
            <a:off x="822960" y="5724144"/>
            <a:ext cx="2011680" cy="576072"/>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32688" y="5724144"/>
            <a:ext cx="181051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1">
                <a:solidFill>
                  <a:srgbClr val="F4F6FB"/>
                </a:solidFill>
                <a:latin typeface="Segoe UI"/>
              </a:rPr>
              <a:t>🧪 Harness</a:t>
            </a:r>
          </a:p>
        </p:txBody>
      </p:sp>
      <p:sp>
        <p:nvSpPr>
          <p:cNvPr id="64" name="Rectangle 63"/>
          <p:cNvSpPr/>
          <p:nvPr/>
        </p:nvSpPr>
        <p:spPr>
          <a:xfrm>
            <a:off x="2834640" y="5724144"/>
            <a:ext cx="3703320" cy="576072"/>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944368" y="5724144"/>
            <a:ext cx="3502151"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Lógica pura + TDD + gate en CI</a:t>
            </a:r>
          </a:p>
        </p:txBody>
      </p:sp>
      <p:sp>
        <p:nvSpPr>
          <p:cNvPr id="66" name="Rectangle 65"/>
          <p:cNvSpPr/>
          <p:nvPr/>
        </p:nvSpPr>
        <p:spPr>
          <a:xfrm>
            <a:off x="6537960" y="5724144"/>
            <a:ext cx="2468880" cy="576072"/>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647688" y="5724144"/>
            <a:ext cx="226771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__tests__ · ci.yml</a:t>
            </a:r>
          </a:p>
        </p:txBody>
      </p:sp>
      <p:sp>
        <p:nvSpPr>
          <p:cNvPr id="68" name="Rectangle 67"/>
          <p:cNvSpPr/>
          <p:nvPr/>
        </p:nvSpPr>
        <p:spPr>
          <a:xfrm>
            <a:off x="9006840" y="5724144"/>
            <a:ext cx="2377440" cy="576072"/>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116568" y="5724144"/>
            <a:ext cx="2176272" cy="576072"/>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3FD08C"/>
                </a:solidFill>
                <a:latin typeface="Segoe UI"/>
              </a:rPr>
              <a:t>typecheck+test+coverage</a:t>
            </a:r>
          </a:p>
        </p:txBody>
      </p:sp>
      <p:sp>
        <p:nvSpPr>
          <p:cNvPr id="70" name="TextBox 69"/>
          <p:cNvSpPr txBox="1"/>
          <p:nvPr/>
        </p:nvSpPr>
        <p:spPr>
          <a:xfrm>
            <a:off x="11018520" y="6419088"/>
            <a:ext cx="960120" cy="365760"/>
          </a:xfrm>
          <a:prstGeom prst="rect">
            <a:avLst/>
          </a:prstGeom>
          <a:noFill/>
        </p:spPr>
        <p:txBody>
          <a:bodyPr wrap="square" anchor="t" lIns="12700" rIns="12700" tIns="12700" bIns="12700">
            <a:spAutoFit/>
          </a:bodyPr>
          <a:lstStyle/>
          <a:p>
            <a:pPr algn="r">
              <a:lnSpc>
                <a:spcPct val="105000"/>
              </a:lnSpc>
              <a:spcBef>
                <a:spcPts val="0"/>
              </a:spcBef>
              <a:spcAft>
                <a:spcPts val="500"/>
              </a:spcAft>
            </a:pPr>
            <a:r>
              <a:rPr sz="1100" b="1">
                <a:solidFill>
                  <a:srgbClr val="9AA4C0"/>
                </a:solidFill>
                <a:latin typeface="Segoe UI"/>
              </a:rPr>
              <a:t>04</a:t>
            </a:r>
          </a:p>
        </p:txBody>
      </p:sp>
      <p:sp>
        <p:nvSpPr>
          <p:cNvPr id="71" name="Rectangle 70"/>
          <p:cNvSpPr/>
          <p:nvPr/>
        </p:nvSpPr>
        <p:spPr>
          <a:xfrm>
            <a:off x="0" y="6784848"/>
            <a:ext cx="12191695" cy="73152"/>
          </a:xfrm>
          <a:prstGeom prst="rect">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30352"/>
            <a:ext cx="292608" cy="54864"/>
          </a:xfrm>
          <a:prstGeom prst="rect">
            <a:avLst/>
          </a:prstGeom>
          <a:solidFill>
            <a:srgbClr val="F5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07008" y="429768"/>
            <a:ext cx="10058400" cy="3657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F5B341"/>
                </a:solidFill>
                <a:latin typeface="Segoe UI"/>
              </a:rPr>
              <a:t>POR QUÉ LA DISCIPLINA ES OBLIGATORIA</a:t>
            </a:r>
          </a:p>
        </p:txBody>
      </p:sp>
      <p:sp>
        <p:nvSpPr>
          <p:cNvPr id="5" name="TextBox 4"/>
          <p:cNvSpPr txBox="1"/>
          <p:nvPr/>
        </p:nvSpPr>
        <p:spPr>
          <a:xfrm>
            <a:off x="777240" y="777240"/>
            <a:ext cx="10607040" cy="9144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3000" b="1">
                <a:solidFill>
                  <a:srgbClr val="F4F6FB"/>
                </a:solidFill>
                <a:latin typeface="Segoe UI"/>
              </a:rPr>
              <a:t>El sistema corre bajo presupuesto</a:t>
            </a:r>
          </a:p>
        </p:txBody>
      </p:sp>
      <p:sp>
        <p:nvSpPr>
          <p:cNvPr id="6" name="TextBox 5"/>
          <p:cNvSpPr txBox="1"/>
          <p:nvPr/>
        </p:nvSpPr>
        <p:spPr>
          <a:xfrm>
            <a:off x="822960" y="1572768"/>
            <a:ext cx="5486400" cy="4206240"/>
          </a:xfrm>
          <a:prstGeom prst="rect">
            <a:avLst/>
          </a:prstGeom>
          <a:noFill/>
        </p:spPr>
        <p:txBody>
          <a:bodyPr wrap="square" anchor="t" lIns="12700" rIns="12700" tIns="12700" bIns="12700">
            <a:spAutoFit/>
          </a:bodyPr>
          <a:lstStyle/>
          <a:p>
            <a:pPr algn="l">
              <a:lnSpc>
                <a:spcPct val="118000"/>
              </a:lnSpc>
              <a:spcBef>
                <a:spcPts val="0"/>
              </a:spcBef>
              <a:spcAft>
                <a:spcPts val="800"/>
              </a:spcAft>
            </a:pPr>
            <a:r>
              <a:rPr sz="1400" b="1">
                <a:solidFill>
                  <a:srgbClr val="F4F6FB"/>
                </a:solidFill>
                <a:latin typeface="Segoe UI"/>
              </a:rPr>
              <a:t>El modelo es LOCAL y pequeño (LiteRT-LM sobre WebGPU, en la máquina del usuario). </a:t>
            </a:r>
            <a:r>
              <a:rPr sz="1400" b="0">
                <a:solidFill>
                  <a:srgbClr val="9AA4C0"/>
                </a:solidFill>
                <a:latin typeface="Segoe UI"/>
              </a:rPr>
              <a:t>No hay servidor donde esconder latencia ni ventana infinita. Cada límite de abajo es una decisión de ingeniería explícita, no un accidente.</a:t>
            </a:r>
          </a:p>
          <a:p>
            <a:pPr algn="l">
              <a:lnSpc>
                <a:spcPct val="118000"/>
              </a:lnSpc>
              <a:spcBef>
                <a:spcPts val="0"/>
              </a:spcBef>
              <a:spcAft>
                <a:spcPts val="800"/>
              </a:spcAft>
            </a:pPr>
            <a:r>
              <a:rPr sz="600" b="0">
                <a:solidFill>
                  <a:srgbClr val="9AA4C0"/>
                </a:solidFill>
                <a:latin typeface="Segoe UI"/>
              </a:rPr>
              <a:t/>
            </a:r>
          </a:p>
          <a:p>
            <a:pPr algn="l">
              <a:lnSpc>
                <a:spcPct val="118000"/>
              </a:lnSpc>
              <a:spcBef>
                <a:spcPts val="0"/>
              </a:spcBef>
              <a:spcAft>
                <a:spcPts val="800"/>
              </a:spcAft>
            </a:pPr>
            <a:r>
              <a:rPr sz="1400" b="1">
                <a:solidFill>
                  <a:srgbClr val="F5B341"/>
                </a:solidFill>
                <a:latin typeface="Segoe UI"/>
              </a:rPr>
              <a:t>Consecuencia para el arquitecto:</a:t>
            </a:r>
          </a:p>
          <a:p>
            <a:pPr algn="l">
              <a:lnSpc>
                <a:spcPct val="118000"/>
              </a:lnSpc>
              <a:spcBef>
                <a:spcPts val="0"/>
              </a:spcBef>
              <a:spcAft>
                <a:spcPts val="800"/>
              </a:spcAft>
            </a:pPr>
            <a:r>
              <a:rPr sz="1350" b="0">
                <a:solidFill>
                  <a:srgbClr val="F4F6FB"/>
                </a:solidFill>
                <a:latin typeface="Segoe UI"/>
              </a:rPr>
              <a:t>trata cada recurso (tokens, iteraciones, tiempo) como un presupuesto con tope duro y política de qué hacer al excederlo.</a:t>
            </a:r>
          </a:p>
        </p:txBody>
      </p:sp>
      <p:sp>
        <p:nvSpPr>
          <p:cNvPr id="7" name="Rectangle 6"/>
          <p:cNvSpPr/>
          <p:nvPr/>
        </p:nvSpPr>
        <p:spPr>
          <a:xfrm>
            <a:off x="6537960" y="1572768"/>
            <a:ext cx="2743200" cy="516635"/>
          </a:xfrm>
          <a:prstGeom prst="rect">
            <a:avLst/>
          </a:prstGeom>
          <a:solidFill>
            <a:srgbClr val="F5B341"/>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572768"/>
            <a:ext cx="254203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1">
                <a:solidFill>
                  <a:srgbClr val="0B1020"/>
                </a:solidFill>
                <a:latin typeface="Segoe UI"/>
              </a:rPr>
              <a:t>Recurso</a:t>
            </a:r>
          </a:p>
        </p:txBody>
      </p:sp>
      <p:sp>
        <p:nvSpPr>
          <p:cNvPr id="9" name="Rectangle 8"/>
          <p:cNvSpPr/>
          <p:nvPr/>
        </p:nvSpPr>
        <p:spPr>
          <a:xfrm>
            <a:off x="9281160" y="1572768"/>
            <a:ext cx="1371600" cy="516635"/>
          </a:xfrm>
          <a:prstGeom prst="rect">
            <a:avLst/>
          </a:prstGeom>
          <a:solidFill>
            <a:srgbClr val="F5B341"/>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90888" y="1572768"/>
            <a:ext cx="117043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1">
                <a:solidFill>
                  <a:srgbClr val="0B1020"/>
                </a:solidFill>
                <a:latin typeface="Segoe UI"/>
              </a:rPr>
              <a:t>Límite</a:t>
            </a:r>
          </a:p>
        </p:txBody>
      </p:sp>
      <p:sp>
        <p:nvSpPr>
          <p:cNvPr id="11" name="Rectangle 10"/>
          <p:cNvSpPr/>
          <p:nvPr/>
        </p:nvSpPr>
        <p:spPr>
          <a:xfrm>
            <a:off x="10652760" y="1572768"/>
            <a:ext cx="1645920" cy="516635"/>
          </a:xfrm>
          <a:prstGeom prst="rect">
            <a:avLst/>
          </a:prstGeom>
          <a:solidFill>
            <a:srgbClr val="F5B341"/>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62488" y="1572768"/>
            <a:ext cx="144475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1">
                <a:solidFill>
                  <a:srgbClr val="0B1020"/>
                </a:solidFill>
                <a:latin typeface="Segoe UI"/>
              </a:rPr>
              <a:t>Por qué</a:t>
            </a:r>
          </a:p>
        </p:txBody>
      </p:sp>
      <p:sp>
        <p:nvSpPr>
          <p:cNvPr id="13" name="Rectangle 12"/>
          <p:cNvSpPr/>
          <p:nvPr/>
        </p:nvSpPr>
        <p:spPr>
          <a:xfrm>
            <a:off x="6537960" y="2089404"/>
            <a:ext cx="2743200" cy="516635"/>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2089404"/>
            <a:ext cx="254203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1">
                <a:solidFill>
                  <a:srgbClr val="F4F6FB"/>
                </a:solidFill>
                <a:latin typeface="Segoe UI"/>
              </a:rPr>
              <a:t>Iteraciones del agente</a:t>
            </a:r>
          </a:p>
        </p:txBody>
      </p:sp>
      <p:sp>
        <p:nvSpPr>
          <p:cNvPr id="15" name="Rectangle 14"/>
          <p:cNvSpPr/>
          <p:nvPr/>
        </p:nvSpPr>
        <p:spPr>
          <a:xfrm>
            <a:off x="9281160" y="2089404"/>
            <a:ext cx="1371600" cy="516635"/>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90888" y="2089404"/>
            <a:ext cx="117043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0">
                <a:solidFill>
                  <a:srgbClr val="F4F6FB"/>
                </a:solidFill>
                <a:latin typeface="Segoe UI"/>
              </a:rPr>
              <a:t>5 turnos</a:t>
            </a:r>
          </a:p>
        </p:txBody>
      </p:sp>
      <p:sp>
        <p:nvSpPr>
          <p:cNvPr id="17" name="Rectangle 16"/>
          <p:cNvSpPr/>
          <p:nvPr/>
        </p:nvSpPr>
        <p:spPr>
          <a:xfrm>
            <a:off x="10652760" y="2089404"/>
            <a:ext cx="1645920" cy="516635"/>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62488" y="2089404"/>
            <a:ext cx="144475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0">
                <a:solidFill>
                  <a:srgbClr val="F4F6FB"/>
                </a:solidFill>
                <a:latin typeface="Segoe UI"/>
              </a:rPr>
              <a:t>corta ciclos y costo</a:t>
            </a:r>
          </a:p>
        </p:txBody>
      </p:sp>
      <p:sp>
        <p:nvSpPr>
          <p:cNvPr id="19" name="Rectangle 18"/>
          <p:cNvSpPr/>
          <p:nvPr/>
        </p:nvSpPr>
        <p:spPr>
          <a:xfrm>
            <a:off x="6537960" y="2606040"/>
            <a:ext cx="2743200" cy="516635"/>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47688" y="2606040"/>
            <a:ext cx="254203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1">
                <a:solidFill>
                  <a:srgbClr val="F4F6FB"/>
                </a:solidFill>
                <a:latin typeface="Segoe UI"/>
              </a:rPr>
              <a:t>Contexto · documentos</a:t>
            </a:r>
          </a:p>
        </p:txBody>
      </p:sp>
      <p:sp>
        <p:nvSpPr>
          <p:cNvPr id="21" name="Rectangle 20"/>
          <p:cNvSpPr/>
          <p:nvPr/>
        </p:nvSpPr>
        <p:spPr>
          <a:xfrm>
            <a:off x="9281160" y="2606040"/>
            <a:ext cx="1371600" cy="516635"/>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90888" y="2606040"/>
            <a:ext cx="117043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0">
                <a:solidFill>
                  <a:srgbClr val="F4F6FB"/>
                </a:solidFill>
                <a:latin typeface="Segoe UI"/>
              </a:rPr>
              <a:t>12 000 car.</a:t>
            </a:r>
          </a:p>
        </p:txBody>
      </p:sp>
      <p:sp>
        <p:nvSpPr>
          <p:cNvPr id="23" name="Rectangle 22"/>
          <p:cNvSpPr/>
          <p:nvPr/>
        </p:nvSpPr>
        <p:spPr>
          <a:xfrm>
            <a:off x="10652760" y="2606040"/>
            <a:ext cx="1645920" cy="516635"/>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762488" y="2606040"/>
            <a:ext cx="144475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0">
                <a:solidFill>
                  <a:srgbClr val="F4F6FB"/>
                </a:solidFill>
                <a:latin typeface="Segoe UI"/>
              </a:rPr>
              <a:t>fuente principal</a:t>
            </a:r>
          </a:p>
        </p:txBody>
      </p:sp>
      <p:sp>
        <p:nvSpPr>
          <p:cNvPr id="25" name="Rectangle 24"/>
          <p:cNvSpPr/>
          <p:nvPr/>
        </p:nvSpPr>
        <p:spPr>
          <a:xfrm>
            <a:off x="6537960" y="3122676"/>
            <a:ext cx="2743200" cy="516635"/>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47688" y="3122676"/>
            <a:ext cx="254203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1">
                <a:solidFill>
                  <a:srgbClr val="F4F6FB"/>
                </a:solidFill>
                <a:latin typeface="Segoe UI"/>
              </a:rPr>
              <a:t>Contexto · grafo</a:t>
            </a:r>
          </a:p>
        </p:txBody>
      </p:sp>
      <p:sp>
        <p:nvSpPr>
          <p:cNvPr id="27" name="Rectangle 26"/>
          <p:cNvSpPr/>
          <p:nvPr/>
        </p:nvSpPr>
        <p:spPr>
          <a:xfrm>
            <a:off x="9281160" y="3122676"/>
            <a:ext cx="1371600" cy="516635"/>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90888" y="3122676"/>
            <a:ext cx="117043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0">
                <a:solidFill>
                  <a:srgbClr val="F4F6FB"/>
                </a:solidFill>
                <a:latin typeface="Segoe UI"/>
              </a:rPr>
              <a:t>8 000 car.</a:t>
            </a:r>
          </a:p>
        </p:txBody>
      </p:sp>
      <p:sp>
        <p:nvSpPr>
          <p:cNvPr id="29" name="Rectangle 28"/>
          <p:cNvSpPr/>
          <p:nvPr/>
        </p:nvSpPr>
        <p:spPr>
          <a:xfrm>
            <a:off x="10652760" y="3122676"/>
            <a:ext cx="1645920" cy="516635"/>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762488" y="3122676"/>
            <a:ext cx="144475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0">
                <a:solidFill>
                  <a:srgbClr val="F4F6FB"/>
                </a:solidFill>
                <a:latin typeface="Segoe UI"/>
              </a:rPr>
              <a:t>modelo de dominio</a:t>
            </a:r>
          </a:p>
        </p:txBody>
      </p:sp>
      <p:sp>
        <p:nvSpPr>
          <p:cNvPr id="31" name="Rectangle 30"/>
          <p:cNvSpPr/>
          <p:nvPr/>
        </p:nvSpPr>
        <p:spPr>
          <a:xfrm>
            <a:off x="6537960" y="3639312"/>
            <a:ext cx="2743200" cy="516635"/>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7688" y="3639312"/>
            <a:ext cx="254203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1">
                <a:solidFill>
                  <a:srgbClr val="F4F6FB"/>
                </a:solidFill>
                <a:latin typeface="Segoe UI"/>
              </a:rPr>
              <a:t>Contexto · artefactos</a:t>
            </a:r>
          </a:p>
        </p:txBody>
      </p:sp>
      <p:sp>
        <p:nvSpPr>
          <p:cNvPr id="33" name="Rectangle 32"/>
          <p:cNvSpPr/>
          <p:nvPr/>
        </p:nvSpPr>
        <p:spPr>
          <a:xfrm>
            <a:off x="9281160" y="3639312"/>
            <a:ext cx="1371600" cy="516635"/>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90888" y="3639312"/>
            <a:ext cx="117043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0">
                <a:solidFill>
                  <a:srgbClr val="F4F6FB"/>
                </a:solidFill>
                <a:latin typeface="Segoe UI"/>
              </a:rPr>
              <a:t>3 000 car.</a:t>
            </a:r>
          </a:p>
        </p:txBody>
      </p:sp>
      <p:sp>
        <p:nvSpPr>
          <p:cNvPr id="35" name="Rectangle 34"/>
          <p:cNvSpPr/>
          <p:nvPr/>
        </p:nvSpPr>
        <p:spPr>
          <a:xfrm>
            <a:off x="10652760" y="3639312"/>
            <a:ext cx="1645920" cy="516635"/>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762488" y="3639312"/>
            <a:ext cx="144475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0">
                <a:solidFill>
                  <a:srgbClr val="F4F6FB"/>
                </a:solidFill>
                <a:latin typeface="Segoe UI"/>
              </a:rPr>
              <a:t>material de apoyo</a:t>
            </a:r>
          </a:p>
        </p:txBody>
      </p:sp>
      <p:sp>
        <p:nvSpPr>
          <p:cNvPr id="37" name="Rectangle 36"/>
          <p:cNvSpPr/>
          <p:nvPr/>
        </p:nvSpPr>
        <p:spPr>
          <a:xfrm>
            <a:off x="6537960" y="4155948"/>
            <a:ext cx="2743200" cy="516635"/>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47688" y="4155948"/>
            <a:ext cx="254203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1">
                <a:solidFill>
                  <a:srgbClr val="F4F6FB"/>
                </a:solidFill>
                <a:latin typeface="Segoe UI"/>
              </a:rPr>
              <a:t>Contexto · transcript</a:t>
            </a:r>
          </a:p>
        </p:txBody>
      </p:sp>
      <p:sp>
        <p:nvSpPr>
          <p:cNvPr id="39" name="Rectangle 38"/>
          <p:cNvSpPr/>
          <p:nvPr/>
        </p:nvSpPr>
        <p:spPr>
          <a:xfrm>
            <a:off x="9281160" y="4155948"/>
            <a:ext cx="1371600" cy="516635"/>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90888" y="4155948"/>
            <a:ext cx="117043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0">
                <a:solidFill>
                  <a:srgbClr val="F4F6FB"/>
                </a:solidFill>
                <a:latin typeface="Segoe UI"/>
              </a:rPr>
              <a:t>1 500 car.</a:t>
            </a:r>
          </a:p>
        </p:txBody>
      </p:sp>
      <p:sp>
        <p:nvSpPr>
          <p:cNvPr id="41" name="Rectangle 40"/>
          <p:cNvSpPr/>
          <p:nvPr/>
        </p:nvSpPr>
        <p:spPr>
          <a:xfrm>
            <a:off x="10652760" y="4155948"/>
            <a:ext cx="1645920" cy="516635"/>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762488" y="4155948"/>
            <a:ext cx="144475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0">
                <a:solidFill>
                  <a:srgbClr val="F4F6FB"/>
                </a:solidFill>
                <a:latin typeface="Segoe UI"/>
              </a:rPr>
              <a:t>prosa baja densidad</a:t>
            </a:r>
          </a:p>
        </p:txBody>
      </p:sp>
      <p:sp>
        <p:nvSpPr>
          <p:cNvPr id="43" name="Rectangle 42"/>
          <p:cNvSpPr/>
          <p:nvPr/>
        </p:nvSpPr>
        <p:spPr>
          <a:xfrm>
            <a:off x="6537960" y="4672583"/>
            <a:ext cx="2743200" cy="516635"/>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47688" y="4672583"/>
            <a:ext cx="254203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1">
                <a:solidFill>
                  <a:srgbClr val="F4F6FB"/>
                </a:solidFill>
                <a:latin typeface="Segoe UI"/>
              </a:rPr>
              <a:t>Entrada local (ligera)</a:t>
            </a:r>
          </a:p>
        </p:txBody>
      </p:sp>
      <p:sp>
        <p:nvSpPr>
          <p:cNvPr id="45" name="Rectangle 44"/>
          <p:cNvSpPr/>
          <p:nvPr/>
        </p:nvSpPr>
        <p:spPr>
          <a:xfrm>
            <a:off x="9281160" y="4672583"/>
            <a:ext cx="1371600" cy="516635"/>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90888" y="4672583"/>
            <a:ext cx="117043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0">
                <a:solidFill>
                  <a:srgbClr val="F4F6FB"/>
                </a:solidFill>
                <a:latin typeface="Segoe UI"/>
              </a:rPr>
              <a:t>600–800 car.</a:t>
            </a:r>
          </a:p>
        </p:txBody>
      </p:sp>
      <p:sp>
        <p:nvSpPr>
          <p:cNvPr id="47" name="Rectangle 46"/>
          <p:cNvSpPr/>
          <p:nvPr/>
        </p:nvSpPr>
        <p:spPr>
          <a:xfrm>
            <a:off x="10652760" y="4672583"/>
            <a:ext cx="1645920" cy="516635"/>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762488" y="4672583"/>
            <a:ext cx="144475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0">
                <a:solidFill>
                  <a:srgbClr val="F4F6FB"/>
                </a:solidFill>
                <a:latin typeface="Segoe UI"/>
              </a:rPr>
              <a:t>si excede → nube</a:t>
            </a:r>
          </a:p>
        </p:txBody>
      </p:sp>
      <p:sp>
        <p:nvSpPr>
          <p:cNvPr id="49" name="Rectangle 48"/>
          <p:cNvSpPr/>
          <p:nvPr/>
        </p:nvSpPr>
        <p:spPr>
          <a:xfrm>
            <a:off x="6537960" y="5189219"/>
            <a:ext cx="2743200" cy="516635"/>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647688" y="5189219"/>
            <a:ext cx="254203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1">
                <a:solidFill>
                  <a:srgbClr val="F4F6FB"/>
                </a:solidFill>
                <a:latin typeface="Segoe UI"/>
              </a:rPr>
              <a:t>Claves de nube</a:t>
            </a:r>
          </a:p>
        </p:txBody>
      </p:sp>
      <p:sp>
        <p:nvSpPr>
          <p:cNvPr id="51" name="Rectangle 50"/>
          <p:cNvSpPr/>
          <p:nvPr/>
        </p:nvSpPr>
        <p:spPr>
          <a:xfrm>
            <a:off x="9281160" y="5189219"/>
            <a:ext cx="1371600" cy="516635"/>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390888" y="5189219"/>
            <a:ext cx="117043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0">
                <a:solidFill>
                  <a:srgbClr val="F4F6FB"/>
                </a:solidFill>
                <a:latin typeface="Segoe UI"/>
              </a:rPr>
              <a:t>safeStorage</a:t>
            </a:r>
          </a:p>
        </p:txBody>
      </p:sp>
      <p:sp>
        <p:nvSpPr>
          <p:cNvPr id="53" name="Rectangle 52"/>
          <p:cNvSpPr/>
          <p:nvPr/>
        </p:nvSpPr>
        <p:spPr>
          <a:xfrm>
            <a:off x="10652760" y="5189219"/>
            <a:ext cx="1645920" cy="516635"/>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762488" y="5189219"/>
            <a:ext cx="1444752" cy="516635"/>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00" b="0">
                <a:solidFill>
                  <a:srgbClr val="F4F6FB"/>
                </a:solidFill>
                <a:latin typeface="Segoe UI"/>
              </a:rPr>
              <a:t>nunca al renderer</a:t>
            </a:r>
          </a:p>
        </p:txBody>
      </p:sp>
      <p:sp>
        <p:nvSpPr>
          <p:cNvPr id="55" name="TextBox 54"/>
          <p:cNvSpPr txBox="1"/>
          <p:nvPr/>
        </p:nvSpPr>
        <p:spPr>
          <a:xfrm>
            <a:off x="11018520" y="6419088"/>
            <a:ext cx="960120" cy="365760"/>
          </a:xfrm>
          <a:prstGeom prst="rect">
            <a:avLst/>
          </a:prstGeom>
          <a:noFill/>
        </p:spPr>
        <p:txBody>
          <a:bodyPr wrap="square" anchor="t" lIns="12700" rIns="12700" tIns="12700" bIns="12700">
            <a:spAutoFit/>
          </a:bodyPr>
          <a:lstStyle/>
          <a:p>
            <a:pPr algn="r">
              <a:lnSpc>
                <a:spcPct val="105000"/>
              </a:lnSpc>
              <a:spcBef>
                <a:spcPts val="0"/>
              </a:spcBef>
              <a:spcAft>
                <a:spcPts val="500"/>
              </a:spcAft>
            </a:pPr>
            <a:r>
              <a:rPr sz="1100" b="1">
                <a:solidFill>
                  <a:srgbClr val="9AA4C0"/>
                </a:solidFill>
                <a:latin typeface="Segoe UI"/>
              </a:rPr>
              <a:t>05</a:t>
            </a:r>
          </a:p>
        </p:txBody>
      </p:sp>
      <p:sp>
        <p:nvSpPr>
          <p:cNvPr id="56" name="Rectangle 55"/>
          <p:cNvSpPr/>
          <p:nvPr/>
        </p:nvSpPr>
        <p:spPr>
          <a:xfrm>
            <a:off x="0" y="6784848"/>
            <a:ext cx="12191695" cy="73152"/>
          </a:xfrm>
          <a:prstGeom prst="rect">
            <a:avLst/>
          </a:prstGeom>
          <a:solidFill>
            <a:srgbClr val="F5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30352"/>
            <a:ext cx="292608" cy="54864"/>
          </a:xfrm>
          <a:prstGeom prst="rect">
            <a:avLst/>
          </a:prstGeom>
          <a:solidFill>
            <a:srgbClr val="34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07008" y="429768"/>
            <a:ext cx="10058400" cy="3657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34D3EE"/>
                </a:solidFill>
                <a:latin typeface="Segoe UI"/>
              </a:rPr>
              <a:t>INGENIERÍA 1 / 7 · ¿QUÉ DEBE SABER PARA DECIDIR?</a:t>
            </a:r>
          </a:p>
        </p:txBody>
      </p:sp>
      <p:sp>
        <p:nvSpPr>
          <p:cNvPr id="5" name="TextBox 4"/>
          <p:cNvSpPr txBox="1"/>
          <p:nvPr/>
        </p:nvSpPr>
        <p:spPr>
          <a:xfrm>
            <a:off x="777240" y="777240"/>
            <a:ext cx="8778240" cy="8229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3000" b="0">
                <a:solidFill>
                  <a:srgbClr val="F4F6FB"/>
                </a:solidFill>
                <a:latin typeface="Segoe UI"/>
              </a:rPr>
              <a:t>🧠  </a:t>
            </a:r>
            <a:r>
              <a:rPr sz="3000" b="1">
                <a:solidFill>
                  <a:srgbClr val="F4F6FB"/>
                </a:solidFill>
                <a:latin typeface="Segoe UI"/>
              </a:rPr>
              <a:t>Context Engineering</a:t>
            </a:r>
          </a:p>
        </p:txBody>
      </p:sp>
      <p:sp>
        <p:nvSpPr>
          <p:cNvPr id="6" name="Rounded Rectangle 5"/>
          <p:cNvSpPr/>
          <p:nvPr/>
        </p:nvSpPr>
        <p:spPr>
          <a:xfrm>
            <a:off x="822960" y="1572768"/>
            <a:ext cx="10561320" cy="658368"/>
          </a:xfrm>
          <a:prstGeom prst="roundRect">
            <a:avLst>
              <a:gd name="adj" fmla="val 6000"/>
            </a:avLst>
          </a:prstGeom>
          <a:solidFill>
            <a:srgbClr val="10172C"/>
          </a:solidFill>
          <a:ln w="12700">
            <a:solidFill>
              <a:srgbClr val="34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572768"/>
            <a:ext cx="10149840" cy="658368"/>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100" b="1">
                <a:solidFill>
                  <a:srgbClr val="34D3EE"/>
                </a:solidFill>
                <a:latin typeface="Segoe UI"/>
              </a:rPr>
              <a:t>DEFINICIÓN  </a:t>
            </a:r>
            <a:r>
              <a:rPr sz="1250" b="0">
                <a:solidFill>
                  <a:srgbClr val="F4F6FB"/>
                </a:solidFill>
                <a:latin typeface="Segoe UI"/>
              </a:rPr>
              <a:t>Seleccionar, comprimir e inyectar los datos y reglas que el modelo necesita. El contexto es un presupuesto que se cura, no un cajón donde se vuelca todo.</a:t>
            </a:r>
          </a:p>
        </p:txBody>
      </p:sp>
      <p:sp>
        <p:nvSpPr>
          <p:cNvPr id="8" name="TextBox 7"/>
          <p:cNvSpPr txBox="1"/>
          <p:nvPr/>
        </p:nvSpPr>
        <p:spPr>
          <a:xfrm>
            <a:off x="822960" y="2423160"/>
            <a:ext cx="5212080" cy="32004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34D3EE"/>
                </a:solidFill>
                <a:latin typeface="Segoe UI"/>
              </a:rPr>
              <a:t>PATRÓN GENERAL (replicable)</a:t>
            </a:r>
          </a:p>
        </p:txBody>
      </p:sp>
      <p:sp>
        <p:nvSpPr>
          <p:cNvPr id="9" name="TextBox 8"/>
          <p:cNvSpPr txBox="1"/>
          <p:nvPr/>
        </p:nvSpPr>
        <p:spPr>
          <a:xfrm>
            <a:off x="822960" y="2788920"/>
            <a:ext cx="5212080" cy="2743200"/>
          </a:xfrm>
          <a:prstGeom prst="rect">
            <a:avLst/>
          </a:prstGeom>
          <a:noFill/>
        </p:spPr>
        <p:txBody>
          <a:bodyPr wrap="square" anchor="t" lIns="12700" rIns="12700" tIns="12700" bIns="12700">
            <a:spAutoFit/>
          </a:bodyPr>
          <a:lstStyle/>
          <a:p>
            <a:pPr algn="l">
              <a:lnSpc>
                <a:spcPct val="112000"/>
              </a:lnSpc>
              <a:spcBef>
                <a:spcPts val="0"/>
              </a:spcBef>
              <a:spcAft>
                <a:spcPts val="800"/>
              </a:spcAft>
            </a:pPr>
            <a:r>
              <a:rPr sz="1300" b="1">
                <a:solidFill>
                  <a:srgbClr val="34D3EE"/>
                </a:solidFill>
                <a:latin typeface="Segoe UI"/>
              </a:rPr>
              <a:t>▸  </a:t>
            </a:r>
            <a:r>
              <a:rPr sz="1250" b="0">
                <a:solidFill>
                  <a:srgbClr val="F4F6FB"/>
                </a:solidFill>
                <a:latin typeface="Segoe UI"/>
              </a:rPr>
              <a:t>Poda lo que NO ayuda a razonar (geometría, estilos, IDs internos)</a:t>
            </a:r>
          </a:p>
          <a:p>
            <a:pPr algn="l">
              <a:lnSpc>
                <a:spcPct val="112000"/>
              </a:lnSpc>
              <a:spcBef>
                <a:spcPts val="0"/>
              </a:spcBef>
              <a:spcAft>
                <a:spcPts val="800"/>
              </a:spcAft>
            </a:pPr>
            <a:r>
              <a:rPr sz="1300" b="1">
                <a:solidFill>
                  <a:srgbClr val="34D3EE"/>
                </a:solidFill>
                <a:latin typeface="Segoe UI"/>
              </a:rPr>
              <a:t>▸  </a:t>
            </a:r>
            <a:r>
              <a:rPr sz="1250" b="0">
                <a:solidFill>
                  <a:srgbClr val="F4F6FB"/>
                </a:solidFill>
                <a:latin typeface="Segoe UI"/>
              </a:rPr>
              <a:t>Codifica arrays uniformes como TABLA, no objetos repetidos</a:t>
            </a:r>
          </a:p>
          <a:p>
            <a:pPr algn="l">
              <a:lnSpc>
                <a:spcPct val="112000"/>
              </a:lnSpc>
              <a:spcBef>
                <a:spcPts val="0"/>
              </a:spcBef>
              <a:spcAft>
                <a:spcPts val="800"/>
              </a:spcAft>
            </a:pPr>
            <a:r>
              <a:rPr sz="1300" b="1">
                <a:solidFill>
                  <a:srgbClr val="34D3EE"/>
                </a:solidFill>
                <a:latin typeface="Segoe UI"/>
              </a:rPr>
              <a:t>▸  </a:t>
            </a:r>
            <a:r>
              <a:rPr sz="1250" b="0">
                <a:solidFill>
                  <a:srgbClr val="F4F6FB"/>
                </a:solidFill>
                <a:latin typeface="Segoe UI"/>
              </a:rPr>
              <a:t>Asigna presupuesto por tipo de fuente y recórtalo (clamp)</a:t>
            </a:r>
          </a:p>
          <a:p>
            <a:pPr algn="l">
              <a:lnSpc>
                <a:spcPct val="112000"/>
              </a:lnSpc>
              <a:spcBef>
                <a:spcPts val="0"/>
              </a:spcBef>
              <a:spcAft>
                <a:spcPts val="800"/>
              </a:spcAft>
            </a:pPr>
            <a:r>
              <a:rPr sz="1300" b="1">
                <a:solidFill>
                  <a:srgbClr val="34D3EE"/>
                </a:solidFill>
                <a:latin typeface="Segoe UI"/>
              </a:rPr>
              <a:t>▸  </a:t>
            </a:r>
            <a:r>
              <a:rPr sz="1250" b="0">
                <a:solidFill>
                  <a:srgbClr val="F4F6FB"/>
                </a:solidFill>
                <a:latin typeface="Segoe UI"/>
              </a:rPr>
              <a:t>Inyecta una leyenda del formato: el modelo pequeño la necesita</a:t>
            </a:r>
          </a:p>
        </p:txBody>
      </p:sp>
      <p:sp>
        <p:nvSpPr>
          <p:cNvPr id="10" name="TextBox 9"/>
          <p:cNvSpPr txBox="1"/>
          <p:nvPr/>
        </p:nvSpPr>
        <p:spPr>
          <a:xfrm>
            <a:off x="822960" y="4617720"/>
            <a:ext cx="5212080" cy="32004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34D3EE"/>
                </a:solidFill>
                <a:latin typeface="Segoe UI"/>
              </a:rPr>
              <a:t>PIPELINE DE CONTEXTO</a:t>
            </a:r>
          </a:p>
        </p:txBody>
      </p:sp>
      <p:sp>
        <p:nvSpPr>
          <p:cNvPr id="11" name="Rounded Rectangle 10"/>
          <p:cNvSpPr/>
          <p:nvPr/>
        </p:nvSpPr>
        <p:spPr>
          <a:xfrm>
            <a:off x="822960" y="5029200"/>
            <a:ext cx="1417320" cy="777240"/>
          </a:xfrm>
          <a:prstGeom prst="roundRect">
            <a:avLst>
              <a:gd name="adj" fmla="val 12000"/>
            </a:avLst>
          </a:prstGeom>
          <a:solidFill>
            <a:srgbClr val="141C33"/>
          </a:solidFill>
          <a:ln w="15875">
            <a:solidFill>
              <a:srgbClr val="9AA4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5029200"/>
            <a:ext cx="1307592" cy="777240"/>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250" b="1">
                <a:solidFill>
                  <a:srgbClr val="F4F6FB"/>
                </a:solidFill>
                <a:latin typeface="Segoe UI"/>
              </a:rPr>
              <a:t>GraphData</a:t>
            </a:r>
          </a:p>
          <a:p>
            <a:pPr algn="ctr">
              <a:lnSpc>
                <a:spcPct val="100000"/>
              </a:lnSpc>
              <a:spcBef>
                <a:spcPts val="0"/>
              </a:spcBef>
              <a:spcAft>
                <a:spcPts val="100"/>
              </a:spcAft>
            </a:pPr>
            <a:r>
              <a:rPr sz="1000" b="0">
                <a:solidFill>
                  <a:srgbClr val="9AA4C0"/>
                </a:solidFill>
                <a:latin typeface="Segoe UI"/>
              </a:rPr>
              <a:t>JSON + geometría</a:t>
            </a:r>
          </a:p>
        </p:txBody>
      </p:sp>
      <p:sp>
        <p:nvSpPr>
          <p:cNvPr id="13" name="Right Arrow 12"/>
          <p:cNvSpPr/>
          <p:nvPr/>
        </p:nvSpPr>
        <p:spPr>
          <a:xfrm>
            <a:off x="2304288" y="5340096"/>
            <a:ext cx="320040" cy="155448"/>
          </a:xfrm>
          <a:prstGeom prst="rightArrow">
            <a:avLst/>
          </a:prstGeom>
          <a:solidFill>
            <a:srgbClr val="34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697480" y="5029200"/>
            <a:ext cx="1234440" cy="777240"/>
          </a:xfrm>
          <a:prstGeom prst="roundRect">
            <a:avLst>
              <a:gd name="adj" fmla="val 12000"/>
            </a:avLst>
          </a:prstGeom>
          <a:solidFill>
            <a:srgbClr val="141C33"/>
          </a:solidFill>
          <a:ln w="15875">
            <a:solidFill>
              <a:srgbClr val="34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52344" y="5029200"/>
            <a:ext cx="1124712" cy="777240"/>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250" b="1">
                <a:solidFill>
                  <a:srgbClr val="F4F6FB"/>
                </a:solidFill>
                <a:latin typeface="Segoe UI"/>
              </a:rPr>
              <a:t>Podar</a:t>
            </a:r>
          </a:p>
          <a:p>
            <a:pPr algn="ctr">
              <a:lnSpc>
                <a:spcPct val="100000"/>
              </a:lnSpc>
              <a:spcBef>
                <a:spcPts val="0"/>
              </a:spcBef>
              <a:spcAft>
                <a:spcPts val="100"/>
              </a:spcAft>
            </a:pPr>
            <a:r>
              <a:rPr sz="1000" b="0">
                <a:solidFill>
                  <a:srgbClr val="9AA4C0"/>
                </a:solidFill>
                <a:latin typeface="Segoe UI"/>
              </a:rPr>
              <a:t>−22 claves</a:t>
            </a:r>
          </a:p>
        </p:txBody>
      </p:sp>
      <p:sp>
        <p:nvSpPr>
          <p:cNvPr id="16" name="Right Arrow 15"/>
          <p:cNvSpPr/>
          <p:nvPr/>
        </p:nvSpPr>
        <p:spPr>
          <a:xfrm>
            <a:off x="3995928" y="5340096"/>
            <a:ext cx="320040" cy="155448"/>
          </a:xfrm>
          <a:prstGeom prst="rightArrow">
            <a:avLst/>
          </a:prstGeom>
          <a:solidFill>
            <a:srgbClr val="34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89120" y="5029200"/>
            <a:ext cx="1234440" cy="777240"/>
          </a:xfrm>
          <a:prstGeom prst="roundRect">
            <a:avLst>
              <a:gd name="adj" fmla="val 12000"/>
            </a:avLst>
          </a:prstGeom>
          <a:solidFill>
            <a:srgbClr val="141C33"/>
          </a:solidFill>
          <a:ln w="15875">
            <a:solidFill>
              <a:srgbClr val="34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43983" y="5029200"/>
            <a:ext cx="1124712" cy="777240"/>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250" b="1">
                <a:solidFill>
                  <a:srgbClr val="F4F6FB"/>
                </a:solidFill>
                <a:latin typeface="Segoe UI"/>
              </a:rPr>
              <a:t>TOON</a:t>
            </a:r>
          </a:p>
          <a:p>
            <a:pPr algn="ctr">
              <a:lnSpc>
                <a:spcPct val="100000"/>
              </a:lnSpc>
              <a:spcBef>
                <a:spcPts val="0"/>
              </a:spcBef>
              <a:spcAft>
                <a:spcPts val="100"/>
              </a:spcAft>
            </a:pPr>
            <a:r>
              <a:rPr sz="1000" b="0">
                <a:solidFill>
                  <a:srgbClr val="9AA4C0"/>
                </a:solidFill>
                <a:latin typeface="Segoe UI"/>
              </a:rPr>
              <a:t>tabla CSV</a:t>
            </a:r>
          </a:p>
        </p:txBody>
      </p:sp>
      <p:sp>
        <p:nvSpPr>
          <p:cNvPr id="19" name="TextBox 18"/>
          <p:cNvSpPr txBox="1"/>
          <p:nvPr/>
        </p:nvSpPr>
        <p:spPr>
          <a:xfrm>
            <a:off x="6537960" y="2423160"/>
            <a:ext cx="4846320" cy="32004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34D3EE"/>
                </a:solidFill>
                <a:latin typeface="Segoe UI"/>
              </a:rPr>
              <a:t>DATO · grafo de 12 nodos / 11 aristas (medido)</a:t>
            </a:r>
          </a:p>
        </p:txBody>
      </p:sp>
      <p:sp>
        <p:nvSpPr>
          <p:cNvPr id="20" name="TextBox 19"/>
          <p:cNvSpPr txBox="1"/>
          <p:nvPr/>
        </p:nvSpPr>
        <p:spPr>
          <a:xfrm>
            <a:off x="6537960" y="2880360"/>
            <a:ext cx="1828800" cy="27432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100" b="1">
                <a:solidFill>
                  <a:srgbClr val="F4F6FB"/>
                </a:solidFill>
                <a:latin typeface="Segoe UI"/>
              </a:rPr>
              <a:t>JSON legible</a:t>
            </a:r>
          </a:p>
        </p:txBody>
      </p:sp>
      <p:sp>
        <p:nvSpPr>
          <p:cNvPr id="21" name="Rounded Rectangle 20"/>
          <p:cNvSpPr/>
          <p:nvPr/>
        </p:nvSpPr>
        <p:spPr>
          <a:xfrm>
            <a:off x="6537960" y="3191256"/>
            <a:ext cx="4846320" cy="310896"/>
          </a:xfrm>
          <a:prstGeom prst="roundRect">
            <a:avLst>
              <a:gd name="adj" fmla="val 30000"/>
            </a:avLst>
          </a:prstGeom>
          <a:solidFill>
            <a:srgbClr val="101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37960" y="3191256"/>
            <a:ext cx="4846320" cy="310896"/>
          </a:xfrm>
          <a:prstGeom prst="roundRect">
            <a:avLst>
              <a:gd name="adj" fmla="val 30000"/>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37960" y="3191256"/>
            <a:ext cx="4709159" cy="310896"/>
          </a:xfrm>
          <a:prstGeom prst="rect">
            <a:avLst/>
          </a:prstGeom>
          <a:noFill/>
        </p:spPr>
        <p:txBody>
          <a:bodyPr wrap="square" anchor="ctr" lIns="12700" rIns="12700" tIns="12700" bIns="12700">
            <a:spAutoFit/>
          </a:bodyPr>
          <a:lstStyle/>
          <a:p>
            <a:pPr algn="r">
              <a:lnSpc>
                <a:spcPct val="105000"/>
              </a:lnSpc>
              <a:spcBef>
                <a:spcPts val="0"/>
              </a:spcBef>
              <a:spcAft>
                <a:spcPts val="500"/>
              </a:spcAft>
            </a:pPr>
            <a:r>
              <a:rPr sz="1050" b="1">
                <a:solidFill>
                  <a:srgbClr val="F4F6FB"/>
                </a:solidFill>
                <a:latin typeface="Segoe UI"/>
              </a:rPr>
              <a:t>2968 tokens</a:t>
            </a:r>
          </a:p>
        </p:txBody>
      </p:sp>
      <p:sp>
        <p:nvSpPr>
          <p:cNvPr id="24" name="TextBox 23"/>
          <p:cNvSpPr txBox="1"/>
          <p:nvPr/>
        </p:nvSpPr>
        <p:spPr>
          <a:xfrm>
            <a:off x="6537960" y="3630168"/>
            <a:ext cx="1828800" cy="27432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100" b="1">
                <a:solidFill>
                  <a:srgbClr val="F4F6FB"/>
                </a:solidFill>
                <a:latin typeface="Segoe UI"/>
              </a:rPr>
              <a:t>JSON compacto</a:t>
            </a:r>
          </a:p>
        </p:txBody>
      </p:sp>
      <p:sp>
        <p:nvSpPr>
          <p:cNvPr id="25" name="Rounded Rectangle 24"/>
          <p:cNvSpPr/>
          <p:nvPr/>
        </p:nvSpPr>
        <p:spPr>
          <a:xfrm>
            <a:off x="6537960" y="3941063"/>
            <a:ext cx="4846320" cy="310896"/>
          </a:xfrm>
          <a:prstGeom prst="roundRect">
            <a:avLst>
              <a:gd name="adj" fmla="val 30000"/>
            </a:avLst>
          </a:prstGeom>
          <a:solidFill>
            <a:srgbClr val="101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37960" y="3941063"/>
            <a:ext cx="3193868" cy="310896"/>
          </a:xfrm>
          <a:prstGeom prst="roundRect">
            <a:avLst>
              <a:gd name="adj" fmla="val 30000"/>
            </a:avLst>
          </a:prstGeom>
          <a:solidFill>
            <a:srgbClr val="F5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37960" y="3941063"/>
            <a:ext cx="4709159" cy="310896"/>
          </a:xfrm>
          <a:prstGeom prst="rect">
            <a:avLst/>
          </a:prstGeom>
          <a:noFill/>
        </p:spPr>
        <p:txBody>
          <a:bodyPr wrap="square" anchor="ctr" lIns="12700" rIns="12700" tIns="12700" bIns="12700">
            <a:spAutoFit/>
          </a:bodyPr>
          <a:lstStyle/>
          <a:p>
            <a:pPr algn="r">
              <a:lnSpc>
                <a:spcPct val="105000"/>
              </a:lnSpc>
              <a:spcBef>
                <a:spcPts val="0"/>
              </a:spcBef>
              <a:spcAft>
                <a:spcPts val="500"/>
              </a:spcAft>
            </a:pPr>
            <a:r>
              <a:rPr sz="1050" b="1">
                <a:solidFill>
                  <a:srgbClr val="F4F6FB"/>
                </a:solidFill>
                <a:latin typeface="Segoe UI"/>
              </a:rPr>
              <a:t>1956 tokens</a:t>
            </a:r>
          </a:p>
        </p:txBody>
      </p:sp>
      <p:sp>
        <p:nvSpPr>
          <p:cNvPr id="28" name="TextBox 27"/>
          <p:cNvSpPr txBox="1"/>
          <p:nvPr/>
        </p:nvSpPr>
        <p:spPr>
          <a:xfrm>
            <a:off x="6537960" y="4379976"/>
            <a:ext cx="1828800" cy="27432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100" b="1">
                <a:solidFill>
                  <a:srgbClr val="F4F6FB"/>
                </a:solidFill>
                <a:latin typeface="Segoe UI"/>
              </a:rPr>
              <a:t>TOON (podado)</a:t>
            </a:r>
          </a:p>
        </p:txBody>
      </p:sp>
      <p:sp>
        <p:nvSpPr>
          <p:cNvPr id="29" name="Rounded Rectangle 28"/>
          <p:cNvSpPr/>
          <p:nvPr/>
        </p:nvSpPr>
        <p:spPr>
          <a:xfrm>
            <a:off x="6537960" y="4690872"/>
            <a:ext cx="4846320" cy="310896"/>
          </a:xfrm>
          <a:prstGeom prst="roundRect">
            <a:avLst>
              <a:gd name="adj" fmla="val 30000"/>
            </a:avLst>
          </a:prstGeom>
          <a:solidFill>
            <a:srgbClr val="101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537960" y="4690872"/>
            <a:ext cx="1394460" cy="310896"/>
          </a:xfrm>
          <a:prstGeom prst="roundRect">
            <a:avLst>
              <a:gd name="adj" fmla="val 30000"/>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37960" y="4690872"/>
            <a:ext cx="4709159" cy="310896"/>
          </a:xfrm>
          <a:prstGeom prst="rect">
            <a:avLst/>
          </a:prstGeom>
          <a:noFill/>
        </p:spPr>
        <p:txBody>
          <a:bodyPr wrap="square" anchor="ctr" lIns="12700" rIns="12700" tIns="12700" bIns="12700">
            <a:spAutoFit/>
          </a:bodyPr>
          <a:lstStyle/>
          <a:p>
            <a:pPr algn="r">
              <a:lnSpc>
                <a:spcPct val="105000"/>
              </a:lnSpc>
              <a:spcBef>
                <a:spcPts val="0"/>
              </a:spcBef>
              <a:spcAft>
                <a:spcPts val="500"/>
              </a:spcAft>
            </a:pPr>
            <a:r>
              <a:rPr sz="1050" b="1">
                <a:solidFill>
                  <a:srgbClr val="F4F6FB"/>
                </a:solidFill>
                <a:latin typeface="Segoe UI"/>
              </a:rPr>
              <a:t>854 tokens</a:t>
            </a:r>
          </a:p>
        </p:txBody>
      </p:sp>
      <p:sp>
        <p:nvSpPr>
          <p:cNvPr id="32" name="Rounded Rectangle 31"/>
          <p:cNvSpPr/>
          <p:nvPr/>
        </p:nvSpPr>
        <p:spPr>
          <a:xfrm>
            <a:off x="6537960" y="5148072"/>
            <a:ext cx="4846320" cy="548640"/>
          </a:xfrm>
          <a:prstGeom prst="roundRect">
            <a:avLst>
              <a:gd name="adj" fmla="val 8000"/>
            </a:avLst>
          </a:prstGeom>
          <a:solidFill>
            <a:srgbClr val="141C33"/>
          </a:solidFill>
          <a:ln w="12700">
            <a:solidFill>
              <a:srgbClr val="34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37960" y="5148072"/>
            <a:ext cx="4846320" cy="548640"/>
          </a:xfrm>
          <a:prstGeom prst="rect">
            <a:avLst/>
          </a:prstGeom>
          <a:noFill/>
        </p:spPr>
        <p:txBody>
          <a:bodyPr wrap="square" anchor="ctr" lIns="12700" rIns="12700" tIns="12700" bIns="12700">
            <a:spAutoFit/>
          </a:bodyPr>
          <a:lstStyle/>
          <a:p>
            <a:pPr algn="ctr">
              <a:lnSpc>
                <a:spcPct val="100000"/>
              </a:lnSpc>
              <a:spcBef>
                <a:spcPts val="0"/>
              </a:spcBef>
              <a:spcAft>
                <a:spcPts val="500"/>
              </a:spcAft>
            </a:pPr>
            <a:r>
              <a:rPr sz="1150" b="1">
                <a:solidFill>
                  <a:srgbClr val="F4F6FB"/>
                </a:solidFill>
                <a:latin typeface="Segoe UI"/>
              </a:rPr>
              <a:t>−71% vs JSON legible   ·   −56% vs compacto   ·   hasta −79% con nodos planos</a:t>
            </a:r>
          </a:p>
        </p:txBody>
      </p:sp>
      <p:sp>
        <p:nvSpPr>
          <p:cNvPr id="34" name="Rounded Rectangle 33"/>
          <p:cNvSpPr/>
          <p:nvPr/>
        </p:nvSpPr>
        <p:spPr>
          <a:xfrm>
            <a:off x="822960" y="5989320"/>
            <a:ext cx="10561320" cy="566928"/>
          </a:xfrm>
          <a:prstGeom prst="roundRect">
            <a:avLst>
              <a:gd name="adj" fmla="val 10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2960" y="5989320"/>
            <a:ext cx="109728" cy="566928"/>
          </a:xfrm>
          <a:prstGeom prst="rect">
            <a:avLst/>
          </a:prstGeom>
          <a:solidFill>
            <a:srgbClr val="34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989320"/>
            <a:ext cx="10195560" cy="566928"/>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050" b="1">
                <a:solidFill>
                  <a:srgbClr val="34D3EE"/>
                </a:solidFill>
                <a:latin typeface="Segoe UI"/>
              </a:rPr>
              <a:t>EVIDENCIA  </a:t>
            </a:r>
            <a:r>
              <a:rPr sz="1200" b="0">
                <a:solidFill>
                  <a:srgbClr val="F4F6FB"/>
                </a:solidFill>
                <a:latin typeface="Segoe UI"/>
              </a:rPr>
              <a:t>graph-toon.ts — pruneNoise() elimina 22 claves de ruido; encodeToon() tabula; graphToToon() aplica topes. safeGraphToToon() nunca lanza.</a:t>
            </a:r>
          </a:p>
        </p:txBody>
      </p:sp>
      <p:sp>
        <p:nvSpPr>
          <p:cNvPr id="37" name="TextBox 36"/>
          <p:cNvSpPr txBox="1"/>
          <p:nvPr/>
        </p:nvSpPr>
        <p:spPr>
          <a:xfrm>
            <a:off x="11018520" y="6419088"/>
            <a:ext cx="960120" cy="365760"/>
          </a:xfrm>
          <a:prstGeom prst="rect">
            <a:avLst/>
          </a:prstGeom>
          <a:noFill/>
        </p:spPr>
        <p:txBody>
          <a:bodyPr wrap="square" anchor="t" lIns="12700" rIns="12700" tIns="12700" bIns="12700">
            <a:spAutoFit/>
          </a:bodyPr>
          <a:lstStyle/>
          <a:p>
            <a:pPr algn="r">
              <a:lnSpc>
                <a:spcPct val="105000"/>
              </a:lnSpc>
              <a:spcBef>
                <a:spcPts val="0"/>
              </a:spcBef>
              <a:spcAft>
                <a:spcPts val="500"/>
              </a:spcAft>
            </a:pPr>
            <a:r>
              <a:rPr sz="1100" b="1">
                <a:solidFill>
                  <a:srgbClr val="9AA4C0"/>
                </a:solidFill>
                <a:latin typeface="Segoe UI"/>
              </a:rPr>
              <a:t>06</a:t>
            </a:r>
          </a:p>
        </p:txBody>
      </p:sp>
      <p:sp>
        <p:nvSpPr>
          <p:cNvPr id="38" name="Rectangle 37"/>
          <p:cNvSpPr/>
          <p:nvPr/>
        </p:nvSpPr>
        <p:spPr>
          <a:xfrm>
            <a:off x="0" y="6784848"/>
            <a:ext cx="12191695" cy="73152"/>
          </a:xfrm>
          <a:prstGeom prst="rect">
            <a:avLst/>
          </a:prstGeom>
          <a:solidFill>
            <a:srgbClr val="34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30352"/>
            <a:ext cx="292608" cy="54864"/>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07008" y="429768"/>
            <a:ext cx="10058400" cy="3657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5B8DEF"/>
                </a:solidFill>
                <a:latin typeface="Segoe UI"/>
              </a:rPr>
              <a:t>INGENIERÍA 2 / 7 · ¿CÓMO LE PIDO AL MODELO?</a:t>
            </a:r>
          </a:p>
        </p:txBody>
      </p:sp>
      <p:sp>
        <p:nvSpPr>
          <p:cNvPr id="5" name="TextBox 4"/>
          <p:cNvSpPr txBox="1"/>
          <p:nvPr/>
        </p:nvSpPr>
        <p:spPr>
          <a:xfrm>
            <a:off x="777240" y="777240"/>
            <a:ext cx="8778240" cy="8229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3000" b="0">
                <a:solidFill>
                  <a:srgbClr val="F4F6FB"/>
                </a:solidFill>
                <a:latin typeface="Segoe UI"/>
              </a:rPr>
              <a:t>🗣️  </a:t>
            </a:r>
            <a:r>
              <a:rPr sz="3000" b="1">
                <a:solidFill>
                  <a:srgbClr val="F4F6FB"/>
                </a:solidFill>
                <a:latin typeface="Segoe UI"/>
              </a:rPr>
              <a:t>Prompt Engineering</a:t>
            </a:r>
          </a:p>
        </p:txBody>
      </p:sp>
      <p:sp>
        <p:nvSpPr>
          <p:cNvPr id="6" name="Rounded Rectangle 5"/>
          <p:cNvSpPr/>
          <p:nvPr/>
        </p:nvSpPr>
        <p:spPr>
          <a:xfrm>
            <a:off x="822960" y="1572768"/>
            <a:ext cx="10561320" cy="658368"/>
          </a:xfrm>
          <a:prstGeom prst="roundRect">
            <a:avLst>
              <a:gd name="adj" fmla="val 6000"/>
            </a:avLst>
          </a:prstGeom>
          <a:solidFill>
            <a:srgbClr val="10172C"/>
          </a:solidFill>
          <a:ln w="12700">
            <a:solidFill>
              <a:srgbClr val="5B8D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572768"/>
            <a:ext cx="10149840" cy="658368"/>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100" b="1">
                <a:solidFill>
                  <a:srgbClr val="5B8DEF"/>
                </a:solidFill>
                <a:latin typeface="Segoe UI"/>
              </a:rPr>
              <a:t>DEFINICIÓN  </a:t>
            </a:r>
            <a:r>
              <a:rPr sz="1250" b="0">
                <a:solidFill>
                  <a:srgbClr val="F4F6FB"/>
                </a:solidFill>
                <a:latin typeface="Segoe UI"/>
              </a:rPr>
              <a:t>Diseñar la instrucción (rol, tarea, formato, restricciones) para obtener resultados útiles — y asumir que el modelo va a desobedecer el formato.</a:t>
            </a:r>
          </a:p>
        </p:txBody>
      </p:sp>
      <p:sp>
        <p:nvSpPr>
          <p:cNvPr id="8" name="TextBox 7"/>
          <p:cNvSpPr txBox="1"/>
          <p:nvPr/>
        </p:nvSpPr>
        <p:spPr>
          <a:xfrm>
            <a:off x="822960" y="2423160"/>
            <a:ext cx="5120640" cy="32004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5B8DEF"/>
                </a:solidFill>
                <a:latin typeface="Segoe UI"/>
              </a:rPr>
              <a:t>PATRÓN GENERAL (replicable)</a:t>
            </a:r>
          </a:p>
        </p:txBody>
      </p:sp>
      <p:sp>
        <p:nvSpPr>
          <p:cNvPr id="9" name="TextBox 8"/>
          <p:cNvSpPr txBox="1"/>
          <p:nvPr/>
        </p:nvSpPr>
        <p:spPr>
          <a:xfrm>
            <a:off x="822960" y="2788920"/>
            <a:ext cx="5120640" cy="2743200"/>
          </a:xfrm>
          <a:prstGeom prst="rect">
            <a:avLst/>
          </a:prstGeom>
          <a:noFill/>
        </p:spPr>
        <p:txBody>
          <a:bodyPr wrap="square" anchor="t" lIns="12700" rIns="12700" tIns="12700" bIns="12700">
            <a:spAutoFit/>
          </a:bodyPr>
          <a:lstStyle/>
          <a:p>
            <a:pPr algn="l">
              <a:lnSpc>
                <a:spcPct val="112000"/>
              </a:lnSpc>
              <a:spcBef>
                <a:spcPts val="0"/>
              </a:spcBef>
              <a:spcAft>
                <a:spcPts val="800"/>
              </a:spcAft>
            </a:pPr>
            <a:r>
              <a:rPr sz="1300" b="1">
                <a:solidFill>
                  <a:srgbClr val="5B8DEF"/>
                </a:solidFill>
                <a:latin typeface="Segoe UI"/>
              </a:rPr>
              <a:t>▸  </a:t>
            </a:r>
            <a:r>
              <a:rPr sz="1250" b="0">
                <a:solidFill>
                  <a:srgbClr val="F4F6FB"/>
                </a:solidFill>
                <a:latin typeface="Segoe UI"/>
              </a:rPr>
              <a:t>Especifica rol + tarea + formato de salida + restricciones</a:t>
            </a:r>
          </a:p>
          <a:p>
            <a:pPr algn="l">
              <a:lnSpc>
                <a:spcPct val="112000"/>
              </a:lnSpc>
              <a:spcBef>
                <a:spcPts val="0"/>
              </a:spcBef>
              <a:spcAft>
                <a:spcPts val="800"/>
              </a:spcAft>
            </a:pPr>
            <a:r>
              <a:rPr sz="1300" b="1">
                <a:solidFill>
                  <a:srgbClr val="5B8DEF"/>
                </a:solidFill>
                <a:latin typeface="Segoe UI"/>
              </a:rPr>
              <a:t>▸  </a:t>
            </a:r>
            <a:r>
              <a:rPr sz="1250" b="0">
                <a:solidFill>
                  <a:srgbClr val="F4F6FB"/>
                </a:solidFill>
                <a:latin typeface="Segoe UI"/>
              </a:rPr>
              <a:t>Restringe a un conjunto cerrado, no a texto libre</a:t>
            </a:r>
          </a:p>
          <a:p>
            <a:pPr algn="l">
              <a:lnSpc>
                <a:spcPct val="112000"/>
              </a:lnSpc>
              <a:spcBef>
                <a:spcPts val="0"/>
              </a:spcBef>
              <a:spcAft>
                <a:spcPts val="800"/>
              </a:spcAft>
            </a:pPr>
            <a:r>
              <a:rPr sz="1300" b="1">
                <a:solidFill>
                  <a:srgbClr val="5B8DEF"/>
                </a:solidFill>
                <a:latin typeface="Segoe UI"/>
              </a:rPr>
              <a:t>▸  </a:t>
            </a:r>
            <a:r>
              <a:rPr sz="1250" b="0">
                <a:solidFill>
                  <a:srgbClr val="F4F6FB"/>
                </a:solidFill>
                <a:latin typeface="Segoe UI"/>
              </a:rPr>
              <a:t>Trata la salida del LLM como ENTRADA no confiable</a:t>
            </a:r>
          </a:p>
          <a:p>
            <a:pPr algn="l">
              <a:lnSpc>
                <a:spcPct val="112000"/>
              </a:lnSpc>
              <a:spcBef>
                <a:spcPts val="0"/>
              </a:spcBef>
              <a:spcAft>
                <a:spcPts val="800"/>
              </a:spcAft>
            </a:pPr>
            <a:r>
              <a:rPr sz="1300" b="1">
                <a:solidFill>
                  <a:srgbClr val="5B8DEF"/>
                </a:solidFill>
                <a:latin typeface="Segoe UI"/>
              </a:rPr>
              <a:t>▸  </a:t>
            </a:r>
            <a:r>
              <a:rPr sz="1250" b="0">
                <a:solidFill>
                  <a:srgbClr val="F4F6FB"/>
                </a:solidFill>
                <a:latin typeface="Segoe UI"/>
              </a:rPr>
              <a:t>Sanea en el borde y ten un plan B si el JSON viene roto</a:t>
            </a:r>
          </a:p>
        </p:txBody>
      </p:sp>
      <p:sp>
        <p:nvSpPr>
          <p:cNvPr id="10" name="TextBox 9"/>
          <p:cNvSpPr txBox="1"/>
          <p:nvPr/>
        </p:nvSpPr>
        <p:spPr>
          <a:xfrm>
            <a:off x="6263640" y="2377440"/>
            <a:ext cx="5120640" cy="32004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5B8DEF"/>
                </a:solidFill>
                <a:latin typeface="Segoe UI"/>
              </a:rPr>
              <a:t>EL LLM DESOBEDECE → SANEA (evidencia real)</a:t>
            </a:r>
          </a:p>
        </p:txBody>
      </p:sp>
      <p:sp>
        <p:nvSpPr>
          <p:cNvPr id="11" name="Rectangle 10"/>
          <p:cNvSpPr/>
          <p:nvPr/>
        </p:nvSpPr>
        <p:spPr>
          <a:xfrm>
            <a:off x="6263640" y="2743200"/>
            <a:ext cx="2331720" cy="457200"/>
          </a:xfrm>
          <a:prstGeom prst="rect">
            <a:avLst/>
          </a:prstGeom>
          <a:solidFill>
            <a:srgbClr val="5B8DEF"/>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2743200"/>
            <a:ext cx="2130551"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50" b="1">
                <a:solidFill>
                  <a:srgbClr val="0B1020"/>
                </a:solidFill>
                <a:latin typeface="Segoe UI"/>
              </a:rPr>
              <a:t>Devuelve…</a:t>
            </a:r>
          </a:p>
        </p:txBody>
      </p:sp>
      <p:sp>
        <p:nvSpPr>
          <p:cNvPr id="13" name="Rectangle 12"/>
          <p:cNvSpPr/>
          <p:nvPr/>
        </p:nvSpPr>
        <p:spPr>
          <a:xfrm>
            <a:off x="8595359" y="2743200"/>
            <a:ext cx="2011680" cy="457200"/>
          </a:xfrm>
          <a:prstGeom prst="rect">
            <a:avLst/>
          </a:prstGeom>
          <a:solidFill>
            <a:srgbClr val="5B8DEF"/>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5087" y="2743200"/>
            <a:ext cx="181051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50" b="1">
                <a:solidFill>
                  <a:srgbClr val="0B1020"/>
                </a:solidFill>
                <a:latin typeface="Segoe UI"/>
              </a:rPr>
              <a:t>Técnica</a:t>
            </a:r>
          </a:p>
        </p:txBody>
      </p:sp>
      <p:sp>
        <p:nvSpPr>
          <p:cNvPr id="15" name="Rectangle 14"/>
          <p:cNvSpPr/>
          <p:nvPr/>
        </p:nvSpPr>
        <p:spPr>
          <a:xfrm>
            <a:off x="10607039" y="2743200"/>
            <a:ext cx="1508760" cy="457200"/>
          </a:xfrm>
          <a:prstGeom prst="rect">
            <a:avLst/>
          </a:prstGeom>
          <a:solidFill>
            <a:srgbClr val="5B8DEF"/>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16767" y="2743200"/>
            <a:ext cx="130759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50" b="1">
                <a:solidFill>
                  <a:srgbClr val="0B1020"/>
                </a:solidFill>
                <a:latin typeface="Segoe UI"/>
              </a:rPr>
              <a:t>Función</a:t>
            </a:r>
          </a:p>
        </p:txBody>
      </p:sp>
      <p:sp>
        <p:nvSpPr>
          <p:cNvPr id="17" name="Rectangle 16"/>
          <p:cNvSpPr/>
          <p:nvPr/>
        </p:nvSpPr>
        <p:spPr>
          <a:xfrm>
            <a:off x="6263640" y="3200400"/>
            <a:ext cx="2331720" cy="457200"/>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3200400"/>
            <a:ext cx="2130551"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  "texto".  </a:t>
            </a:r>
          </a:p>
        </p:txBody>
      </p:sp>
      <p:sp>
        <p:nvSpPr>
          <p:cNvPr id="19" name="Rectangle 18"/>
          <p:cNvSpPr/>
          <p:nvPr/>
        </p:nvSpPr>
        <p:spPr>
          <a:xfrm>
            <a:off x="8595359" y="3200400"/>
            <a:ext cx="2011680" cy="457200"/>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05087" y="3200400"/>
            <a:ext cx="181051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quitar comillas/espacios</a:t>
            </a:r>
          </a:p>
        </p:txBody>
      </p:sp>
      <p:sp>
        <p:nvSpPr>
          <p:cNvPr id="21" name="Rectangle 20"/>
          <p:cNvSpPr/>
          <p:nvPr/>
        </p:nvSpPr>
        <p:spPr>
          <a:xfrm>
            <a:off x="10607039" y="3200400"/>
            <a:ext cx="1508760" cy="457200"/>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16767" y="3200400"/>
            <a:ext cx="130759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stripQuotes</a:t>
            </a:r>
          </a:p>
        </p:txBody>
      </p:sp>
      <p:sp>
        <p:nvSpPr>
          <p:cNvPr id="23" name="Rectangle 22"/>
          <p:cNvSpPr/>
          <p:nvPr/>
        </p:nvSpPr>
        <p:spPr>
          <a:xfrm>
            <a:off x="6263640" y="3657600"/>
            <a:ext cx="2331720" cy="457200"/>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73368" y="3657600"/>
            <a:ext cx="2130551"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```mermaid …```</a:t>
            </a:r>
          </a:p>
        </p:txBody>
      </p:sp>
      <p:sp>
        <p:nvSpPr>
          <p:cNvPr id="25" name="Rectangle 24"/>
          <p:cNvSpPr/>
          <p:nvPr/>
        </p:nvSpPr>
        <p:spPr>
          <a:xfrm>
            <a:off x="8595359" y="3657600"/>
            <a:ext cx="2011680" cy="457200"/>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05087" y="3657600"/>
            <a:ext cx="181051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quitar cercas de código</a:t>
            </a:r>
          </a:p>
        </p:txBody>
      </p:sp>
      <p:sp>
        <p:nvSpPr>
          <p:cNvPr id="27" name="Rectangle 26"/>
          <p:cNvSpPr/>
          <p:nvPr/>
        </p:nvSpPr>
        <p:spPr>
          <a:xfrm>
            <a:off x="10607039" y="3657600"/>
            <a:ext cx="1508760" cy="457200"/>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16767" y="3657600"/>
            <a:ext cx="130759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stripFence</a:t>
            </a:r>
          </a:p>
        </p:txBody>
      </p:sp>
      <p:sp>
        <p:nvSpPr>
          <p:cNvPr id="29" name="Rectangle 28"/>
          <p:cNvSpPr/>
          <p:nvPr/>
        </p:nvSpPr>
        <p:spPr>
          <a:xfrm>
            <a:off x="6263640" y="4114800"/>
            <a:ext cx="2331720" cy="457200"/>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73368" y="4114800"/>
            <a:ext cx="2130551"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 …, }  coma final</a:t>
            </a:r>
          </a:p>
        </p:txBody>
      </p:sp>
      <p:sp>
        <p:nvSpPr>
          <p:cNvPr id="31" name="Rectangle 30"/>
          <p:cNvSpPr/>
          <p:nvPr/>
        </p:nvSpPr>
        <p:spPr>
          <a:xfrm>
            <a:off x="8595359" y="4114800"/>
            <a:ext cx="2011680" cy="457200"/>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05087" y="4114800"/>
            <a:ext cx="181051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quitar comas colgantes</a:t>
            </a:r>
          </a:p>
        </p:txBody>
      </p:sp>
      <p:sp>
        <p:nvSpPr>
          <p:cNvPr id="33" name="Rectangle 32"/>
          <p:cNvSpPr/>
          <p:nvPr/>
        </p:nvSpPr>
        <p:spPr>
          <a:xfrm>
            <a:off x="10607039" y="4114800"/>
            <a:ext cx="1508760" cy="457200"/>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716767" y="4114800"/>
            <a:ext cx="130759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stripTrailingCommas</a:t>
            </a:r>
          </a:p>
        </p:txBody>
      </p:sp>
      <p:sp>
        <p:nvSpPr>
          <p:cNvPr id="35" name="Rectangle 34"/>
          <p:cNvSpPr/>
          <p:nvPr/>
        </p:nvSpPr>
        <p:spPr>
          <a:xfrm>
            <a:off x="6263640" y="4572000"/>
            <a:ext cx="2331720" cy="457200"/>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73368" y="4572000"/>
            <a:ext cx="2130551"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prosa + JSON mezclados</a:t>
            </a:r>
          </a:p>
        </p:txBody>
      </p:sp>
      <p:sp>
        <p:nvSpPr>
          <p:cNvPr id="37" name="Rectangle 36"/>
          <p:cNvSpPr/>
          <p:nvPr/>
        </p:nvSpPr>
        <p:spPr>
          <a:xfrm>
            <a:off x="8595359" y="4572000"/>
            <a:ext cx="2011680" cy="457200"/>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05087" y="4572000"/>
            <a:ext cx="181051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extraer el objeto</a:t>
            </a:r>
          </a:p>
        </p:txBody>
      </p:sp>
      <p:sp>
        <p:nvSpPr>
          <p:cNvPr id="39" name="Rectangle 38"/>
          <p:cNvSpPr/>
          <p:nvPr/>
        </p:nvSpPr>
        <p:spPr>
          <a:xfrm>
            <a:off x="10607039" y="4572000"/>
            <a:ext cx="1508760" cy="457200"/>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716767" y="4572000"/>
            <a:ext cx="130759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parseJson</a:t>
            </a:r>
          </a:p>
        </p:txBody>
      </p:sp>
      <p:sp>
        <p:nvSpPr>
          <p:cNvPr id="41" name="Rectangle 40"/>
          <p:cNvSpPr/>
          <p:nvPr/>
        </p:nvSpPr>
        <p:spPr>
          <a:xfrm>
            <a:off x="6263640" y="5029200"/>
            <a:ext cx="2331720" cy="457200"/>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73368" y="5029200"/>
            <a:ext cx="2130551"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JSON roto pero con 'final'</a:t>
            </a:r>
          </a:p>
        </p:txBody>
      </p:sp>
      <p:sp>
        <p:nvSpPr>
          <p:cNvPr id="43" name="Rectangle 42"/>
          <p:cNvSpPr/>
          <p:nvPr/>
        </p:nvSpPr>
        <p:spPr>
          <a:xfrm>
            <a:off x="8595359" y="5029200"/>
            <a:ext cx="2011680" cy="457200"/>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05087" y="5029200"/>
            <a:ext cx="181051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rescatar el campo</a:t>
            </a:r>
          </a:p>
        </p:txBody>
      </p:sp>
      <p:sp>
        <p:nvSpPr>
          <p:cNvPr id="45" name="Rectangle 44"/>
          <p:cNvSpPr/>
          <p:nvPr/>
        </p:nvSpPr>
        <p:spPr>
          <a:xfrm>
            <a:off x="10607039" y="5029200"/>
            <a:ext cx="1508760" cy="457200"/>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716767" y="5029200"/>
            <a:ext cx="130759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extractField</a:t>
            </a:r>
          </a:p>
        </p:txBody>
      </p:sp>
      <p:sp>
        <p:nvSpPr>
          <p:cNvPr id="47" name="Rectangle 46"/>
          <p:cNvSpPr/>
          <p:nvPr/>
        </p:nvSpPr>
        <p:spPr>
          <a:xfrm>
            <a:off x="6263640" y="5486400"/>
            <a:ext cx="2331720" cy="457200"/>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73368" y="5486400"/>
            <a:ext cx="2130551"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tipo inventado</a:t>
            </a:r>
          </a:p>
        </p:txBody>
      </p:sp>
      <p:sp>
        <p:nvSpPr>
          <p:cNvPr id="49" name="Rectangle 48"/>
          <p:cNvSpPr/>
          <p:nvPr/>
        </p:nvSpPr>
        <p:spPr>
          <a:xfrm>
            <a:off x="8595359" y="5486400"/>
            <a:ext cx="2011680" cy="457200"/>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705087" y="5486400"/>
            <a:ext cx="181051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validar vs lista cerrada</a:t>
            </a:r>
          </a:p>
        </p:txBody>
      </p:sp>
      <p:sp>
        <p:nvSpPr>
          <p:cNvPr id="51" name="Rectangle 50"/>
          <p:cNvSpPr/>
          <p:nvPr/>
        </p:nvSpPr>
        <p:spPr>
          <a:xfrm>
            <a:off x="10607039" y="5486400"/>
            <a:ext cx="1508760" cy="457200"/>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716767" y="5486400"/>
            <a:ext cx="130759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NODE_TYPES.find</a:t>
            </a:r>
          </a:p>
        </p:txBody>
      </p:sp>
      <p:sp>
        <p:nvSpPr>
          <p:cNvPr id="53" name="Rounded Rectangle 52"/>
          <p:cNvSpPr/>
          <p:nvPr/>
        </p:nvSpPr>
        <p:spPr>
          <a:xfrm>
            <a:off x="822960" y="5989320"/>
            <a:ext cx="10561320" cy="566928"/>
          </a:xfrm>
          <a:prstGeom prst="roundRect">
            <a:avLst>
              <a:gd name="adj" fmla="val 10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2960" y="5989320"/>
            <a:ext cx="109728" cy="566928"/>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97280" y="5989320"/>
            <a:ext cx="10195560" cy="566928"/>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050" b="1">
                <a:solidFill>
                  <a:srgbClr val="5B8DEF"/>
                </a:solidFill>
                <a:latin typeface="Segoe UI"/>
              </a:rPr>
              <a:t>EVIDENCIA  </a:t>
            </a:r>
            <a:r>
              <a:rPr sz="1200" b="0">
                <a:solidFill>
                  <a:srgbClr val="F4F6FB"/>
                </a:solidFill>
                <a:latin typeface="Segoe UI"/>
              </a:rPr>
              <a:t>SYSTEM_PROMPT_DESIGNER pide “sin comillas, sin explicar”… y aun así CADA tarea trae su parse(). 5 saneadores en total.</a:t>
            </a:r>
          </a:p>
        </p:txBody>
      </p:sp>
      <p:sp>
        <p:nvSpPr>
          <p:cNvPr id="56" name="TextBox 55"/>
          <p:cNvSpPr txBox="1"/>
          <p:nvPr/>
        </p:nvSpPr>
        <p:spPr>
          <a:xfrm>
            <a:off x="11018520" y="6419088"/>
            <a:ext cx="960120" cy="365760"/>
          </a:xfrm>
          <a:prstGeom prst="rect">
            <a:avLst/>
          </a:prstGeom>
          <a:noFill/>
        </p:spPr>
        <p:txBody>
          <a:bodyPr wrap="square" anchor="t" lIns="12700" rIns="12700" tIns="12700" bIns="12700">
            <a:spAutoFit/>
          </a:bodyPr>
          <a:lstStyle/>
          <a:p>
            <a:pPr algn="r">
              <a:lnSpc>
                <a:spcPct val="105000"/>
              </a:lnSpc>
              <a:spcBef>
                <a:spcPts val="0"/>
              </a:spcBef>
              <a:spcAft>
                <a:spcPts val="500"/>
              </a:spcAft>
            </a:pPr>
            <a:r>
              <a:rPr sz="1100" b="1">
                <a:solidFill>
                  <a:srgbClr val="9AA4C0"/>
                </a:solidFill>
                <a:latin typeface="Segoe UI"/>
              </a:rPr>
              <a:t>07</a:t>
            </a:r>
          </a:p>
        </p:txBody>
      </p:sp>
      <p:sp>
        <p:nvSpPr>
          <p:cNvPr id="57" name="Rectangle 56"/>
          <p:cNvSpPr/>
          <p:nvPr/>
        </p:nvSpPr>
        <p:spPr>
          <a:xfrm>
            <a:off x="0" y="6784848"/>
            <a:ext cx="12191695" cy="73152"/>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30352"/>
            <a:ext cx="292608" cy="54864"/>
          </a:xfrm>
          <a:prstGeom prst="rect">
            <a:avLst/>
          </a:prstGeom>
          <a:solidFill>
            <a:srgbClr val="F5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07008" y="429768"/>
            <a:ext cx="10058400" cy="3657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F5B341"/>
                </a:solidFill>
                <a:latin typeface="Segoe UI"/>
              </a:rPr>
              <a:t>INGENIERÍA 3 / 7 · ¿QUÉ QUIERO LOGRAR?</a:t>
            </a:r>
          </a:p>
        </p:txBody>
      </p:sp>
      <p:sp>
        <p:nvSpPr>
          <p:cNvPr id="5" name="TextBox 4"/>
          <p:cNvSpPr txBox="1"/>
          <p:nvPr/>
        </p:nvSpPr>
        <p:spPr>
          <a:xfrm>
            <a:off x="777240" y="777240"/>
            <a:ext cx="8778240" cy="8229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3000" b="0">
                <a:solidFill>
                  <a:srgbClr val="F4F6FB"/>
                </a:solidFill>
                <a:latin typeface="Segoe UI"/>
              </a:rPr>
              <a:t>🎯  </a:t>
            </a:r>
            <a:r>
              <a:rPr sz="3000" b="1">
                <a:solidFill>
                  <a:srgbClr val="F4F6FB"/>
                </a:solidFill>
                <a:latin typeface="Segoe UI"/>
              </a:rPr>
              <a:t>Intent Engineering</a:t>
            </a:r>
          </a:p>
        </p:txBody>
      </p:sp>
      <p:sp>
        <p:nvSpPr>
          <p:cNvPr id="6" name="Rounded Rectangle 5"/>
          <p:cNvSpPr/>
          <p:nvPr/>
        </p:nvSpPr>
        <p:spPr>
          <a:xfrm>
            <a:off x="822960" y="1572768"/>
            <a:ext cx="10561320" cy="658368"/>
          </a:xfrm>
          <a:prstGeom prst="roundRect">
            <a:avLst>
              <a:gd name="adj" fmla="val 6000"/>
            </a:avLst>
          </a:prstGeom>
          <a:solidFill>
            <a:srgbClr val="10172C"/>
          </a:solidFill>
          <a:ln w="12700">
            <a:solidFill>
              <a:srgbClr val="F5B3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572768"/>
            <a:ext cx="10149840" cy="658368"/>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100" b="1">
                <a:solidFill>
                  <a:srgbClr val="F5B341"/>
                </a:solidFill>
                <a:latin typeface="Segoe UI"/>
              </a:rPr>
              <a:t>DEFINICIÓN  </a:t>
            </a:r>
            <a:r>
              <a:rPr sz="1250" b="0">
                <a:solidFill>
                  <a:srgbClr val="F4F6FB"/>
                </a:solidFill>
                <a:latin typeface="Segoe UI"/>
              </a:rPr>
              <a:t>Traducir una necesidad de negocio en un objetivo declarativo que el sistema pueda enrutar y ejecutar — capturas el QUÉ y su “peso”, no el CÓMO.</a:t>
            </a:r>
          </a:p>
        </p:txBody>
      </p:sp>
      <p:sp>
        <p:nvSpPr>
          <p:cNvPr id="8" name="TextBox 7"/>
          <p:cNvSpPr txBox="1"/>
          <p:nvPr/>
        </p:nvSpPr>
        <p:spPr>
          <a:xfrm>
            <a:off x="822960" y="2423160"/>
            <a:ext cx="5120640" cy="32004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F5B341"/>
                </a:solidFill>
                <a:latin typeface="Segoe UI"/>
              </a:rPr>
              <a:t>PATRÓN GENERAL (replicable)</a:t>
            </a:r>
          </a:p>
        </p:txBody>
      </p:sp>
      <p:sp>
        <p:nvSpPr>
          <p:cNvPr id="9" name="TextBox 8"/>
          <p:cNvSpPr txBox="1"/>
          <p:nvPr/>
        </p:nvSpPr>
        <p:spPr>
          <a:xfrm>
            <a:off x="822960" y="2788920"/>
            <a:ext cx="5120640" cy="2743200"/>
          </a:xfrm>
          <a:prstGeom prst="rect">
            <a:avLst/>
          </a:prstGeom>
          <a:noFill/>
        </p:spPr>
        <p:txBody>
          <a:bodyPr wrap="square" anchor="t" lIns="12700" rIns="12700" tIns="12700" bIns="12700">
            <a:spAutoFit/>
          </a:bodyPr>
          <a:lstStyle/>
          <a:p>
            <a:pPr algn="l">
              <a:lnSpc>
                <a:spcPct val="112000"/>
              </a:lnSpc>
              <a:spcBef>
                <a:spcPts val="0"/>
              </a:spcBef>
              <a:spcAft>
                <a:spcPts val="800"/>
              </a:spcAft>
            </a:pPr>
            <a:r>
              <a:rPr sz="1300" b="1">
                <a:solidFill>
                  <a:srgbClr val="F5B341"/>
                </a:solidFill>
                <a:latin typeface="Segoe UI"/>
              </a:rPr>
              <a:t>▸  </a:t>
            </a:r>
            <a:r>
              <a:rPr sz="1250" b="0">
                <a:solidFill>
                  <a:srgbClr val="F4F6FB"/>
                </a:solidFill>
                <a:latin typeface="Segoe UI"/>
              </a:rPr>
              <a:t>Modela cada capacidad de IA como DATO, no como código disperso</a:t>
            </a:r>
          </a:p>
          <a:p>
            <a:pPr algn="l">
              <a:lnSpc>
                <a:spcPct val="112000"/>
              </a:lnSpc>
              <a:spcBef>
                <a:spcPts val="0"/>
              </a:spcBef>
              <a:spcAft>
                <a:spcPts val="800"/>
              </a:spcAft>
            </a:pPr>
            <a:r>
              <a:rPr sz="1300" b="1">
                <a:solidFill>
                  <a:srgbClr val="F5B341"/>
                </a:solidFill>
                <a:latin typeface="Segoe UI"/>
              </a:rPr>
              <a:t>▸  </a:t>
            </a:r>
            <a:r>
              <a:rPr sz="1250" b="0">
                <a:solidFill>
                  <a:srgbClr val="F4F6FB"/>
                </a:solidFill>
                <a:latin typeface="Segoe UI"/>
              </a:rPr>
              <a:t>Los metadatos guían al sistema: tier, structured, límites</a:t>
            </a:r>
          </a:p>
          <a:p>
            <a:pPr algn="l">
              <a:lnSpc>
                <a:spcPct val="112000"/>
              </a:lnSpc>
              <a:spcBef>
                <a:spcPts val="0"/>
              </a:spcBef>
              <a:spcAft>
                <a:spcPts val="800"/>
              </a:spcAft>
            </a:pPr>
            <a:r>
              <a:rPr sz="1300" b="1">
                <a:solidFill>
                  <a:srgbClr val="F5B341"/>
                </a:solidFill>
                <a:latin typeface="Segoe UI"/>
              </a:rPr>
              <a:t>▸  </a:t>
            </a:r>
            <a:r>
              <a:rPr sz="1250" b="0">
                <a:solidFill>
                  <a:srgbClr val="F4F6FB"/>
                </a:solidFill>
                <a:latin typeface="Segoe UI"/>
              </a:rPr>
              <a:t>Añadir una función = una entrada nueva; el router no cambia</a:t>
            </a:r>
          </a:p>
          <a:p>
            <a:pPr algn="l">
              <a:lnSpc>
                <a:spcPct val="112000"/>
              </a:lnSpc>
              <a:spcBef>
                <a:spcPts val="0"/>
              </a:spcBef>
              <a:spcAft>
                <a:spcPts val="800"/>
              </a:spcAft>
            </a:pPr>
            <a:r>
              <a:rPr sz="1300" b="1">
                <a:solidFill>
                  <a:srgbClr val="F5B341"/>
                </a:solidFill>
                <a:latin typeface="Segoe UI"/>
              </a:rPr>
              <a:t>▸  </a:t>
            </a:r>
            <a:r>
              <a:rPr sz="1250" b="0">
                <a:solidFill>
                  <a:srgbClr val="F4F6FB"/>
                </a:solidFill>
                <a:latin typeface="Segoe UI"/>
              </a:rPr>
              <a:t>El objetivo de negocio queda desacoplado del motor que lo corre</a:t>
            </a:r>
          </a:p>
        </p:txBody>
      </p:sp>
      <p:sp>
        <p:nvSpPr>
          <p:cNvPr id="10" name="TextBox 9"/>
          <p:cNvSpPr txBox="1"/>
          <p:nvPr/>
        </p:nvSpPr>
        <p:spPr>
          <a:xfrm>
            <a:off x="6263640" y="2377440"/>
            <a:ext cx="5120640" cy="32004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F5B341"/>
                </a:solidFill>
                <a:latin typeface="Segoe UI"/>
              </a:rPr>
              <a:t>IMPERATIVO  vs  DECLARATIVO</a:t>
            </a:r>
          </a:p>
        </p:txBody>
      </p:sp>
      <p:sp>
        <p:nvSpPr>
          <p:cNvPr id="11" name="Rectangle 10"/>
          <p:cNvSpPr/>
          <p:nvPr/>
        </p:nvSpPr>
        <p:spPr>
          <a:xfrm>
            <a:off x="6263640" y="2743200"/>
            <a:ext cx="2468880" cy="457200"/>
          </a:xfrm>
          <a:prstGeom prst="rect">
            <a:avLst/>
          </a:prstGeom>
          <a:solidFill>
            <a:srgbClr val="F5B341"/>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2743200"/>
            <a:ext cx="226771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50" b="1">
                <a:solidFill>
                  <a:srgbClr val="0B1020"/>
                </a:solidFill>
                <a:latin typeface="Segoe UI"/>
              </a:rPr>
              <a:t>Enfoque imperativo ✗</a:t>
            </a:r>
          </a:p>
        </p:txBody>
      </p:sp>
      <p:sp>
        <p:nvSpPr>
          <p:cNvPr id="13" name="Rectangle 12"/>
          <p:cNvSpPr/>
          <p:nvPr/>
        </p:nvSpPr>
        <p:spPr>
          <a:xfrm>
            <a:off x="8732520" y="2743200"/>
            <a:ext cx="2651760" cy="457200"/>
          </a:xfrm>
          <a:prstGeom prst="rect">
            <a:avLst/>
          </a:prstGeom>
          <a:solidFill>
            <a:srgbClr val="F5B341"/>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42248" y="2743200"/>
            <a:ext cx="2450591"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50" b="1">
                <a:solidFill>
                  <a:srgbClr val="0B1020"/>
                </a:solidFill>
                <a:latin typeface="Segoe UI"/>
              </a:rPr>
              <a:t>Enfoque declarativo ✓</a:t>
            </a:r>
          </a:p>
        </p:txBody>
      </p:sp>
      <p:sp>
        <p:nvSpPr>
          <p:cNvPr id="15" name="Rectangle 14"/>
          <p:cNvSpPr/>
          <p:nvPr/>
        </p:nvSpPr>
        <p:spPr>
          <a:xfrm>
            <a:off x="6263640" y="3200400"/>
            <a:ext cx="2468880" cy="457200"/>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8" y="3200400"/>
            <a:ext cx="226771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50" b="0">
                <a:solidFill>
                  <a:srgbClr val="F4F6FB"/>
                </a:solidFill>
                <a:latin typeface="Segoe UI"/>
              </a:rPr>
              <a:t>if provider==... en el componente</a:t>
            </a:r>
          </a:p>
        </p:txBody>
      </p:sp>
      <p:sp>
        <p:nvSpPr>
          <p:cNvPr id="17" name="Rectangle 16"/>
          <p:cNvSpPr/>
          <p:nvPr/>
        </p:nvSpPr>
        <p:spPr>
          <a:xfrm>
            <a:off x="8732520" y="3200400"/>
            <a:ext cx="2651760" cy="457200"/>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42248" y="3200400"/>
            <a:ext cx="2450591"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50" b="0">
                <a:solidFill>
                  <a:srgbClr val="F4F6FB"/>
                </a:solidFill>
                <a:latin typeface="Segoe UI"/>
              </a:rPr>
              <a:t>una AiTask { id, tier }</a:t>
            </a:r>
          </a:p>
        </p:txBody>
      </p:sp>
      <p:sp>
        <p:nvSpPr>
          <p:cNvPr id="19" name="Rectangle 18"/>
          <p:cNvSpPr/>
          <p:nvPr/>
        </p:nvSpPr>
        <p:spPr>
          <a:xfrm>
            <a:off x="6263640" y="3657600"/>
            <a:ext cx="2468880" cy="457200"/>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657600"/>
            <a:ext cx="226771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50" b="0">
                <a:solidFill>
                  <a:srgbClr val="F4F6FB"/>
                </a:solidFill>
                <a:latin typeface="Segoe UI"/>
              </a:rPr>
              <a:t>prompt + parseo esparcidos</a:t>
            </a:r>
          </a:p>
        </p:txBody>
      </p:sp>
      <p:sp>
        <p:nvSpPr>
          <p:cNvPr id="21" name="Rectangle 20"/>
          <p:cNvSpPr/>
          <p:nvPr/>
        </p:nvSpPr>
        <p:spPr>
          <a:xfrm>
            <a:off x="8732520" y="3657600"/>
            <a:ext cx="2651760" cy="457200"/>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42248" y="3657600"/>
            <a:ext cx="2450591"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50" b="0">
                <a:solidFill>
                  <a:srgbClr val="F4F6FB"/>
                </a:solidFill>
                <a:latin typeface="Segoe UI"/>
              </a:rPr>
              <a:t>buildPrompt() + parse() juntos</a:t>
            </a:r>
          </a:p>
        </p:txBody>
      </p:sp>
      <p:sp>
        <p:nvSpPr>
          <p:cNvPr id="23" name="Rectangle 22"/>
          <p:cNvSpPr/>
          <p:nvPr/>
        </p:nvSpPr>
        <p:spPr>
          <a:xfrm>
            <a:off x="6263640" y="4114800"/>
            <a:ext cx="2468880" cy="457200"/>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73368" y="4114800"/>
            <a:ext cx="226771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50" b="0">
                <a:solidFill>
                  <a:srgbClr val="F4F6FB"/>
                </a:solidFill>
                <a:latin typeface="Segoe UI"/>
              </a:rPr>
              <a:t>tocar el router por cada feature</a:t>
            </a:r>
          </a:p>
        </p:txBody>
      </p:sp>
      <p:sp>
        <p:nvSpPr>
          <p:cNvPr id="25" name="Rectangle 24"/>
          <p:cNvSpPr/>
          <p:nvPr/>
        </p:nvSpPr>
        <p:spPr>
          <a:xfrm>
            <a:off x="8732520" y="4114800"/>
            <a:ext cx="2651760" cy="457200"/>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42248" y="4114800"/>
            <a:ext cx="2450591"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50" b="0">
                <a:solidFill>
                  <a:srgbClr val="F4F6FB"/>
                </a:solidFill>
                <a:latin typeface="Segoe UI"/>
              </a:rPr>
              <a:t>router intacto, sólo datos</a:t>
            </a:r>
          </a:p>
        </p:txBody>
      </p:sp>
      <p:sp>
        <p:nvSpPr>
          <p:cNvPr id="27" name="Rectangle 26"/>
          <p:cNvSpPr/>
          <p:nvPr/>
        </p:nvSpPr>
        <p:spPr>
          <a:xfrm>
            <a:off x="6263640" y="4572000"/>
            <a:ext cx="2468880" cy="457200"/>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3368" y="4572000"/>
            <a:ext cx="2267712"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50" b="0">
                <a:solidFill>
                  <a:srgbClr val="F4F6FB"/>
                </a:solidFill>
                <a:latin typeface="Segoe UI"/>
              </a:rPr>
              <a:t>difícil de razonar y testear</a:t>
            </a:r>
          </a:p>
        </p:txBody>
      </p:sp>
      <p:sp>
        <p:nvSpPr>
          <p:cNvPr id="29" name="Rectangle 28"/>
          <p:cNvSpPr/>
          <p:nvPr/>
        </p:nvSpPr>
        <p:spPr>
          <a:xfrm>
            <a:off x="8732520" y="4572000"/>
            <a:ext cx="2651760" cy="457200"/>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42248" y="4572000"/>
            <a:ext cx="2450591" cy="45720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50" b="0">
                <a:solidFill>
                  <a:srgbClr val="F4F6FB"/>
                </a:solidFill>
                <a:latin typeface="Segoe UI"/>
              </a:rPr>
              <a:t>catálogo puro y testeable</a:t>
            </a:r>
          </a:p>
        </p:txBody>
      </p:sp>
      <p:sp>
        <p:nvSpPr>
          <p:cNvPr id="31" name="Rounded Rectangle 30"/>
          <p:cNvSpPr/>
          <p:nvPr/>
        </p:nvSpPr>
        <p:spPr>
          <a:xfrm>
            <a:off x="6263640" y="5120640"/>
            <a:ext cx="5120640" cy="1234440"/>
          </a:xfrm>
          <a:prstGeom prst="roundRect">
            <a:avLst>
              <a:gd name="adj" fmla="val 5000"/>
            </a:avLst>
          </a:prstGeom>
          <a:solidFill>
            <a:srgbClr val="070B16"/>
          </a:solidFill>
          <a:ln w="12700">
            <a:solidFill>
              <a:srgbClr val="2A3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5230368"/>
            <a:ext cx="4846320" cy="1051560"/>
          </a:xfrm>
          <a:prstGeom prst="rect">
            <a:avLst/>
          </a:prstGeom>
          <a:noFill/>
        </p:spPr>
        <p:txBody>
          <a:bodyPr wrap="square" anchor="t" lIns="12700" rIns="12700" tIns="12700" bIns="12700">
            <a:spAutoFit/>
          </a:bodyPr>
          <a:lstStyle/>
          <a:p>
            <a:pPr algn="l">
              <a:lnSpc>
                <a:spcPct val="118000"/>
              </a:lnSpc>
              <a:spcBef>
                <a:spcPts val="0"/>
              </a:spcBef>
              <a:spcAft>
                <a:spcPts val="200"/>
              </a:spcAft>
            </a:pPr>
            <a:r>
              <a:rPr sz="1050" b="0">
                <a:solidFill>
                  <a:srgbClr val="67E8B5"/>
                </a:solidFill>
                <a:latin typeface="Consolas"/>
              </a:rPr>
              <a:t>export const suggestNameTask: AiTask = {</a:t>
            </a:r>
          </a:p>
          <a:p>
            <a:pPr algn="l">
              <a:lnSpc>
                <a:spcPct val="118000"/>
              </a:lnSpc>
              <a:spcBef>
                <a:spcPts val="0"/>
              </a:spcBef>
              <a:spcAft>
                <a:spcPts val="200"/>
              </a:spcAft>
            </a:pPr>
            <a:r>
              <a:rPr sz="1050" b="0">
                <a:solidFill>
                  <a:srgbClr val="67E8B5"/>
                </a:solidFill>
                <a:latin typeface="Consolas"/>
              </a:rPr>
              <a:t>  id: "suggest-name",  tier: "light",</a:t>
            </a:r>
          </a:p>
          <a:p>
            <a:pPr algn="l">
              <a:lnSpc>
                <a:spcPct val="118000"/>
              </a:lnSpc>
              <a:spcBef>
                <a:spcPts val="0"/>
              </a:spcBef>
              <a:spcAft>
                <a:spcPts val="200"/>
              </a:spcAft>
            </a:pPr>
            <a:r>
              <a:rPr sz="1050" b="0">
                <a:solidFill>
                  <a:srgbClr val="67E8B5"/>
                </a:solidFill>
                <a:latin typeface="Consolas"/>
              </a:rPr>
              <a:t>  buildPrompt: (i) =&gt; ({ prompt, system }),</a:t>
            </a:r>
          </a:p>
          <a:p>
            <a:pPr algn="l">
              <a:lnSpc>
                <a:spcPct val="118000"/>
              </a:lnSpc>
              <a:spcBef>
                <a:spcPts val="0"/>
              </a:spcBef>
              <a:spcAft>
                <a:spcPts val="200"/>
              </a:spcAft>
            </a:pPr>
            <a:r>
              <a:rPr sz="1050" b="0">
                <a:solidFill>
                  <a:srgbClr val="67E8B5"/>
                </a:solidFill>
                <a:latin typeface="Consolas"/>
              </a:rPr>
              <a:t>  parse: (raw) =&gt; stripQuotes(raw) }</a:t>
            </a:r>
          </a:p>
        </p:txBody>
      </p:sp>
      <p:sp>
        <p:nvSpPr>
          <p:cNvPr id="33" name="Rounded Rectangle 32"/>
          <p:cNvSpPr/>
          <p:nvPr/>
        </p:nvSpPr>
        <p:spPr>
          <a:xfrm>
            <a:off x="822960" y="4983480"/>
            <a:ext cx="5120640" cy="1371600"/>
          </a:xfrm>
          <a:prstGeom prst="roundRect">
            <a:avLst>
              <a:gd name="adj" fmla="val 10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2960" y="4983480"/>
            <a:ext cx="109728" cy="1371600"/>
          </a:xfrm>
          <a:prstGeom prst="rect">
            <a:avLst/>
          </a:prstGeom>
          <a:solidFill>
            <a:srgbClr val="F5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4983480"/>
            <a:ext cx="4754879" cy="1371600"/>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050" b="1">
                <a:solidFill>
                  <a:srgbClr val="F5B341"/>
                </a:solidFill>
                <a:latin typeface="Segoe UI"/>
              </a:rPr>
              <a:t>EVIDENCIA  </a:t>
            </a:r>
            <a:r>
              <a:rPr sz="1250" b="0">
                <a:solidFill>
                  <a:srgbClr val="F4F6FB"/>
                </a:solidFill>
                <a:latin typeface="Segoe UI"/>
              </a:rPr>
              <a:t>Regla (CLAUDE.md): “añadir una función de IA = declarar una AiTask, nada más”. Ni el router ni la UI cambian.</a:t>
            </a:r>
          </a:p>
        </p:txBody>
      </p:sp>
      <p:sp>
        <p:nvSpPr>
          <p:cNvPr id="36" name="TextBox 35"/>
          <p:cNvSpPr txBox="1"/>
          <p:nvPr/>
        </p:nvSpPr>
        <p:spPr>
          <a:xfrm>
            <a:off x="11018520" y="6419088"/>
            <a:ext cx="960120" cy="365760"/>
          </a:xfrm>
          <a:prstGeom prst="rect">
            <a:avLst/>
          </a:prstGeom>
          <a:noFill/>
        </p:spPr>
        <p:txBody>
          <a:bodyPr wrap="square" anchor="t" lIns="12700" rIns="12700" tIns="12700" bIns="12700">
            <a:spAutoFit/>
          </a:bodyPr>
          <a:lstStyle/>
          <a:p>
            <a:pPr algn="r">
              <a:lnSpc>
                <a:spcPct val="105000"/>
              </a:lnSpc>
              <a:spcBef>
                <a:spcPts val="0"/>
              </a:spcBef>
              <a:spcAft>
                <a:spcPts val="500"/>
              </a:spcAft>
            </a:pPr>
            <a:r>
              <a:rPr sz="1100" b="1">
                <a:solidFill>
                  <a:srgbClr val="9AA4C0"/>
                </a:solidFill>
                <a:latin typeface="Segoe UI"/>
              </a:rPr>
              <a:t>08</a:t>
            </a:r>
          </a:p>
        </p:txBody>
      </p:sp>
      <p:sp>
        <p:nvSpPr>
          <p:cNvPr id="37" name="Rectangle 36"/>
          <p:cNvSpPr/>
          <p:nvPr/>
        </p:nvSpPr>
        <p:spPr>
          <a:xfrm>
            <a:off x="0" y="6784848"/>
            <a:ext cx="12191695" cy="73152"/>
          </a:xfrm>
          <a:prstGeom prst="rect">
            <a:avLst/>
          </a:prstGeom>
          <a:solidFill>
            <a:srgbClr val="F5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30352"/>
            <a:ext cx="292608" cy="54864"/>
          </a:xfrm>
          <a:prstGeom prst="rect">
            <a:avLst/>
          </a:prstGeom>
          <a:solidFill>
            <a:srgbClr val="F2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07008" y="429768"/>
            <a:ext cx="10058400" cy="3657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F27A3D"/>
                </a:solidFill>
                <a:latin typeface="Segoe UI"/>
              </a:rPr>
              <a:t>INGENIERÍA 4 / 7 · ¿CÓMO CONECTO LAS PIEZAS?</a:t>
            </a:r>
          </a:p>
        </p:txBody>
      </p:sp>
      <p:sp>
        <p:nvSpPr>
          <p:cNvPr id="5" name="TextBox 4"/>
          <p:cNvSpPr txBox="1"/>
          <p:nvPr/>
        </p:nvSpPr>
        <p:spPr>
          <a:xfrm>
            <a:off x="777240" y="777240"/>
            <a:ext cx="8778240" cy="8229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3000" b="0">
                <a:solidFill>
                  <a:srgbClr val="F4F6FB"/>
                </a:solidFill>
                <a:latin typeface="Segoe UI"/>
              </a:rPr>
              <a:t>🌊  </a:t>
            </a:r>
            <a:r>
              <a:rPr sz="3000" b="1">
                <a:solidFill>
                  <a:srgbClr val="F4F6FB"/>
                </a:solidFill>
                <a:latin typeface="Segoe UI"/>
              </a:rPr>
              <a:t>Flow Engineering</a:t>
            </a:r>
          </a:p>
        </p:txBody>
      </p:sp>
      <p:sp>
        <p:nvSpPr>
          <p:cNvPr id="6" name="Rounded Rectangle 5"/>
          <p:cNvSpPr/>
          <p:nvPr/>
        </p:nvSpPr>
        <p:spPr>
          <a:xfrm>
            <a:off x="822960" y="1572768"/>
            <a:ext cx="10561320" cy="658368"/>
          </a:xfrm>
          <a:prstGeom prst="roundRect">
            <a:avLst>
              <a:gd name="adj" fmla="val 6000"/>
            </a:avLst>
          </a:prstGeom>
          <a:solidFill>
            <a:srgbClr val="10172C"/>
          </a:solidFill>
          <a:ln w="12700">
            <a:solidFill>
              <a:srgbClr val="F27A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572768"/>
            <a:ext cx="10149840" cy="658368"/>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100" b="1">
                <a:solidFill>
                  <a:srgbClr val="F27A3D"/>
                </a:solidFill>
                <a:latin typeface="Segoe UI"/>
              </a:rPr>
              <a:t>DEFINICIÓN  </a:t>
            </a:r>
            <a:r>
              <a:rPr sz="1250" b="0">
                <a:solidFill>
                  <a:srgbClr val="F4F6FB"/>
                </a:solidFill>
                <a:latin typeface="Segoe UI"/>
              </a:rPr>
              <a:t>Orquestar modelos, agentes, APIs y herramientas de extremo a extremo. La decisión de qué motor usa cada tarea vive en UN lugar, explícita y trazable.</a:t>
            </a:r>
          </a:p>
        </p:txBody>
      </p:sp>
      <p:sp>
        <p:nvSpPr>
          <p:cNvPr id="8" name="TextBox 7"/>
          <p:cNvSpPr txBox="1"/>
          <p:nvPr/>
        </p:nvSpPr>
        <p:spPr>
          <a:xfrm>
            <a:off x="822960" y="2377440"/>
            <a:ext cx="4937760" cy="32004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F27A3D"/>
                </a:solidFill>
                <a:latin typeface="Segoe UI"/>
              </a:rPr>
              <a:t>PATRÓN GENERAL (replicable)</a:t>
            </a:r>
          </a:p>
        </p:txBody>
      </p:sp>
      <p:sp>
        <p:nvSpPr>
          <p:cNvPr id="9" name="TextBox 8"/>
          <p:cNvSpPr txBox="1"/>
          <p:nvPr/>
        </p:nvSpPr>
        <p:spPr>
          <a:xfrm>
            <a:off x="822960" y="2743200"/>
            <a:ext cx="4937760" cy="2743200"/>
          </a:xfrm>
          <a:prstGeom prst="rect">
            <a:avLst/>
          </a:prstGeom>
          <a:noFill/>
        </p:spPr>
        <p:txBody>
          <a:bodyPr wrap="square" anchor="t" lIns="12700" rIns="12700" tIns="12700" bIns="12700">
            <a:spAutoFit/>
          </a:bodyPr>
          <a:lstStyle/>
          <a:p>
            <a:pPr algn="l">
              <a:lnSpc>
                <a:spcPct val="112000"/>
              </a:lnSpc>
              <a:spcBef>
                <a:spcPts val="0"/>
              </a:spcBef>
              <a:spcAft>
                <a:spcPts val="800"/>
              </a:spcAft>
            </a:pPr>
            <a:r>
              <a:rPr sz="1300" b="1">
                <a:solidFill>
                  <a:srgbClr val="F27A3D"/>
                </a:solidFill>
                <a:latin typeface="Segoe UI"/>
              </a:rPr>
              <a:t>▸  </a:t>
            </a:r>
            <a:r>
              <a:rPr sz="1250" b="0">
                <a:solidFill>
                  <a:srgbClr val="F4F6FB"/>
                </a:solidFill>
                <a:latin typeface="Segoe UI"/>
              </a:rPr>
              <a:t>Una política de enrutamiento central, no reglas dispersas</a:t>
            </a:r>
          </a:p>
          <a:p>
            <a:pPr algn="l">
              <a:lnSpc>
                <a:spcPct val="112000"/>
              </a:lnSpc>
              <a:spcBef>
                <a:spcPts val="0"/>
              </a:spcBef>
              <a:spcAft>
                <a:spcPts val="800"/>
              </a:spcAft>
            </a:pPr>
            <a:r>
              <a:rPr sz="1300" b="1">
                <a:solidFill>
                  <a:srgbClr val="F27A3D"/>
                </a:solidFill>
                <a:latin typeface="Segoe UI"/>
              </a:rPr>
              <a:t>▸  </a:t>
            </a:r>
            <a:r>
              <a:rPr sz="1250" b="0">
                <a:solidFill>
                  <a:srgbClr val="F4F6FB"/>
                </a:solidFill>
                <a:latin typeface="Segoe UI"/>
              </a:rPr>
              <a:t>Fallback ASIMÉTRICO: ligera puede subir a la nube; pesada nunca baja</a:t>
            </a:r>
          </a:p>
          <a:p>
            <a:pPr algn="l">
              <a:lnSpc>
                <a:spcPct val="112000"/>
              </a:lnSpc>
              <a:spcBef>
                <a:spcPts val="0"/>
              </a:spcBef>
              <a:spcAft>
                <a:spcPts val="800"/>
              </a:spcAft>
            </a:pPr>
            <a:r>
              <a:rPr sz="1300" b="1">
                <a:solidFill>
                  <a:srgbClr val="F27A3D"/>
                </a:solidFill>
                <a:latin typeface="Segoe UI"/>
              </a:rPr>
              <a:t>▸  </a:t>
            </a:r>
            <a:r>
              <a:rPr sz="1250" b="0">
                <a:solidFill>
                  <a:srgbClr val="F4F6FB"/>
                </a:solidFill>
                <a:latin typeface="Segoe UI"/>
              </a:rPr>
              <a:t>Devuelve la decisión (provider, fellBack, reason): auditable</a:t>
            </a:r>
          </a:p>
          <a:p>
            <a:pPr algn="l">
              <a:lnSpc>
                <a:spcPct val="112000"/>
              </a:lnSpc>
              <a:spcBef>
                <a:spcPts val="0"/>
              </a:spcBef>
              <a:spcAft>
                <a:spcPts val="800"/>
              </a:spcAft>
            </a:pPr>
            <a:r>
              <a:rPr sz="1300" b="1">
                <a:solidFill>
                  <a:srgbClr val="F27A3D"/>
                </a:solidFill>
                <a:latin typeface="Segoe UI"/>
              </a:rPr>
              <a:t>▸  </a:t>
            </a:r>
            <a:r>
              <a:rPr sz="1250" b="0">
                <a:solidFill>
                  <a:srgbClr val="F4F6FB"/>
                </a:solidFill>
                <a:latin typeface="Segoe UI"/>
              </a:rPr>
              <a:t>Secretos fuera del cliente: llaves cifradas en el proceso main</a:t>
            </a:r>
          </a:p>
        </p:txBody>
      </p:sp>
      <p:sp>
        <p:nvSpPr>
          <p:cNvPr id="10" name="TextBox 9"/>
          <p:cNvSpPr txBox="1"/>
          <p:nvPr/>
        </p:nvSpPr>
        <p:spPr>
          <a:xfrm>
            <a:off x="6126480" y="2286000"/>
            <a:ext cx="5212080" cy="292608"/>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F27A3D"/>
                </a:solidFill>
                <a:latin typeface="Segoe UI"/>
              </a:rPr>
              <a:t>ROUTER · árbol de decisión</a:t>
            </a:r>
          </a:p>
        </p:txBody>
      </p:sp>
      <p:sp>
        <p:nvSpPr>
          <p:cNvPr id="11" name="Rounded Rectangle 10"/>
          <p:cNvSpPr/>
          <p:nvPr/>
        </p:nvSpPr>
        <p:spPr>
          <a:xfrm>
            <a:off x="7772400" y="2596896"/>
            <a:ext cx="1920240" cy="402336"/>
          </a:xfrm>
          <a:prstGeom prst="roundRect">
            <a:avLst>
              <a:gd name="adj" fmla="val 12000"/>
            </a:avLst>
          </a:prstGeom>
          <a:solidFill>
            <a:srgbClr val="141C33"/>
          </a:solidFill>
          <a:ln w="15875">
            <a:solidFill>
              <a:srgbClr val="F27A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2596896"/>
            <a:ext cx="1920240" cy="402336"/>
          </a:xfrm>
          <a:prstGeom prst="rect">
            <a:avLst/>
          </a:prstGeom>
          <a:noFill/>
        </p:spPr>
        <p:txBody>
          <a:bodyPr wrap="square" anchor="ctr" lIns="12700" rIns="12700" tIns="12700" bIns="12700">
            <a:spAutoFit/>
          </a:bodyPr>
          <a:lstStyle/>
          <a:p>
            <a:pPr algn="ctr">
              <a:lnSpc>
                <a:spcPct val="105000"/>
              </a:lnSpc>
              <a:spcBef>
                <a:spcPts val="0"/>
              </a:spcBef>
              <a:spcAft>
                <a:spcPts val="500"/>
              </a:spcAft>
            </a:pPr>
            <a:r>
              <a:rPr sz="1150" b="1">
                <a:solidFill>
                  <a:srgbClr val="F4F6FB"/>
                </a:solidFill>
                <a:latin typeface="Segoe UI"/>
              </a:rPr>
              <a:t>Tarea + modo</a:t>
            </a:r>
          </a:p>
        </p:txBody>
      </p:sp>
      <p:sp>
        <p:nvSpPr>
          <p:cNvPr id="13" name="Down Arrow 12"/>
          <p:cNvSpPr/>
          <p:nvPr/>
        </p:nvSpPr>
        <p:spPr>
          <a:xfrm>
            <a:off x="8659368" y="3017520"/>
            <a:ext cx="155448" cy="146304"/>
          </a:xfrm>
          <a:prstGeom prst="down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iamond 13"/>
          <p:cNvSpPr/>
          <p:nvPr/>
        </p:nvSpPr>
        <p:spPr>
          <a:xfrm>
            <a:off x="7818120" y="3182112"/>
            <a:ext cx="1828800" cy="640080"/>
          </a:xfrm>
          <a:prstGeom prst="diamond">
            <a:avLst/>
          </a:prstGeom>
          <a:solidFill>
            <a:srgbClr val="141C33"/>
          </a:solidFill>
          <a:ln w="15875">
            <a:solidFill>
              <a:srgbClr val="F27A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09560" y="3182112"/>
            <a:ext cx="1645920" cy="640080"/>
          </a:xfrm>
          <a:prstGeom prst="rect">
            <a:avLst/>
          </a:prstGeom>
          <a:noFill/>
        </p:spPr>
        <p:txBody>
          <a:bodyPr wrap="square" anchor="ctr" lIns="12700" rIns="12700" tIns="12700" bIns="12700">
            <a:spAutoFit/>
          </a:bodyPr>
          <a:lstStyle/>
          <a:p>
            <a:pPr algn="ctr">
              <a:lnSpc>
                <a:spcPct val="95000"/>
              </a:lnSpc>
              <a:spcBef>
                <a:spcPts val="0"/>
              </a:spcBef>
              <a:spcAft>
                <a:spcPts val="500"/>
              </a:spcAft>
            </a:pPr>
            <a:r>
              <a:rPr sz="1050" b="1">
                <a:solidFill>
                  <a:srgbClr val="F4F6FB"/>
                </a:solidFill>
                <a:latin typeface="Segoe UI"/>
              </a:rPr>
              <a:t>¿modo?</a:t>
            </a:r>
          </a:p>
        </p:txBody>
      </p:sp>
      <p:sp>
        <p:nvSpPr>
          <p:cNvPr id="16" name="Rounded Rectangle 15"/>
          <p:cNvSpPr/>
          <p:nvPr/>
        </p:nvSpPr>
        <p:spPr>
          <a:xfrm>
            <a:off x="6126480" y="3291840"/>
            <a:ext cx="1371600" cy="420624"/>
          </a:xfrm>
          <a:prstGeom prst="roundRect">
            <a:avLst>
              <a:gd name="adj" fmla="val 12000"/>
            </a:avLst>
          </a:prstGeom>
          <a:solidFill>
            <a:srgbClr val="141C33"/>
          </a:solidFill>
          <a:ln w="15875">
            <a:solidFill>
              <a:srgbClr val="34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3291840"/>
            <a:ext cx="1371600" cy="420624"/>
          </a:xfrm>
          <a:prstGeom prst="rect">
            <a:avLst/>
          </a:prstGeom>
          <a:noFill/>
        </p:spPr>
        <p:txBody>
          <a:bodyPr wrap="square" anchor="ctr" lIns="12700" rIns="12700" tIns="12700" bIns="12700">
            <a:spAutoFit/>
          </a:bodyPr>
          <a:lstStyle/>
          <a:p>
            <a:pPr algn="ctr">
              <a:lnSpc>
                <a:spcPct val="105000"/>
              </a:lnSpc>
              <a:spcBef>
                <a:spcPts val="0"/>
              </a:spcBef>
              <a:spcAft>
                <a:spcPts val="500"/>
              </a:spcAft>
            </a:pPr>
            <a:r>
              <a:rPr sz="1150" b="1">
                <a:solidFill>
                  <a:srgbClr val="F4F6FB"/>
                </a:solidFill>
                <a:latin typeface="Segoe UI"/>
              </a:rPr>
              <a:t>LOCAL</a:t>
            </a:r>
          </a:p>
        </p:txBody>
      </p:sp>
      <p:sp>
        <p:nvSpPr>
          <p:cNvPr id="18" name="TextBox 17"/>
          <p:cNvSpPr txBox="1"/>
          <p:nvPr/>
        </p:nvSpPr>
        <p:spPr>
          <a:xfrm>
            <a:off x="6126480" y="3044952"/>
            <a:ext cx="1371600" cy="237744"/>
          </a:xfrm>
          <a:prstGeom prst="rect">
            <a:avLst/>
          </a:prstGeom>
          <a:noFill/>
        </p:spPr>
        <p:txBody>
          <a:bodyPr wrap="square" anchor="t" lIns="12700" rIns="12700" tIns="12700" bIns="12700">
            <a:spAutoFit/>
          </a:bodyPr>
          <a:lstStyle/>
          <a:p>
            <a:pPr algn="ctr">
              <a:lnSpc>
                <a:spcPct val="105000"/>
              </a:lnSpc>
              <a:spcBef>
                <a:spcPts val="0"/>
              </a:spcBef>
              <a:spcAft>
                <a:spcPts val="500"/>
              </a:spcAft>
            </a:pPr>
            <a:r>
              <a:rPr sz="900" b="1">
                <a:solidFill>
                  <a:srgbClr val="9AA4C0"/>
                </a:solidFill>
                <a:latin typeface="Segoe UI"/>
              </a:rPr>
              <a:t>modo local</a:t>
            </a:r>
          </a:p>
        </p:txBody>
      </p:sp>
      <p:sp>
        <p:nvSpPr>
          <p:cNvPr id="19" name="Rounded Rectangle 18"/>
          <p:cNvSpPr/>
          <p:nvPr/>
        </p:nvSpPr>
        <p:spPr>
          <a:xfrm>
            <a:off x="10012680" y="3291840"/>
            <a:ext cx="1371600" cy="420624"/>
          </a:xfrm>
          <a:prstGeom prst="roundRect">
            <a:avLst>
              <a:gd name="adj" fmla="val 12000"/>
            </a:avLst>
          </a:prstGeom>
          <a:solidFill>
            <a:srgbClr val="141C33"/>
          </a:solidFill>
          <a:ln w="15875">
            <a:solidFill>
              <a:srgbClr val="F27A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12680" y="3291840"/>
            <a:ext cx="1371600" cy="420624"/>
          </a:xfrm>
          <a:prstGeom prst="rect">
            <a:avLst/>
          </a:prstGeom>
          <a:noFill/>
        </p:spPr>
        <p:txBody>
          <a:bodyPr wrap="square" anchor="ctr" lIns="12700" rIns="12700" tIns="12700" bIns="12700">
            <a:spAutoFit/>
          </a:bodyPr>
          <a:lstStyle/>
          <a:p>
            <a:pPr algn="ctr">
              <a:lnSpc>
                <a:spcPct val="105000"/>
              </a:lnSpc>
              <a:spcBef>
                <a:spcPts val="0"/>
              </a:spcBef>
              <a:spcAft>
                <a:spcPts val="500"/>
              </a:spcAft>
            </a:pPr>
            <a:r>
              <a:rPr sz="1150" b="1">
                <a:solidFill>
                  <a:srgbClr val="F4F6FB"/>
                </a:solidFill>
                <a:latin typeface="Segoe UI"/>
              </a:rPr>
              <a:t>NUBE</a:t>
            </a:r>
          </a:p>
        </p:txBody>
      </p:sp>
      <p:sp>
        <p:nvSpPr>
          <p:cNvPr id="21" name="TextBox 20"/>
          <p:cNvSpPr txBox="1"/>
          <p:nvPr/>
        </p:nvSpPr>
        <p:spPr>
          <a:xfrm>
            <a:off x="10012680" y="3044952"/>
            <a:ext cx="1371600" cy="237744"/>
          </a:xfrm>
          <a:prstGeom prst="rect">
            <a:avLst/>
          </a:prstGeom>
          <a:noFill/>
        </p:spPr>
        <p:txBody>
          <a:bodyPr wrap="square" anchor="t" lIns="12700" rIns="12700" tIns="12700" bIns="12700">
            <a:spAutoFit/>
          </a:bodyPr>
          <a:lstStyle/>
          <a:p>
            <a:pPr algn="ctr">
              <a:lnSpc>
                <a:spcPct val="105000"/>
              </a:lnSpc>
              <a:spcBef>
                <a:spcPts val="0"/>
              </a:spcBef>
              <a:spcAft>
                <a:spcPts val="500"/>
              </a:spcAft>
            </a:pPr>
            <a:r>
              <a:rPr sz="900" b="1">
                <a:solidFill>
                  <a:srgbClr val="9AA4C0"/>
                </a:solidFill>
                <a:latin typeface="Segoe UI"/>
              </a:rPr>
              <a:t>modo remote</a:t>
            </a:r>
          </a:p>
        </p:txBody>
      </p:sp>
      <p:sp>
        <p:nvSpPr>
          <p:cNvPr id="22" name="Left Arrow 21"/>
          <p:cNvSpPr/>
          <p:nvPr/>
        </p:nvSpPr>
        <p:spPr>
          <a:xfrm>
            <a:off x="7479792" y="3429000"/>
            <a:ext cx="329184" cy="137160"/>
          </a:xfrm>
          <a:prstGeom prst="leftArrow">
            <a:avLst/>
          </a:prstGeom>
          <a:solidFill>
            <a:srgbClr val="34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9656064" y="3429000"/>
            <a:ext cx="347472" cy="137160"/>
          </a:xfrm>
          <a:prstGeom prst="rightArrow">
            <a:avLst/>
          </a:prstGeom>
          <a:solidFill>
            <a:srgbClr val="F2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wn Arrow 23"/>
          <p:cNvSpPr/>
          <p:nvPr/>
        </p:nvSpPr>
        <p:spPr>
          <a:xfrm>
            <a:off x="8659368" y="3840480"/>
            <a:ext cx="155448" cy="137160"/>
          </a:xfrm>
          <a:prstGeom prst="down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0536" y="3822192"/>
            <a:ext cx="2194560" cy="274320"/>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950" b="1">
                <a:solidFill>
                  <a:srgbClr val="9AA4C0"/>
                </a:solidFill>
                <a:latin typeface="Segoe UI"/>
              </a:rPr>
              <a:t>híbrido</a:t>
            </a:r>
          </a:p>
        </p:txBody>
      </p:sp>
      <p:sp>
        <p:nvSpPr>
          <p:cNvPr id="26" name="Diamond 25"/>
          <p:cNvSpPr/>
          <p:nvPr/>
        </p:nvSpPr>
        <p:spPr>
          <a:xfrm>
            <a:off x="7680960" y="3995928"/>
            <a:ext cx="2103120" cy="640080"/>
          </a:xfrm>
          <a:prstGeom prst="diamond">
            <a:avLst/>
          </a:prstGeom>
          <a:solidFill>
            <a:srgbClr val="141C33"/>
          </a:solidFill>
          <a:ln w="15875">
            <a:solidFill>
              <a:srgbClr val="F27A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0" y="3995928"/>
            <a:ext cx="1920239" cy="640080"/>
          </a:xfrm>
          <a:prstGeom prst="rect">
            <a:avLst/>
          </a:prstGeom>
          <a:noFill/>
        </p:spPr>
        <p:txBody>
          <a:bodyPr wrap="square" anchor="ctr" lIns="12700" rIns="12700" tIns="12700" bIns="12700">
            <a:spAutoFit/>
          </a:bodyPr>
          <a:lstStyle/>
          <a:p>
            <a:pPr algn="ctr">
              <a:lnSpc>
                <a:spcPct val="95000"/>
              </a:lnSpc>
              <a:spcBef>
                <a:spcPts val="0"/>
              </a:spcBef>
              <a:spcAft>
                <a:spcPts val="500"/>
              </a:spcAft>
            </a:pPr>
            <a:r>
              <a:rPr sz="1050" b="1">
                <a:solidFill>
                  <a:srgbClr val="F4F6FB"/>
                </a:solidFill>
                <a:latin typeface="Segoe UI"/>
              </a:rPr>
              <a:t>¿heavy / structured?</a:t>
            </a:r>
          </a:p>
        </p:txBody>
      </p:sp>
      <p:sp>
        <p:nvSpPr>
          <p:cNvPr id="28" name="TextBox 27"/>
          <p:cNvSpPr txBox="1"/>
          <p:nvPr/>
        </p:nvSpPr>
        <p:spPr>
          <a:xfrm>
            <a:off x="9893808" y="4178808"/>
            <a:ext cx="1508760" cy="27432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000" b="1">
                <a:solidFill>
                  <a:srgbClr val="F27A3D"/>
                </a:solidFill>
                <a:latin typeface="Segoe UI"/>
              </a:rPr>
              <a:t>sí → NUBE</a:t>
            </a:r>
          </a:p>
        </p:txBody>
      </p:sp>
      <p:sp>
        <p:nvSpPr>
          <p:cNvPr id="29" name="Down Arrow 28"/>
          <p:cNvSpPr/>
          <p:nvPr/>
        </p:nvSpPr>
        <p:spPr>
          <a:xfrm>
            <a:off x="8659368" y="4654296"/>
            <a:ext cx="155448" cy="137160"/>
          </a:xfrm>
          <a:prstGeom prst="down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60536" y="4636008"/>
            <a:ext cx="2194560" cy="274320"/>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950" b="1">
                <a:solidFill>
                  <a:srgbClr val="9AA4C0"/>
                </a:solidFill>
                <a:latin typeface="Segoe UI"/>
              </a:rPr>
              <a:t>ligera</a:t>
            </a:r>
          </a:p>
        </p:txBody>
      </p:sp>
      <p:sp>
        <p:nvSpPr>
          <p:cNvPr id="31" name="Diamond 30"/>
          <p:cNvSpPr/>
          <p:nvPr/>
        </p:nvSpPr>
        <p:spPr>
          <a:xfrm>
            <a:off x="7680960" y="4809744"/>
            <a:ext cx="2103120" cy="640080"/>
          </a:xfrm>
          <a:prstGeom prst="diamond">
            <a:avLst/>
          </a:prstGeom>
          <a:solidFill>
            <a:srgbClr val="141C33"/>
          </a:solidFill>
          <a:ln w="15875">
            <a:solidFill>
              <a:srgbClr val="F27A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0" y="4809744"/>
            <a:ext cx="1920239" cy="640080"/>
          </a:xfrm>
          <a:prstGeom prst="rect">
            <a:avLst/>
          </a:prstGeom>
          <a:noFill/>
        </p:spPr>
        <p:txBody>
          <a:bodyPr wrap="square" anchor="ctr" lIns="12700" rIns="12700" tIns="12700" bIns="12700">
            <a:spAutoFit/>
          </a:bodyPr>
          <a:lstStyle/>
          <a:p>
            <a:pPr algn="ctr">
              <a:lnSpc>
                <a:spcPct val="95000"/>
              </a:lnSpc>
              <a:spcBef>
                <a:spcPts val="0"/>
              </a:spcBef>
              <a:spcAft>
                <a:spcPts val="500"/>
              </a:spcAft>
            </a:pPr>
            <a:r>
              <a:rPr sz="1050" b="1">
                <a:solidFill>
                  <a:srgbClr val="F4F6FB"/>
                </a:solidFill>
                <a:latin typeface="Segoe UI"/>
              </a:rPr>
              <a:t>¿entrada &gt; tope?</a:t>
            </a:r>
          </a:p>
        </p:txBody>
      </p:sp>
      <p:sp>
        <p:nvSpPr>
          <p:cNvPr id="33" name="TextBox 32"/>
          <p:cNvSpPr txBox="1"/>
          <p:nvPr/>
        </p:nvSpPr>
        <p:spPr>
          <a:xfrm>
            <a:off x="5989320" y="4992624"/>
            <a:ext cx="1645920" cy="274320"/>
          </a:xfrm>
          <a:prstGeom prst="rect">
            <a:avLst/>
          </a:prstGeom>
          <a:noFill/>
        </p:spPr>
        <p:txBody>
          <a:bodyPr wrap="square" anchor="t" lIns="12700" rIns="12700" tIns="12700" bIns="12700">
            <a:spAutoFit/>
          </a:bodyPr>
          <a:lstStyle/>
          <a:p>
            <a:pPr algn="r">
              <a:lnSpc>
                <a:spcPct val="105000"/>
              </a:lnSpc>
              <a:spcBef>
                <a:spcPts val="0"/>
              </a:spcBef>
              <a:spcAft>
                <a:spcPts val="500"/>
              </a:spcAft>
            </a:pPr>
            <a:r>
              <a:rPr sz="1000" b="1">
                <a:solidFill>
                  <a:srgbClr val="34D3EE"/>
                </a:solidFill>
                <a:latin typeface="Segoe UI"/>
              </a:rPr>
              <a:t>no → LOCAL</a:t>
            </a:r>
          </a:p>
        </p:txBody>
      </p:sp>
      <p:sp>
        <p:nvSpPr>
          <p:cNvPr id="34" name="TextBox 33"/>
          <p:cNvSpPr txBox="1"/>
          <p:nvPr/>
        </p:nvSpPr>
        <p:spPr>
          <a:xfrm>
            <a:off x="9893808" y="4992624"/>
            <a:ext cx="1508760" cy="27432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000" b="1">
                <a:solidFill>
                  <a:srgbClr val="F27A3D"/>
                </a:solidFill>
                <a:latin typeface="Segoe UI"/>
              </a:rPr>
              <a:t>sí → NUBE</a:t>
            </a:r>
          </a:p>
        </p:txBody>
      </p:sp>
      <p:sp>
        <p:nvSpPr>
          <p:cNvPr id="35" name="Rounded Rectangle 34"/>
          <p:cNvSpPr/>
          <p:nvPr/>
        </p:nvSpPr>
        <p:spPr>
          <a:xfrm>
            <a:off x="822960" y="5943600"/>
            <a:ext cx="10561320" cy="566928"/>
          </a:xfrm>
          <a:prstGeom prst="roundRect">
            <a:avLst>
              <a:gd name="adj" fmla="val 10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22960" y="5943600"/>
            <a:ext cx="109728" cy="566928"/>
          </a:xfrm>
          <a:prstGeom prst="rect">
            <a:avLst/>
          </a:prstGeom>
          <a:solidFill>
            <a:srgbClr val="F2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7280" y="5943600"/>
            <a:ext cx="10195560" cy="566928"/>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050" b="1">
                <a:solidFill>
                  <a:srgbClr val="F27A3D"/>
                </a:solidFill>
                <a:latin typeface="Segoe UI"/>
              </a:rPr>
              <a:t>EVIDENCIA  </a:t>
            </a:r>
            <a:r>
              <a:rPr sz="1200" b="0">
                <a:solidFill>
                  <a:srgbClr val="F4F6FB"/>
                </a:solidFill>
                <a:latin typeface="Segoe UI"/>
              </a:rPr>
              <a:t>router.ts — modos local · hybrid · remote; heavy/structured NUNCA degrada a local (error claro &gt; salida basura); route() devuelve provider, fellBack y reason.</a:t>
            </a:r>
          </a:p>
        </p:txBody>
      </p:sp>
      <p:sp>
        <p:nvSpPr>
          <p:cNvPr id="38" name="TextBox 37"/>
          <p:cNvSpPr txBox="1"/>
          <p:nvPr/>
        </p:nvSpPr>
        <p:spPr>
          <a:xfrm>
            <a:off x="11018520" y="6419088"/>
            <a:ext cx="960120" cy="365760"/>
          </a:xfrm>
          <a:prstGeom prst="rect">
            <a:avLst/>
          </a:prstGeom>
          <a:noFill/>
        </p:spPr>
        <p:txBody>
          <a:bodyPr wrap="square" anchor="t" lIns="12700" rIns="12700" tIns="12700" bIns="12700">
            <a:spAutoFit/>
          </a:bodyPr>
          <a:lstStyle/>
          <a:p>
            <a:pPr algn="r">
              <a:lnSpc>
                <a:spcPct val="105000"/>
              </a:lnSpc>
              <a:spcBef>
                <a:spcPts val="0"/>
              </a:spcBef>
              <a:spcAft>
                <a:spcPts val="500"/>
              </a:spcAft>
            </a:pPr>
            <a:r>
              <a:rPr sz="1100" b="1">
                <a:solidFill>
                  <a:srgbClr val="9AA4C0"/>
                </a:solidFill>
                <a:latin typeface="Segoe UI"/>
              </a:rPr>
              <a:t>09</a:t>
            </a:r>
          </a:p>
        </p:txBody>
      </p:sp>
      <p:sp>
        <p:nvSpPr>
          <p:cNvPr id="39" name="Rectangle 38"/>
          <p:cNvSpPr/>
          <p:nvPr/>
        </p:nvSpPr>
        <p:spPr>
          <a:xfrm>
            <a:off x="0" y="6784848"/>
            <a:ext cx="12191695" cy="73152"/>
          </a:xfrm>
          <a:prstGeom prst="rect">
            <a:avLst/>
          </a:prstGeom>
          <a:solidFill>
            <a:srgbClr val="F2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30352"/>
            <a:ext cx="292608" cy="54864"/>
          </a:xfrm>
          <a:prstGeom prst="rect">
            <a:avLst/>
          </a:prstGeom>
          <a:solidFill>
            <a:srgbClr val="E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07008" y="429768"/>
            <a:ext cx="10058400" cy="3657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EF5DA8"/>
                </a:solidFill>
                <a:latin typeface="Segoe UI"/>
              </a:rPr>
              <a:t>INGENIERÍA 5 / 7 · ¿CÓMO ITERA HASTA LOGRARLO?</a:t>
            </a:r>
          </a:p>
        </p:txBody>
      </p:sp>
      <p:sp>
        <p:nvSpPr>
          <p:cNvPr id="5" name="TextBox 4"/>
          <p:cNvSpPr txBox="1"/>
          <p:nvPr/>
        </p:nvSpPr>
        <p:spPr>
          <a:xfrm>
            <a:off x="777240" y="777240"/>
            <a:ext cx="8778240" cy="8229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3000" b="0">
                <a:solidFill>
                  <a:srgbClr val="F4F6FB"/>
                </a:solidFill>
                <a:latin typeface="Segoe UI"/>
              </a:rPr>
              <a:t>🔂  </a:t>
            </a:r>
            <a:r>
              <a:rPr sz="3000" b="1">
                <a:solidFill>
                  <a:srgbClr val="F4F6FB"/>
                </a:solidFill>
                <a:latin typeface="Segoe UI"/>
              </a:rPr>
              <a:t>Loop Engineering</a:t>
            </a:r>
          </a:p>
        </p:txBody>
      </p:sp>
      <p:sp>
        <p:nvSpPr>
          <p:cNvPr id="6" name="Rounded Rectangle 5"/>
          <p:cNvSpPr/>
          <p:nvPr/>
        </p:nvSpPr>
        <p:spPr>
          <a:xfrm>
            <a:off x="822960" y="1572768"/>
            <a:ext cx="10561320" cy="658368"/>
          </a:xfrm>
          <a:prstGeom prst="roundRect">
            <a:avLst>
              <a:gd name="adj" fmla="val 6000"/>
            </a:avLst>
          </a:prstGeom>
          <a:solidFill>
            <a:srgbClr val="10172C"/>
          </a:solidFill>
          <a:ln w="12700">
            <a:solidFill>
              <a:srgbClr val="EF5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572768"/>
            <a:ext cx="10149840" cy="658368"/>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100" b="1">
                <a:solidFill>
                  <a:srgbClr val="EF5DA8"/>
                </a:solidFill>
                <a:latin typeface="Segoe UI"/>
              </a:rPr>
              <a:t>DEFINICIÓN  </a:t>
            </a:r>
            <a:r>
              <a:rPr sz="1250" b="0">
                <a:solidFill>
                  <a:srgbClr val="F4F6FB"/>
                </a:solidFill>
                <a:latin typeface="Segoe UI"/>
              </a:rPr>
              <a:t>Diseñar el ciclo Razonar → Actuar → Observar, repetido hasta la respuesta final — SIEMPRE con un límite duro y un contrato de terminación.</a:t>
            </a:r>
          </a:p>
        </p:txBody>
      </p:sp>
      <p:sp>
        <p:nvSpPr>
          <p:cNvPr id="8" name="TextBox 7"/>
          <p:cNvSpPr txBox="1"/>
          <p:nvPr/>
        </p:nvSpPr>
        <p:spPr>
          <a:xfrm>
            <a:off x="822960" y="2377440"/>
            <a:ext cx="4937760" cy="32004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EF5DA8"/>
                </a:solidFill>
                <a:latin typeface="Segoe UI"/>
              </a:rPr>
              <a:t>PATRÓN GENERAL (replicable)</a:t>
            </a:r>
          </a:p>
        </p:txBody>
      </p:sp>
      <p:sp>
        <p:nvSpPr>
          <p:cNvPr id="9" name="TextBox 8"/>
          <p:cNvSpPr txBox="1"/>
          <p:nvPr/>
        </p:nvSpPr>
        <p:spPr>
          <a:xfrm>
            <a:off x="822960" y="2743200"/>
            <a:ext cx="4937760" cy="2743200"/>
          </a:xfrm>
          <a:prstGeom prst="rect">
            <a:avLst/>
          </a:prstGeom>
          <a:noFill/>
        </p:spPr>
        <p:txBody>
          <a:bodyPr wrap="square" anchor="t" lIns="12700" rIns="12700" tIns="12700" bIns="12700">
            <a:spAutoFit/>
          </a:bodyPr>
          <a:lstStyle/>
          <a:p>
            <a:pPr algn="l">
              <a:lnSpc>
                <a:spcPct val="112000"/>
              </a:lnSpc>
              <a:spcBef>
                <a:spcPts val="0"/>
              </a:spcBef>
              <a:spcAft>
                <a:spcPts val="800"/>
              </a:spcAft>
            </a:pPr>
            <a:r>
              <a:rPr sz="1300" b="1">
                <a:solidFill>
                  <a:srgbClr val="EF5DA8"/>
                </a:solidFill>
                <a:latin typeface="Segoe UI"/>
              </a:rPr>
              <a:t>▸  </a:t>
            </a:r>
            <a:r>
              <a:rPr sz="1250" b="0">
                <a:solidFill>
                  <a:srgbClr val="F4F6FB"/>
                </a:solidFill>
                <a:latin typeface="Segoe UI"/>
              </a:rPr>
              <a:t>Techo de iteraciones: nunca “hasta que termine”</a:t>
            </a:r>
          </a:p>
          <a:p>
            <a:pPr algn="l">
              <a:lnSpc>
                <a:spcPct val="112000"/>
              </a:lnSpc>
              <a:spcBef>
                <a:spcPts val="0"/>
              </a:spcBef>
              <a:spcAft>
                <a:spcPts val="800"/>
              </a:spcAft>
            </a:pPr>
            <a:r>
              <a:rPr sz="1300" b="1">
                <a:solidFill>
                  <a:srgbClr val="EF5DA8"/>
                </a:solidFill>
                <a:latin typeface="Segoe UI"/>
              </a:rPr>
              <a:t>▸  </a:t>
            </a:r>
            <a:r>
              <a:rPr sz="1250" b="0">
                <a:solidFill>
                  <a:srgbClr val="F4F6FB"/>
                </a:solidFill>
                <a:latin typeface="Segoe UI"/>
              </a:rPr>
              <a:t>Contrato por turno: una acción JSON, o el objeto {final}</a:t>
            </a:r>
          </a:p>
          <a:p>
            <a:pPr algn="l">
              <a:lnSpc>
                <a:spcPct val="112000"/>
              </a:lnSpc>
              <a:spcBef>
                <a:spcPts val="0"/>
              </a:spcBef>
              <a:spcAft>
                <a:spcPts val="800"/>
              </a:spcAft>
            </a:pPr>
            <a:r>
              <a:rPr sz="1300" b="1">
                <a:solidFill>
                  <a:srgbClr val="EF5DA8"/>
                </a:solidFill>
                <a:latin typeface="Segoe UI"/>
              </a:rPr>
              <a:t>▸  </a:t>
            </a:r>
            <a:r>
              <a:rPr sz="1250" b="0">
                <a:solidFill>
                  <a:srgbClr val="F4F6FB"/>
                </a:solidFill>
                <a:latin typeface="Segoe UI"/>
              </a:rPr>
              <a:t>Guarda cada paso: acción inválida → mensaje correctivo</a:t>
            </a:r>
          </a:p>
          <a:p>
            <a:pPr algn="l">
              <a:lnSpc>
                <a:spcPct val="112000"/>
              </a:lnSpc>
              <a:spcBef>
                <a:spcPts val="0"/>
              </a:spcBef>
              <a:spcAft>
                <a:spcPts val="800"/>
              </a:spcAft>
            </a:pPr>
            <a:r>
              <a:rPr sz="1300" b="1">
                <a:solidFill>
                  <a:srgbClr val="EF5DA8"/>
                </a:solidFill>
                <a:latin typeface="Segoe UI"/>
              </a:rPr>
              <a:t>▸  </a:t>
            </a:r>
            <a:r>
              <a:rPr sz="1250" b="0">
                <a:solidFill>
                  <a:srgbClr val="F4F6FB"/>
                </a:solidFill>
                <a:latin typeface="Segoe UI"/>
              </a:rPr>
              <a:t>Encadena la observación de vuelta al modelo; cierra explícito</a:t>
            </a:r>
          </a:p>
        </p:txBody>
      </p:sp>
      <p:sp>
        <p:nvSpPr>
          <p:cNvPr id="10" name="TextBox 9"/>
          <p:cNvSpPr txBox="1"/>
          <p:nvPr/>
        </p:nvSpPr>
        <p:spPr>
          <a:xfrm>
            <a:off x="6126480" y="2331720"/>
            <a:ext cx="5212080" cy="32004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EF5DA8"/>
                </a:solidFill>
                <a:latin typeface="Segoe UI"/>
              </a:rPr>
              <a:t>BUCLE ReAct  ·  máx. 5 turnos</a:t>
            </a:r>
          </a:p>
        </p:txBody>
      </p:sp>
      <p:sp>
        <p:nvSpPr>
          <p:cNvPr id="11" name="Rounded Rectangle 10"/>
          <p:cNvSpPr/>
          <p:nvPr/>
        </p:nvSpPr>
        <p:spPr>
          <a:xfrm>
            <a:off x="7818120" y="2743200"/>
            <a:ext cx="1920240" cy="502920"/>
          </a:xfrm>
          <a:prstGeom prst="roundRect">
            <a:avLst>
              <a:gd name="adj" fmla="val 12000"/>
            </a:avLst>
          </a:prstGeom>
          <a:solidFill>
            <a:srgbClr val="141C33"/>
          </a:solidFill>
          <a:ln w="15875">
            <a:solidFill>
              <a:srgbClr val="EF5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2743200"/>
            <a:ext cx="1920240" cy="502920"/>
          </a:xfrm>
          <a:prstGeom prst="rect">
            <a:avLst/>
          </a:prstGeom>
          <a:noFill/>
        </p:spPr>
        <p:txBody>
          <a:bodyPr wrap="square" anchor="ctr" lIns="12700" rIns="12700" tIns="12700" bIns="12700">
            <a:spAutoFit/>
          </a:bodyPr>
          <a:lstStyle/>
          <a:p>
            <a:pPr algn="ctr">
              <a:lnSpc>
                <a:spcPct val="105000"/>
              </a:lnSpc>
              <a:spcBef>
                <a:spcPts val="0"/>
              </a:spcBef>
              <a:spcAft>
                <a:spcPts val="500"/>
              </a:spcAft>
            </a:pPr>
            <a:r>
              <a:rPr sz="1250" b="1">
                <a:solidFill>
                  <a:srgbClr val="F4F6FB"/>
                </a:solidFill>
                <a:latin typeface="Segoe UI"/>
              </a:rPr>
              <a:t>🧠 Razonar</a:t>
            </a:r>
          </a:p>
        </p:txBody>
      </p:sp>
      <p:sp>
        <p:nvSpPr>
          <p:cNvPr id="13" name="Right Arrow 12"/>
          <p:cNvSpPr/>
          <p:nvPr/>
        </p:nvSpPr>
        <p:spPr>
          <a:xfrm>
            <a:off x="9784080" y="2926080"/>
            <a:ext cx="0" cy="155448"/>
          </a:xfrm>
          <a:prstGeom prst="right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646920" y="3429000"/>
            <a:ext cx="1737360" cy="548640"/>
          </a:xfrm>
          <a:prstGeom prst="roundRect">
            <a:avLst>
              <a:gd name="adj" fmla="val 12000"/>
            </a:avLst>
          </a:prstGeom>
          <a:solidFill>
            <a:srgbClr val="141C33"/>
          </a:solidFill>
          <a:ln w="15875">
            <a:solidFill>
              <a:srgbClr val="EF5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01784" y="3429000"/>
            <a:ext cx="1627631" cy="548640"/>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250" b="1">
                <a:solidFill>
                  <a:srgbClr val="F4F6FB"/>
                </a:solidFill>
                <a:latin typeface="Segoe UI"/>
              </a:rPr>
              <a:t>⚙ Acción</a:t>
            </a:r>
          </a:p>
          <a:p>
            <a:pPr algn="ctr">
              <a:lnSpc>
                <a:spcPct val="100000"/>
              </a:lnSpc>
              <a:spcBef>
                <a:spcPts val="0"/>
              </a:spcBef>
              <a:spcAft>
                <a:spcPts val="100"/>
              </a:spcAft>
            </a:pPr>
            <a:r>
              <a:rPr sz="1000" b="0">
                <a:solidFill>
                  <a:srgbClr val="9AA4C0"/>
                </a:solidFill>
                <a:latin typeface="Segoe UI"/>
              </a:rPr>
              <a:t>1 JSON</a:t>
            </a:r>
          </a:p>
        </p:txBody>
      </p:sp>
      <p:sp>
        <p:nvSpPr>
          <p:cNvPr id="16" name="Rounded Rectangle 15"/>
          <p:cNvSpPr/>
          <p:nvPr/>
        </p:nvSpPr>
        <p:spPr>
          <a:xfrm>
            <a:off x="7818120" y="4251960"/>
            <a:ext cx="1920240" cy="548640"/>
          </a:xfrm>
          <a:prstGeom prst="roundRect">
            <a:avLst>
              <a:gd name="adj" fmla="val 12000"/>
            </a:avLst>
          </a:prstGeom>
          <a:solidFill>
            <a:srgbClr val="141C33"/>
          </a:solidFill>
          <a:ln w="15875">
            <a:solidFill>
              <a:srgbClr val="EF5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72984" y="4251960"/>
            <a:ext cx="1810512" cy="548640"/>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250" b="1">
                <a:solidFill>
                  <a:srgbClr val="F4F6FB"/>
                </a:solidFill>
                <a:latin typeface="Segoe UI"/>
              </a:rPr>
              <a:t>👁 Observación</a:t>
            </a:r>
          </a:p>
          <a:p>
            <a:pPr algn="ctr">
              <a:lnSpc>
                <a:spcPct val="100000"/>
              </a:lnSpc>
              <a:spcBef>
                <a:spcPts val="0"/>
              </a:spcBef>
              <a:spcAft>
                <a:spcPts val="100"/>
              </a:spcAft>
            </a:pPr>
            <a:r>
              <a:rPr sz="1000" b="0">
                <a:solidFill>
                  <a:srgbClr val="9AA4C0"/>
                </a:solidFill>
                <a:latin typeface="Segoe UI"/>
              </a:rPr>
              <a:t>resultado tool</a:t>
            </a:r>
          </a:p>
        </p:txBody>
      </p:sp>
      <p:sp>
        <p:nvSpPr>
          <p:cNvPr id="18" name="Rounded Rectangle 17"/>
          <p:cNvSpPr/>
          <p:nvPr/>
        </p:nvSpPr>
        <p:spPr>
          <a:xfrm>
            <a:off x="6172200" y="3429000"/>
            <a:ext cx="1417320" cy="548640"/>
          </a:xfrm>
          <a:prstGeom prst="roundRect">
            <a:avLst>
              <a:gd name="adj" fmla="val 12000"/>
            </a:avLst>
          </a:prstGeom>
          <a:solidFill>
            <a:srgbClr val="141C33"/>
          </a:solidFill>
          <a:ln w="15875">
            <a:solidFill>
              <a:srgbClr val="3FD0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7064" y="3429000"/>
            <a:ext cx="1307592" cy="548640"/>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250" b="1">
                <a:solidFill>
                  <a:srgbClr val="F4F6FB"/>
                </a:solidFill>
                <a:latin typeface="Segoe UI"/>
              </a:rPr>
              <a:t>✅ {final}</a:t>
            </a:r>
          </a:p>
          <a:p>
            <a:pPr algn="ctr">
              <a:lnSpc>
                <a:spcPct val="100000"/>
              </a:lnSpc>
              <a:spcBef>
                <a:spcPts val="0"/>
              </a:spcBef>
              <a:spcAft>
                <a:spcPts val="100"/>
              </a:spcAft>
            </a:pPr>
            <a:r>
              <a:rPr sz="1000" b="0">
                <a:solidFill>
                  <a:srgbClr val="9AA4C0"/>
                </a:solidFill>
                <a:latin typeface="Segoe UI"/>
              </a:rPr>
              <a:t>salida</a:t>
            </a:r>
          </a:p>
        </p:txBody>
      </p:sp>
      <p:sp>
        <p:nvSpPr>
          <p:cNvPr id="20" name="Down Arrow 19"/>
          <p:cNvSpPr/>
          <p:nvPr/>
        </p:nvSpPr>
        <p:spPr>
          <a:xfrm>
            <a:off x="8732520" y="3264408"/>
            <a:ext cx="155448" cy="146304"/>
          </a:xfrm>
          <a:prstGeom prst="down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Arrow 20"/>
          <p:cNvSpPr/>
          <p:nvPr/>
        </p:nvSpPr>
        <p:spPr>
          <a:xfrm>
            <a:off x="8732520" y="3675887"/>
            <a:ext cx="868680" cy="146304"/>
          </a:xfrm>
          <a:prstGeom prst="rightArrow">
            <a:avLst/>
          </a:prstGeom>
          <a:solidFill>
            <a:srgbClr val="E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10469880" y="3995928"/>
            <a:ext cx="155448" cy="256032"/>
          </a:xfrm>
          <a:prstGeom prst="down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ft Arrow 22"/>
          <p:cNvSpPr/>
          <p:nvPr/>
        </p:nvSpPr>
        <p:spPr>
          <a:xfrm>
            <a:off x="8778240" y="4453128"/>
            <a:ext cx="914400" cy="146304"/>
          </a:xfrm>
          <a:prstGeom prst="leftArrow">
            <a:avLst/>
          </a:prstGeom>
          <a:solidFill>
            <a:srgbClr val="E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Up Arrow 23"/>
          <p:cNvSpPr/>
          <p:nvPr/>
        </p:nvSpPr>
        <p:spPr>
          <a:xfrm>
            <a:off x="7644383" y="3310128"/>
            <a:ext cx="137160" cy="1051560"/>
          </a:xfrm>
          <a:prstGeom prst="up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0" y="3566160"/>
            <a:ext cx="1280160" cy="320040"/>
          </a:xfrm>
          <a:prstGeom prst="rect">
            <a:avLst/>
          </a:prstGeom>
          <a:noFill/>
        </p:spPr>
        <p:txBody>
          <a:bodyPr wrap="square" anchor="t" lIns="12700" rIns="12700" tIns="12700" bIns="12700">
            <a:spAutoFit/>
          </a:bodyPr>
          <a:lstStyle/>
          <a:p>
            <a:pPr algn="ctr">
              <a:lnSpc>
                <a:spcPct val="105000"/>
              </a:lnSpc>
              <a:spcBef>
                <a:spcPts val="0"/>
              </a:spcBef>
              <a:spcAft>
                <a:spcPts val="500"/>
              </a:spcAft>
            </a:pPr>
            <a:r>
              <a:rPr sz="950" b="1">
                <a:solidFill>
                  <a:srgbClr val="9AA4C0"/>
                </a:solidFill>
                <a:latin typeface="Segoe UI"/>
              </a:rPr>
              <a:t>↻ repite (≤5)</a:t>
            </a:r>
          </a:p>
        </p:txBody>
      </p:sp>
      <p:sp>
        <p:nvSpPr>
          <p:cNvPr id="26" name="Left Arrow 25"/>
          <p:cNvSpPr/>
          <p:nvPr/>
        </p:nvSpPr>
        <p:spPr>
          <a:xfrm>
            <a:off x="7589520" y="2944368"/>
            <a:ext cx="822960" cy="146304"/>
          </a:xfrm>
          <a:prstGeom prst="leftArrow">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22960" y="5166360"/>
            <a:ext cx="10561320" cy="566928"/>
          </a:xfrm>
          <a:prstGeom prst="roundRect">
            <a:avLst>
              <a:gd name="adj" fmla="val 10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60" y="5166360"/>
            <a:ext cx="109728" cy="566928"/>
          </a:xfrm>
          <a:prstGeom prst="rect">
            <a:avLst/>
          </a:prstGeom>
          <a:solidFill>
            <a:srgbClr val="E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7280" y="5166360"/>
            <a:ext cx="10195560" cy="566928"/>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050" b="1">
                <a:solidFill>
                  <a:srgbClr val="EF5DA8"/>
                </a:solidFill>
                <a:latin typeface="Segoe UI"/>
              </a:rPr>
              <a:t>EVIDENCIA  </a:t>
            </a:r>
            <a:r>
              <a:rPr sz="1200" b="0">
                <a:solidFill>
                  <a:srgbClr val="F4F6FB"/>
                </a:solidFill>
                <a:latin typeface="Segoe UI"/>
              </a:rPr>
              <a:t>litert-agent.ts — const MAX_TURNS = 5; el modelo emite 1 acción/turno; cierra con {"final":"…"}; si el JSON es ilegible, extractField rescata la respuesta.</a:t>
            </a:r>
          </a:p>
        </p:txBody>
      </p:sp>
      <p:sp>
        <p:nvSpPr>
          <p:cNvPr id="30" name="TextBox 29"/>
          <p:cNvSpPr txBox="1"/>
          <p:nvPr/>
        </p:nvSpPr>
        <p:spPr>
          <a:xfrm>
            <a:off x="11018520" y="6419088"/>
            <a:ext cx="960120" cy="365760"/>
          </a:xfrm>
          <a:prstGeom prst="rect">
            <a:avLst/>
          </a:prstGeom>
          <a:noFill/>
        </p:spPr>
        <p:txBody>
          <a:bodyPr wrap="square" anchor="t" lIns="12700" rIns="12700" tIns="12700" bIns="12700">
            <a:spAutoFit/>
          </a:bodyPr>
          <a:lstStyle/>
          <a:p>
            <a:pPr algn="r">
              <a:lnSpc>
                <a:spcPct val="105000"/>
              </a:lnSpc>
              <a:spcBef>
                <a:spcPts val="0"/>
              </a:spcBef>
              <a:spcAft>
                <a:spcPts val="500"/>
              </a:spcAft>
            </a:pPr>
            <a:r>
              <a:rPr sz="1100" b="1">
                <a:solidFill>
                  <a:srgbClr val="9AA4C0"/>
                </a:solidFill>
                <a:latin typeface="Segoe UI"/>
              </a:rPr>
              <a:t>10</a:t>
            </a:r>
          </a:p>
        </p:txBody>
      </p:sp>
      <p:sp>
        <p:nvSpPr>
          <p:cNvPr id="31" name="Rectangle 30"/>
          <p:cNvSpPr/>
          <p:nvPr/>
        </p:nvSpPr>
        <p:spPr>
          <a:xfrm>
            <a:off x="0" y="6784848"/>
            <a:ext cx="12191695" cy="73152"/>
          </a:xfrm>
          <a:prstGeom prst="rect">
            <a:avLst/>
          </a:prstGeom>
          <a:solidFill>
            <a:srgbClr val="E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30352"/>
            <a:ext cx="292608" cy="54864"/>
          </a:xfrm>
          <a:prstGeom prst="rect">
            <a:avLst/>
          </a:prstGeom>
          <a:solidFill>
            <a:srgbClr val="9B8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07008" y="429768"/>
            <a:ext cx="10058400" cy="3657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9B8BF0"/>
                </a:solidFill>
                <a:latin typeface="Segoe UI"/>
              </a:rPr>
              <a:t>INGENIERÍA 6 / 7 · ¿CUÁNDO ENTRA EL HUMANO?</a:t>
            </a:r>
          </a:p>
        </p:txBody>
      </p:sp>
      <p:sp>
        <p:nvSpPr>
          <p:cNvPr id="5" name="TextBox 4"/>
          <p:cNvSpPr txBox="1"/>
          <p:nvPr/>
        </p:nvSpPr>
        <p:spPr>
          <a:xfrm>
            <a:off x="777240" y="777240"/>
            <a:ext cx="8778240" cy="8229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3000" b="0">
                <a:solidFill>
                  <a:srgbClr val="F4F6FB"/>
                </a:solidFill>
                <a:latin typeface="Segoe UI"/>
              </a:rPr>
              <a:t>🔁  </a:t>
            </a:r>
            <a:r>
              <a:rPr sz="3000" b="1">
                <a:solidFill>
                  <a:srgbClr val="F4F6FB"/>
                </a:solidFill>
                <a:latin typeface="Segoe UI"/>
              </a:rPr>
              <a:t>Human-in-the-Loop</a:t>
            </a:r>
          </a:p>
        </p:txBody>
      </p:sp>
      <p:sp>
        <p:nvSpPr>
          <p:cNvPr id="6" name="Rounded Rectangle 5"/>
          <p:cNvSpPr/>
          <p:nvPr/>
        </p:nvSpPr>
        <p:spPr>
          <a:xfrm>
            <a:off x="822960" y="1572768"/>
            <a:ext cx="10561320" cy="658368"/>
          </a:xfrm>
          <a:prstGeom prst="roundRect">
            <a:avLst>
              <a:gd name="adj" fmla="val 6000"/>
            </a:avLst>
          </a:prstGeom>
          <a:solidFill>
            <a:srgbClr val="10172C"/>
          </a:solidFill>
          <a:ln w="12700">
            <a:solidFill>
              <a:srgbClr val="9B8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572768"/>
            <a:ext cx="10149840" cy="658368"/>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100" b="1">
                <a:solidFill>
                  <a:srgbClr val="9B8BF0"/>
                </a:solidFill>
                <a:latin typeface="Segoe UI"/>
              </a:rPr>
              <a:t>DEFINICIÓN  </a:t>
            </a:r>
            <a:r>
              <a:rPr sz="1250" b="0">
                <a:solidFill>
                  <a:srgbClr val="F4F6FB"/>
                </a:solidFill>
                <a:latin typeface="Segoe UI"/>
              </a:rPr>
              <a:t>Definir los puntos de control donde una persona valida antes de que la acción surta efecto. El agente propone; la persona dispone. Autonomía con frenos.</a:t>
            </a:r>
          </a:p>
        </p:txBody>
      </p:sp>
      <p:sp>
        <p:nvSpPr>
          <p:cNvPr id="8" name="TextBox 7"/>
          <p:cNvSpPr txBox="1"/>
          <p:nvPr/>
        </p:nvSpPr>
        <p:spPr>
          <a:xfrm>
            <a:off x="822960" y="2377440"/>
            <a:ext cx="4937760" cy="32004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9B8BF0"/>
                </a:solidFill>
                <a:latin typeface="Segoe UI"/>
              </a:rPr>
              <a:t>PATRÓN GENERAL (replicable)</a:t>
            </a:r>
          </a:p>
        </p:txBody>
      </p:sp>
      <p:sp>
        <p:nvSpPr>
          <p:cNvPr id="9" name="TextBox 8"/>
          <p:cNvSpPr txBox="1"/>
          <p:nvPr/>
        </p:nvSpPr>
        <p:spPr>
          <a:xfrm>
            <a:off x="822960" y="2743200"/>
            <a:ext cx="4937760" cy="2743200"/>
          </a:xfrm>
          <a:prstGeom prst="rect">
            <a:avLst/>
          </a:prstGeom>
          <a:noFill/>
        </p:spPr>
        <p:txBody>
          <a:bodyPr wrap="square" anchor="t" lIns="12700" rIns="12700" tIns="12700" bIns="12700">
            <a:spAutoFit/>
          </a:bodyPr>
          <a:lstStyle/>
          <a:p>
            <a:pPr algn="l">
              <a:lnSpc>
                <a:spcPct val="112000"/>
              </a:lnSpc>
              <a:spcBef>
                <a:spcPts val="0"/>
              </a:spcBef>
              <a:spcAft>
                <a:spcPts val="800"/>
              </a:spcAft>
            </a:pPr>
            <a:r>
              <a:rPr sz="1300" b="1">
                <a:solidFill>
                  <a:srgbClr val="9B8BF0"/>
                </a:solidFill>
                <a:latin typeface="Segoe UI"/>
              </a:rPr>
              <a:t>▸  </a:t>
            </a:r>
            <a:r>
              <a:rPr sz="1250" b="0">
                <a:solidFill>
                  <a:srgbClr val="F4F6FB"/>
                </a:solidFill>
                <a:latin typeface="Segoe UI"/>
              </a:rPr>
              <a:t>Dibuja la frontera: el agente NO muta el estado crítico</a:t>
            </a:r>
          </a:p>
          <a:p>
            <a:pPr algn="l">
              <a:lnSpc>
                <a:spcPct val="112000"/>
              </a:lnSpc>
              <a:spcBef>
                <a:spcPts val="0"/>
              </a:spcBef>
              <a:spcAft>
                <a:spcPts val="800"/>
              </a:spcAft>
            </a:pPr>
            <a:r>
              <a:rPr sz="1300" b="1">
                <a:solidFill>
                  <a:srgbClr val="9B8BF0"/>
                </a:solidFill>
                <a:latin typeface="Segoe UI"/>
              </a:rPr>
              <a:t>▸  </a:t>
            </a:r>
            <a:r>
              <a:rPr sz="1250" b="0">
                <a:solidFill>
                  <a:srgbClr val="F4F6FB"/>
                </a:solidFill>
                <a:latin typeface="Segoe UI"/>
              </a:rPr>
              <a:t>Salidas revisables: artefactos versionados y borrables</a:t>
            </a:r>
          </a:p>
          <a:p>
            <a:pPr algn="l">
              <a:lnSpc>
                <a:spcPct val="112000"/>
              </a:lnSpc>
              <a:spcBef>
                <a:spcPts val="0"/>
              </a:spcBef>
              <a:spcAft>
                <a:spcPts val="800"/>
              </a:spcAft>
            </a:pPr>
            <a:r>
              <a:rPr sz="1300" b="1">
                <a:solidFill>
                  <a:srgbClr val="9B8BF0"/>
                </a:solidFill>
                <a:latin typeface="Segoe UI"/>
              </a:rPr>
              <a:t>▸  </a:t>
            </a:r>
            <a:r>
              <a:rPr sz="1250" b="0">
                <a:solidFill>
                  <a:srgbClr val="F4F6FB"/>
                </a:solidFill>
                <a:latin typeface="Segoe UI"/>
              </a:rPr>
              <a:t>La incorporación al dominio es una acción explícita del usuario</a:t>
            </a:r>
          </a:p>
          <a:p>
            <a:pPr algn="l">
              <a:lnSpc>
                <a:spcPct val="112000"/>
              </a:lnSpc>
              <a:spcBef>
                <a:spcPts val="0"/>
              </a:spcBef>
              <a:spcAft>
                <a:spcPts val="800"/>
              </a:spcAft>
            </a:pPr>
            <a:r>
              <a:rPr sz="1300" b="1">
                <a:solidFill>
                  <a:srgbClr val="9B8BF0"/>
                </a:solidFill>
                <a:latin typeface="Segoe UI"/>
              </a:rPr>
              <a:t>▸  </a:t>
            </a:r>
            <a:r>
              <a:rPr sz="1250" b="0">
                <a:solidFill>
                  <a:srgbClr val="F4F6FB"/>
                </a:solidFill>
                <a:latin typeface="Segoe UI"/>
              </a:rPr>
              <a:t>Combínalo con redes de seguridad: doble protección</a:t>
            </a:r>
          </a:p>
        </p:txBody>
      </p:sp>
      <p:sp>
        <p:nvSpPr>
          <p:cNvPr id="10" name="TextBox 9"/>
          <p:cNvSpPr txBox="1"/>
          <p:nvPr/>
        </p:nvSpPr>
        <p:spPr>
          <a:xfrm>
            <a:off x="6126480" y="2331720"/>
            <a:ext cx="5212080" cy="32004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9B8BF0"/>
                </a:solidFill>
                <a:latin typeface="Segoe UI"/>
              </a:rPr>
              <a:t>LA COMPUERTA HUMANA</a:t>
            </a:r>
          </a:p>
        </p:txBody>
      </p:sp>
      <p:sp>
        <p:nvSpPr>
          <p:cNvPr id="11" name="Rounded Rectangle 10"/>
          <p:cNvSpPr/>
          <p:nvPr/>
        </p:nvSpPr>
        <p:spPr>
          <a:xfrm>
            <a:off x="6172200" y="2788920"/>
            <a:ext cx="2148840" cy="685800"/>
          </a:xfrm>
          <a:prstGeom prst="roundRect">
            <a:avLst>
              <a:gd name="adj" fmla="val 12000"/>
            </a:avLst>
          </a:prstGeom>
          <a:solidFill>
            <a:srgbClr val="141C33"/>
          </a:solidFill>
          <a:ln w="15875">
            <a:solidFill>
              <a:srgbClr val="9B8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7064" y="2788920"/>
            <a:ext cx="2039112" cy="685800"/>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250" b="1">
                <a:solidFill>
                  <a:srgbClr val="F4F6FB"/>
                </a:solidFill>
                <a:latin typeface="Segoe UI"/>
              </a:rPr>
              <a:t>🤖 Agente</a:t>
            </a:r>
          </a:p>
          <a:p>
            <a:pPr algn="ctr">
              <a:lnSpc>
                <a:spcPct val="100000"/>
              </a:lnSpc>
              <a:spcBef>
                <a:spcPts val="0"/>
              </a:spcBef>
              <a:spcAft>
                <a:spcPts val="100"/>
              </a:spcAft>
            </a:pPr>
            <a:r>
              <a:rPr sz="1000" b="0">
                <a:solidFill>
                  <a:srgbClr val="9AA4C0"/>
                </a:solidFill>
                <a:latin typeface="Segoe UI"/>
              </a:rPr>
              <a:t>lee y PROPONE</a:t>
            </a:r>
          </a:p>
        </p:txBody>
      </p:sp>
      <p:sp>
        <p:nvSpPr>
          <p:cNvPr id="13" name="Right Arrow 12"/>
          <p:cNvSpPr/>
          <p:nvPr/>
        </p:nvSpPr>
        <p:spPr>
          <a:xfrm>
            <a:off x="8394192" y="3054096"/>
            <a:ext cx="365760" cy="155448"/>
          </a:xfrm>
          <a:prstGeom prst="rightArrow">
            <a:avLst/>
          </a:prstGeom>
          <a:solidFill>
            <a:srgbClr val="9B8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823960" y="2788920"/>
            <a:ext cx="2560320" cy="685800"/>
          </a:xfrm>
          <a:prstGeom prst="roundRect">
            <a:avLst>
              <a:gd name="adj" fmla="val 12000"/>
            </a:avLst>
          </a:prstGeom>
          <a:solidFill>
            <a:srgbClr val="141C33"/>
          </a:solidFill>
          <a:ln w="15875">
            <a:solidFill>
              <a:srgbClr val="9B8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78824" y="2788920"/>
            <a:ext cx="2450591" cy="685800"/>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250" b="1">
                <a:solidFill>
                  <a:srgbClr val="F4F6FB"/>
                </a:solidFill>
                <a:latin typeface="Segoe UI"/>
              </a:rPr>
              <a:t>📄 Artefacto</a:t>
            </a:r>
          </a:p>
          <a:p>
            <a:pPr algn="ctr">
              <a:lnSpc>
                <a:spcPct val="100000"/>
              </a:lnSpc>
              <a:spcBef>
                <a:spcPts val="0"/>
              </a:spcBef>
              <a:spcAft>
                <a:spcPts val="100"/>
              </a:spcAft>
            </a:pPr>
            <a:r>
              <a:rPr sz="1000" b="0">
                <a:solidFill>
                  <a:srgbClr val="9AA4C0"/>
                </a:solidFill>
                <a:latin typeface="Segoe UI"/>
              </a:rPr>
              <a:t>md / diagrama · versionado</a:t>
            </a:r>
          </a:p>
        </p:txBody>
      </p:sp>
      <p:sp>
        <p:nvSpPr>
          <p:cNvPr id="16" name="Down Arrow 15"/>
          <p:cNvSpPr/>
          <p:nvPr/>
        </p:nvSpPr>
        <p:spPr>
          <a:xfrm>
            <a:off x="10058400" y="3502152"/>
            <a:ext cx="155448" cy="274320"/>
          </a:xfrm>
          <a:prstGeom prst="down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mond 16"/>
          <p:cNvSpPr/>
          <p:nvPr/>
        </p:nvSpPr>
        <p:spPr>
          <a:xfrm>
            <a:off x="8549640" y="3840480"/>
            <a:ext cx="2834640" cy="914400"/>
          </a:xfrm>
          <a:prstGeom prst="diamond">
            <a:avLst/>
          </a:prstGeom>
          <a:solidFill>
            <a:srgbClr val="141C33"/>
          </a:solidFill>
          <a:ln w="15875">
            <a:solidFill>
              <a:srgbClr val="9B8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3840480"/>
            <a:ext cx="2651760" cy="914400"/>
          </a:xfrm>
          <a:prstGeom prst="rect">
            <a:avLst/>
          </a:prstGeom>
          <a:noFill/>
        </p:spPr>
        <p:txBody>
          <a:bodyPr wrap="square" anchor="ctr" lIns="12700" rIns="12700" tIns="12700" bIns="12700">
            <a:spAutoFit/>
          </a:bodyPr>
          <a:lstStyle/>
          <a:p>
            <a:pPr algn="ctr">
              <a:lnSpc>
                <a:spcPct val="95000"/>
              </a:lnSpc>
              <a:spcBef>
                <a:spcPts val="0"/>
              </a:spcBef>
              <a:spcAft>
                <a:spcPts val="500"/>
              </a:spcAft>
            </a:pPr>
            <a:r>
              <a:rPr sz="1050" b="1">
                <a:solidFill>
                  <a:srgbClr val="F4F6FB"/>
                </a:solidFill>
                <a:latin typeface="Segoe UI"/>
              </a:rPr>
              <a:t>¿el usuario aprueba?</a:t>
            </a:r>
          </a:p>
        </p:txBody>
      </p:sp>
      <p:sp>
        <p:nvSpPr>
          <p:cNvPr id="19" name="Rounded Rectangle 18"/>
          <p:cNvSpPr/>
          <p:nvPr/>
        </p:nvSpPr>
        <p:spPr>
          <a:xfrm>
            <a:off x="6172200" y="4114800"/>
            <a:ext cx="2148840" cy="640080"/>
          </a:xfrm>
          <a:prstGeom prst="roundRect">
            <a:avLst>
              <a:gd name="adj" fmla="val 12000"/>
            </a:avLst>
          </a:prstGeom>
          <a:solidFill>
            <a:srgbClr val="141C33"/>
          </a:solidFill>
          <a:ln w="15875">
            <a:solidFill>
              <a:srgbClr val="3FD0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27064" y="4114800"/>
            <a:ext cx="2039112" cy="640080"/>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250" b="1">
                <a:solidFill>
                  <a:srgbClr val="F4F6FB"/>
                </a:solidFill>
                <a:latin typeface="Segoe UI"/>
              </a:rPr>
              <a:t>✔ Aceptar</a:t>
            </a:r>
          </a:p>
          <a:p>
            <a:pPr algn="ctr">
              <a:lnSpc>
                <a:spcPct val="100000"/>
              </a:lnSpc>
              <a:spcBef>
                <a:spcPts val="0"/>
              </a:spcBef>
              <a:spcAft>
                <a:spcPts val="100"/>
              </a:spcAft>
            </a:pPr>
            <a:r>
              <a:rPr sz="1000" b="0">
                <a:solidFill>
                  <a:srgbClr val="9AA4C0"/>
                </a:solidFill>
                <a:latin typeface="Segoe UI"/>
              </a:rPr>
              <a:t>entra al dominio</a:t>
            </a:r>
          </a:p>
        </p:txBody>
      </p:sp>
      <p:sp>
        <p:nvSpPr>
          <p:cNvPr id="21" name="Rounded Rectangle 20"/>
          <p:cNvSpPr/>
          <p:nvPr/>
        </p:nvSpPr>
        <p:spPr>
          <a:xfrm>
            <a:off x="6172200" y="4892040"/>
            <a:ext cx="2148840" cy="640080"/>
          </a:xfrm>
          <a:prstGeom prst="roundRect">
            <a:avLst>
              <a:gd name="adj" fmla="val 12000"/>
            </a:avLst>
          </a:prstGeom>
          <a:solidFill>
            <a:srgbClr val="141C33"/>
          </a:solidFill>
          <a:ln w="15875">
            <a:solidFill>
              <a:srgbClr val="F0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27064" y="4892040"/>
            <a:ext cx="2039112" cy="640080"/>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250" b="1">
                <a:solidFill>
                  <a:srgbClr val="F4F6FB"/>
                </a:solidFill>
                <a:latin typeface="Segoe UI"/>
              </a:rPr>
              <a:t>✘ Descartar</a:t>
            </a:r>
          </a:p>
          <a:p>
            <a:pPr algn="ctr">
              <a:lnSpc>
                <a:spcPct val="100000"/>
              </a:lnSpc>
              <a:spcBef>
                <a:spcPts val="0"/>
              </a:spcBef>
              <a:spcAft>
                <a:spcPts val="100"/>
              </a:spcAft>
            </a:pPr>
            <a:r>
              <a:rPr sz="1000" b="0">
                <a:solidFill>
                  <a:srgbClr val="9AA4C0"/>
                </a:solidFill>
                <a:latin typeface="Segoe UI"/>
              </a:rPr>
              <a:t>no pasa nada</a:t>
            </a:r>
          </a:p>
        </p:txBody>
      </p:sp>
      <p:sp>
        <p:nvSpPr>
          <p:cNvPr id="23" name="Left Arrow 22"/>
          <p:cNvSpPr/>
          <p:nvPr/>
        </p:nvSpPr>
        <p:spPr>
          <a:xfrm>
            <a:off x="8321040" y="4224528"/>
            <a:ext cx="274320" cy="146304"/>
          </a:xfrm>
          <a:prstGeom prst="leftArrow">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49640" y="4800600"/>
            <a:ext cx="2834640" cy="274320"/>
          </a:xfrm>
          <a:prstGeom prst="rect">
            <a:avLst/>
          </a:prstGeom>
          <a:noFill/>
        </p:spPr>
        <p:txBody>
          <a:bodyPr wrap="square" anchor="t" lIns="12700" rIns="12700" tIns="12700" bIns="12700">
            <a:spAutoFit/>
          </a:bodyPr>
          <a:lstStyle/>
          <a:p>
            <a:pPr algn="ctr">
              <a:lnSpc>
                <a:spcPct val="105000"/>
              </a:lnSpc>
              <a:spcBef>
                <a:spcPts val="0"/>
              </a:spcBef>
              <a:spcAft>
                <a:spcPts val="500"/>
              </a:spcAft>
            </a:pPr>
            <a:r>
              <a:rPr sz="1000" b="1">
                <a:solidFill>
                  <a:srgbClr val="9AA4C0"/>
                </a:solidFill>
                <a:latin typeface="Segoe UI"/>
              </a:rPr>
              <a:t>sí ↑ inserta   ·   no ↓ elimina</a:t>
            </a:r>
          </a:p>
        </p:txBody>
      </p:sp>
      <p:sp>
        <p:nvSpPr>
          <p:cNvPr id="25" name="Rectangle 24"/>
          <p:cNvSpPr/>
          <p:nvPr/>
        </p:nvSpPr>
        <p:spPr>
          <a:xfrm>
            <a:off x="6172200" y="5669280"/>
            <a:ext cx="5212080" cy="0"/>
          </a:xfrm>
          <a:prstGeom prst="rect">
            <a:avLst/>
          </a:prstGeom>
          <a:solidFill>
            <a:srgbClr val="9B8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22960" y="5943600"/>
            <a:ext cx="10561320" cy="566928"/>
          </a:xfrm>
          <a:prstGeom prst="roundRect">
            <a:avLst>
              <a:gd name="adj" fmla="val 10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5943600"/>
            <a:ext cx="109728" cy="566928"/>
          </a:xfrm>
          <a:prstGeom prst="rect">
            <a:avLst/>
          </a:prstGeom>
          <a:solidFill>
            <a:srgbClr val="9B8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5943600"/>
            <a:ext cx="10195560" cy="566928"/>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050" b="1">
                <a:solidFill>
                  <a:srgbClr val="9B8BF0"/>
                </a:solidFill>
                <a:latin typeface="Segoe UI"/>
              </a:rPr>
              <a:t>EVIDENCIA  </a:t>
            </a:r>
            <a:r>
              <a:rPr sz="1200" b="0">
                <a:solidFill>
                  <a:srgbClr val="F4F6FB"/>
                </a:solidFill>
                <a:latin typeface="Segoe UI"/>
              </a:rPr>
              <a:t>litert-agent.ts — el agente NO edita el lienzo: solo lee contexto y produce result.artifacts[]. 0 escrituras directas al modelo de dominio.</a:t>
            </a:r>
          </a:p>
        </p:txBody>
      </p:sp>
      <p:sp>
        <p:nvSpPr>
          <p:cNvPr id="29" name="TextBox 28"/>
          <p:cNvSpPr txBox="1"/>
          <p:nvPr/>
        </p:nvSpPr>
        <p:spPr>
          <a:xfrm>
            <a:off x="11018520" y="6419088"/>
            <a:ext cx="960120" cy="365760"/>
          </a:xfrm>
          <a:prstGeom prst="rect">
            <a:avLst/>
          </a:prstGeom>
          <a:noFill/>
        </p:spPr>
        <p:txBody>
          <a:bodyPr wrap="square" anchor="t" lIns="12700" rIns="12700" tIns="12700" bIns="12700">
            <a:spAutoFit/>
          </a:bodyPr>
          <a:lstStyle/>
          <a:p>
            <a:pPr algn="r">
              <a:lnSpc>
                <a:spcPct val="105000"/>
              </a:lnSpc>
              <a:spcBef>
                <a:spcPts val="0"/>
              </a:spcBef>
              <a:spcAft>
                <a:spcPts val="500"/>
              </a:spcAft>
            </a:pPr>
            <a:r>
              <a:rPr sz="1100" b="1">
                <a:solidFill>
                  <a:srgbClr val="9AA4C0"/>
                </a:solidFill>
                <a:latin typeface="Segoe UI"/>
              </a:rPr>
              <a:t>11</a:t>
            </a:r>
          </a:p>
        </p:txBody>
      </p:sp>
      <p:sp>
        <p:nvSpPr>
          <p:cNvPr id="30" name="Rectangle 29"/>
          <p:cNvSpPr/>
          <p:nvPr/>
        </p:nvSpPr>
        <p:spPr>
          <a:xfrm>
            <a:off x="0" y="6784848"/>
            <a:ext cx="12191695" cy="73152"/>
          </a:xfrm>
          <a:prstGeom prst="rect">
            <a:avLst/>
          </a:prstGeom>
          <a:solidFill>
            <a:srgbClr val="9B8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30352"/>
            <a:ext cx="292608" cy="54864"/>
          </a:xfrm>
          <a:prstGeom prst="rect">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07008" y="429768"/>
            <a:ext cx="10058400" cy="3657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3FD08C"/>
                </a:solidFill>
                <a:latin typeface="Segoe UI"/>
              </a:rPr>
              <a:t>INGENIERÍA 7 / 7 · ¿CÓMO SÉ QUE FUNCIONA?</a:t>
            </a:r>
          </a:p>
        </p:txBody>
      </p:sp>
      <p:sp>
        <p:nvSpPr>
          <p:cNvPr id="5" name="TextBox 4"/>
          <p:cNvSpPr txBox="1"/>
          <p:nvPr/>
        </p:nvSpPr>
        <p:spPr>
          <a:xfrm>
            <a:off x="777240" y="777240"/>
            <a:ext cx="8778240" cy="8229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3000" b="0">
                <a:solidFill>
                  <a:srgbClr val="F4F6FB"/>
                </a:solidFill>
                <a:latin typeface="Segoe UI"/>
              </a:rPr>
              <a:t>🧪  </a:t>
            </a:r>
            <a:r>
              <a:rPr sz="3000" b="1">
                <a:solidFill>
                  <a:srgbClr val="F4F6FB"/>
                </a:solidFill>
                <a:latin typeface="Segoe UI"/>
              </a:rPr>
              <a:t>Harness Engineering</a:t>
            </a:r>
          </a:p>
        </p:txBody>
      </p:sp>
      <p:sp>
        <p:nvSpPr>
          <p:cNvPr id="6" name="Rounded Rectangle 5"/>
          <p:cNvSpPr/>
          <p:nvPr/>
        </p:nvSpPr>
        <p:spPr>
          <a:xfrm>
            <a:off x="822960" y="1572768"/>
            <a:ext cx="10561320" cy="658368"/>
          </a:xfrm>
          <a:prstGeom prst="roundRect">
            <a:avLst>
              <a:gd name="adj" fmla="val 6000"/>
            </a:avLst>
          </a:prstGeom>
          <a:solidFill>
            <a:srgbClr val="10172C"/>
          </a:solidFill>
          <a:ln w="12700">
            <a:solidFill>
              <a:srgbClr val="3FD0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572768"/>
            <a:ext cx="10149840" cy="658368"/>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100" b="1">
                <a:solidFill>
                  <a:srgbClr val="3FD08C"/>
                </a:solidFill>
                <a:latin typeface="Segoe UI"/>
              </a:rPr>
              <a:t>DEFINICIÓN  </a:t>
            </a:r>
            <a:r>
              <a:rPr sz="1250" b="0">
                <a:solidFill>
                  <a:srgbClr val="F4F6FB"/>
                </a:solidFill>
                <a:latin typeface="Segoe UI"/>
              </a:rPr>
              <a:t>Diseñar pruebas, evaluación y observabilidad que validan la confiabilidad. La lógica que DECIDE vive en código puro, testeable, protegido por un gate.</a:t>
            </a:r>
          </a:p>
        </p:txBody>
      </p:sp>
      <p:sp>
        <p:nvSpPr>
          <p:cNvPr id="8" name="TextBox 7"/>
          <p:cNvSpPr txBox="1"/>
          <p:nvPr/>
        </p:nvSpPr>
        <p:spPr>
          <a:xfrm>
            <a:off x="822960" y="2377440"/>
            <a:ext cx="5029200" cy="32004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3FD08C"/>
                </a:solidFill>
                <a:latin typeface="Segoe UI"/>
              </a:rPr>
              <a:t>PATRÓN GENERAL (replicable)</a:t>
            </a:r>
          </a:p>
        </p:txBody>
      </p:sp>
      <p:sp>
        <p:nvSpPr>
          <p:cNvPr id="9" name="TextBox 8"/>
          <p:cNvSpPr txBox="1"/>
          <p:nvPr/>
        </p:nvSpPr>
        <p:spPr>
          <a:xfrm>
            <a:off x="822960" y="2743200"/>
            <a:ext cx="5029200" cy="2743200"/>
          </a:xfrm>
          <a:prstGeom prst="rect">
            <a:avLst/>
          </a:prstGeom>
          <a:noFill/>
        </p:spPr>
        <p:txBody>
          <a:bodyPr wrap="square" anchor="t" lIns="12700" rIns="12700" tIns="12700" bIns="12700">
            <a:spAutoFit/>
          </a:bodyPr>
          <a:lstStyle/>
          <a:p>
            <a:pPr algn="l">
              <a:lnSpc>
                <a:spcPct val="112000"/>
              </a:lnSpc>
              <a:spcBef>
                <a:spcPts val="0"/>
              </a:spcBef>
              <a:spcAft>
                <a:spcPts val="800"/>
              </a:spcAft>
            </a:pPr>
            <a:r>
              <a:rPr sz="1300" b="1">
                <a:solidFill>
                  <a:srgbClr val="3FD08C"/>
                </a:solidFill>
                <a:latin typeface="Segoe UI"/>
              </a:rPr>
              <a:t>▸  </a:t>
            </a:r>
            <a:r>
              <a:rPr sz="1250" b="0">
                <a:solidFill>
                  <a:srgbClr val="F4F6FB"/>
                </a:solidFill>
                <a:latin typeface="Segoe UI"/>
              </a:rPr>
              <a:t>Aísla la lógica pura del framework (sin React, sin Electron)</a:t>
            </a:r>
          </a:p>
          <a:p>
            <a:pPr algn="l">
              <a:lnSpc>
                <a:spcPct val="112000"/>
              </a:lnSpc>
              <a:spcBef>
                <a:spcPts val="0"/>
              </a:spcBef>
              <a:spcAft>
                <a:spcPts val="800"/>
              </a:spcAft>
            </a:pPr>
            <a:r>
              <a:rPr sz="1300" b="1">
                <a:solidFill>
                  <a:srgbClr val="3FD08C"/>
                </a:solidFill>
                <a:latin typeface="Segoe UI"/>
              </a:rPr>
              <a:t>▸  </a:t>
            </a:r>
            <a:r>
              <a:rPr sz="1250" b="0">
                <a:solidFill>
                  <a:srgbClr val="F4F6FB"/>
                </a:solidFill>
                <a:latin typeface="Segoe UI"/>
              </a:rPr>
              <a:t>TDD: función nueva o cambio de comportamiento → prueba</a:t>
            </a:r>
          </a:p>
          <a:p>
            <a:pPr algn="l">
              <a:lnSpc>
                <a:spcPct val="112000"/>
              </a:lnSpc>
              <a:spcBef>
                <a:spcPts val="0"/>
              </a:spcBef>
              <a:spcAft>
                <a:spcPts val="800"/>
              </a:spcAft>
            </a:pPr>
            <a:r>
              <a:rPr sz="1300" b="1">
                <a:solidFill>
                  <a:srgbClr val="3FD08C"/>
                </a:solidFill>
                <a:latin typeface="Segoe UI"/>
              </a:rPr>
              <a:t>▸  </a:t>
            </a:r>
            <a:r>
              <a:rPr sz="1250" b="0">
                <a:solidFill>
                  <a:srgbClr val="F4F6FB"/>
                </a:solidFill>
                <a:latin typeface="Segoe UI"/>
              </a:rPr>
              <a:t>Prueba también las redes de seguridad, no solo el camino feliz</a:t>
            </a:r>
          </a:p>
          <a:p>
            <a:pPr algn="l">
              <a:lnSpc>
                <a:spcPct val="112000"/>
              </a:lnSpc>
              <a:spcBef>
                <a:spcPts val="0"/>
              </a:spcBef>
              <a:spcAft>
                <a:spcPts val="800"/>
              </a:spcAft>
            </a:pPr>
            <a:r>
              <a:rPr sz="1300" b="1">
                <a:solidFill>
                  <a:srgbClr val="3FD08C"/>
                </a:solidFill>
                <a:latin typeface="Segoe UI"/>
              </a:rPr>
              <a:t>▸  </a:t>
            </a:r>
            <a:r>
              <a:rPr sz="1250" b="0">
                <a:solidFill>
                  <a:srgbClr val="F4F6FB"/>
                </a:solidFill>
                <a:latin typeface="Segoe UI"/>
              </a:rPr>
              <a:t>Gate en CI: bloquea el merge si algo está en rojo</a:t>
            </a:r>
          </a:p>
        </p:txBody>
      </p:sp>
      <p:sp>
        <p:nvSpPr>
          <p:cNvPr id="10" name="TextBox 9"/>
          <p:cNvSpPr txBox="1"/>
          <p:nvPr/>
        </p:nvSpPr>
        <p:spPr>
          <a:xfrm>
            <a:off x="6126480" y="2331720"/>
            <a:ext cx="5212080" cy="292608"/>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3FD08C"/>
                </a:solidFill>
                <a:latin typeface="Segoe UI"/>
              </a:rPr>
              <a:t>EL GATE DE CI (cada push/PR a main)</a:t>
            </a:r>
          </a:p>
        </p:txBody>
      </p:sp>
      <p:sp>
        <p:nvSpPr>
          <p:cNvPr id="11" name="Rounded Rectangle 10"/>
          <p:cNvSpPr/>
          <p:nvPr/>
        </p:nvSpPr>
        <p:spPr>
          <a:xfrm>
            <a:off x="6126480" y="2743200"/>
            <a:ext cx="932688" cy="713232"/>
          </a:xfrm>
          <a:prstGeom prst="roundRect">
            <a:avLst>
              <a:gd name="adj" fmla="val 12000"/>
            </a:avLst>
          </a:prstGeom>
          <a:solidFill>
            <a:srgbClr val="141C33"/>
          </a:solidFill>
          <a:ln w="15875">
            <a:solidFill>
              <a:srgbClr val="9AA4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1344" y="2743200"/>
            <a:ext cx="822960" cy="713232"/>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600" b="1">
                <a:solidFill>
                  <a:srgbClr val="F4F6FB"/>
                </a:solidFill>
                <a:latin typeface="Segoe UI"/>
              </a:rPr>
              <a:t>①</a:t>
            </a:r>
          </a:p>
          <a:p>
            <a:pPr algn="ctr">
              <a:lnSpc>
                <a:spcPct val="100000"/>
              </a:lnSpc>
              <a:spcBef>
                <a:spcPts val="0"/>
              </a:spcBef>
              <a:spcAft>
                <a:spcPts val="100"/>
              </a:spcAft>
            </a:pPr>
            <a:r>
              <a:rPr sz="950" b="0">
                <a:solidFill>
                  <a:srgbClr val="9AA4C0"/>
                </a:solidFill>
                <a:latin typeface="Segoe UI"/>
              </a:rPr>
              <a:t>cambio lib/</a:t>
            </a:r>
          </a:p>
        </p:txBody>
      </p:sp>
      <p:sp>
        <p:nvSpPr>
          <p:cNvPr id="13" name="Right Arrow 12"/>
          <p:cNvSpPr/>
          <p:nvPr/>
        </p:nvSpPr>
        <p:spPr>
          <a:xfrm>
            <a:off x="7068312" y="3026664"/>
            <a:ext cx="128016" cy="155448"/>
          </a:xfrm>
          <a:prstGeom prst="right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96328" y="2743200"/>
            <a:ext cx="932688" cy="713232"/>
          </a:xfrm>
          <a:prstGeom prst="roundRect">
            <a:avLst>
              <a:gd name="adj" fmla="val 12000"/>
            </a:avLst>
          </a:prstGeom>
          <a:solidFill>
            <a:srgbClr val="141C33"/>
          </a:solidFill>
          <a:ln w="15875">
            <a:solidFill>
              <a:srgbClr val="3FD0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51192" y="2743200"/>
            <a:ext cx="822960" cy="713232"/>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600" b="1">
                <a:solidFill>
                  <a:srgbClr val="F4F6FB"/>
                </a:solidFill>
                <a:latin typeface="Segoe UI"/>
              </a:rPr>
              <a:t>②</a:t>
            </a:r>
          </a:p>
          <a:p>
            <a:pPr algn="ctr">
              <a:lnSpc>
                <a:spcPct val="100000"/>
              </a:lnSpc>
              <a:spcBef>
                <a:spcPts val="0"/>
              </a:spcBef>
              <a:spcAft>
                <a:spcPts val="100"/>
              </a:spcAft>
            </a:pPr>
            <a:r>
              <a:rPr sz="950" b="0">
                <a:solidFill>
                  <a:srgbClr val="9AA4C0"/>
                </a:solidFill>
                <a:latin typeface="Segoe UI"/>
              </a:rPr>
              <a:t>typecheck</a:t>
            </a:r>
          </a:p>
        </p:txBody>
      </p:sp>
      <p:sp>
        <p:nvSpPr>
          <p:cNvPr id="16" name="Right Arrow 15"/>
          <p:cNvSpPr/>
          <p:nvPr/>
        </p:nvSpPr>
        <p:spPr>
          <a:xfrm>
            <a:off x="8138160" y="3026664"/>
            <a:ext cx="128016" cy="155448"/>
          </a:xfrm>
          <a:prstGeom prst="right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66175" y="2743200"/>
            <a:ext cx="932688" cy="713232"/>
          </a:xfrm>
          <a:prstGeom prst="roundRect">
            <a:avLst>
              <a:gd name="adj" fmla="val 12000"/>
            </a:avLst>
          </a:prstGeom>
          <a:solidFill>
            <a:srgbClr val="141C33"/>
          </a:solidFill>
          <a:ln w="15875">
            <a:solidFill>
              <a:srgbClr val="3FD0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2743200"/>
            <a:ext cx="822960" cy="713232"/>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600" b="1">
                <a:solidFill>
                  <a:srgbClr val="F4F6FB"/>
                </a:solidFill>
                <a:latin typeface="Segoe UI"/>
              </a:rPr>
              <a:t>③</a:t>
            </a:r>
          </a:p>
          <a:p>
            <a:pPr algn="ctr">
              <a:lnSpc>
                <a:spcPct val="100000"/>
              </a:lnSpc>
              <a:spcBef>
                <a:spcPts val="0"/>
              </a:spcBef>
              <a:spcAft>
                <a:spcPts val="100"/>
              </a:spcAft>
            </a:pPr>
            <a:r>
              <a:rPr sz="950" b="0">
                <a:solidFill>
                  <a:srgbClr val="9AA4C0"/>
                </a:solidFill>
                <a:latin typeface="Segoe UI"/>
              </a:rPr>
              <a:t>vitest</a:t>
            </a:r>
          </a:p>
        </p:txBody>
      </p:sp>
      <p:sp>
        <p:nvSpPr>
          <p:cNvPr id="19" name="Right Arrow 18"/>
          <p:cNvSpPr/>
          <p:nvPr/>
        </p:nvSpPr>
        <p:spPr>
          <a:xfrm>
            <a:off x="9208007" y="3026664"/>
            <a:ext cx="128016" cy="155448"/>
          </a:xfrm>
          <a:prstGeom prst="right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336024" y="2743200"/>
            <a:ext cx="932688" cy="713232"/>
          </a:xfrm>
          <a:prstGeom prst="roundRect">
            <a:avLst>
              <a:gd name="adj" fmla="val 12000"/>
            </a:avLst>
          </a:prstGeom>
          <a:solidFill>
            <a:srgbClr val="141C33"/>
          </a:solidFill>
          <a:ln w="15875">
            <a:solidFill>
              <a:srgbClr val="3FD0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90888" y="2743200"/>
            <a:ext cx="822960" cy="713232"/>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600" b="1">
                <a:solidFill>
                  <a:srgbClr val="F4F6FB"/>
                </a:solidFill>
                <a:latin typeface="Segoe UI"/>
              </a:rPr>
              <a:t>④</a:t>
            </a:r>
          </a:p>
          <a:p>
            <a:pPr algn="ctr">
              <a:lnSpc>
                <a:spcPct val="100000"/>
              </a:lnSpc>
              <a:spcBef>
                <a:spcPts val="0"/>
              </a:spcBef>
              <a:spcAft>
                <a:spcPts val="100"/>
              </a:spcAft>
            </a:pPr>
            <a:r>
              <a:rPr sz="950" b="0">
                <a:solidFill>
                  <a:srgbClr val="9AA4C0"/>
                </a:solidFill>
                <a:latin typeface="Segoe UI"/>
              </a:rPr>
              <a:t>cobertura</a:t>
            </a:r>
          </a:p>
        </p:txBody>
      </p:sp>
      <p:sp>
        <p:nvSpPr>
          <p:cNvPr id="22" name="Right Arrow 21"/>
          <p:cNvSpPr/>
          <p:nvPr/>
        </p:nvSpPr>
        <p:spPr>
          <a:xfrm>
            <a:off x="10277855" y="3026664"/>
            <a:ext cx="128016" cy="155448"/>
          </a:xfrm>
          <a:prstGeom prst="right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405872" y="2743200"/>
            <a:ext cx="932688" cy="713232"/>
          </a:xfrm>
          <a:prstGeom prst="roundRect">
            <a:avLst>
              <a:gd name="adj" fmla="val 12000"/>
            </a:avLst>
          </a:prstGeom>
          <a:solidFill>
            <a:srgbClr val="141C33"/>
          </a:solidFill>
          <a:ln w="15875">
            <a:solidFill>
              <a:srgbClr val="3FD0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460736" y="2743200"/>
            <a:ext cx="822960" cy="713232"/>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600" b="1">
                <a:solidFill>
                  <a:srgbClr val="F4F6FB"/>
                </a:solidFill>
                <a:latin typeface="Segoe UI"/>
              </a:rPr>
              <a:t>⑤</a:t>
            </a:r>
          </a:p>
          <a:p>
            <a:pPr algn="ctr">
              <a:lnSpc>
                <a:spcPct val="100000"/>
              </a:lnSpc>
              <a:spcBef>
                <a:spcPts val="0"/>
              </a:spcBef>
              <a:spcAft>
                <a:spcPts val="100"/>
              </a:spcAft>
            </a:pPr>
            <a:r>
              <a:rPr sz="950" b="0">
                <a:solidFill>
                  <a:srgbClr val="9AA4C0"/>
                </a:solidFill>
                <a:latin typeface="Segoe UI"/>
              </a:rPr>
              <a:t>merge ✔</a:t>
            </a:r>
          </a:p>
        </p:txBody>
      </p:sp>
      <p:sp>
        <p:nvSpPr>
          <p:cNvPr id="25" name="Rounded Rectangle 24"/>
          <p:cNvSpPr/>
          <p:nvPr/>
        </p:nvSpPr>
        <p:spPr>
          <a:xfrm>
            <a:off x="6126480" y="3566160"/>
            <a:ext cx="5166360" cy="384048"/>
          </a:xfrm>
          <a:prstGeom prst="roundRect">
            <a:avLst>
              <a:gd name="adj" fmla="val 10000"/>
            </a:avLst>
          </a:prstGeom>
          <a:solidFill>
            <a:srgbClr val="24141E"/>
          </a:solidFill>
          <a:ln w="12700">
            <a:solidFill>
              <a:srgbClr val="532B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80" y="3566160"/>
            <a:ext cx="5166360" cy="384048"/>
          </a:xfrm>
          <a:prstGeom prst="rect">
            <a:avLst/>
          </a:prstGeom>
          <a:noFill/>
        </p:spPr>
        <p:txBody>
          <a:bodyPr wrap="square" anchor="ctr" lIns="12700" rIns="12700" tIns="12700" bIns="12700">
            <a:spAutoFit/>
          </a:bodyPr>
          <a:lstStyle/>
          <a:p>
            <a:pPr algn="ctr">
              <a:lnSpc>
                <a:spcPct val="105000"/>
              </a:lnSpc>
              <a:spcBef>
                <a:spcPts val="0"/>
              </a:spcBef>
              <a:spcAft>
                <a:spcPts val="500"/>
              </a:spcAft>
            </a:pPr>
            <a:r>
              <a:rPr sz="1100" b="1">
                <a:solidFill>
                  <a:srgbClr val="F07A7A"/>
                </a:solidFill>
                <a:latin typeface="Segoe UI"/>
              </a:rPr>
              <a:t>🚫 En rojo NO se mergea</a:t>
            </a:r>
          </a:p>
        </p:txBody>
      </p:sp>
      <p:sp>
        <p:nvSpPr>
          <p:cNvPr id="27" name="TextBox 26"/>
          <p:cNvSpPr txBox="1"/>
          <p:nvPr/>
        </p:nvSpPr>
        <p:spPr>
          <a:xfrm>
            <a:off x="6126480" y="4114800"/>
            <a:ext cx="5166360" cy="292608"/>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3FD08C"/>
                </a:solidFill>
                <a:latin typeface="Segoe UI"/>
              </a:rPr>
              <a:t>QUÉ SE PRUEBA (lógica pura)</a:t>
            </a:r>
          </a:p>
        </p:txBody>
      </p:sp>
      <p:sp>
        <p:nvSpPr>
          <p:cNvPr id="28" name="Rectangle 27"/>
          <p:cNvSpPr/>
          <p:nvPr/>
        </p:nvSpPr>
        <p:spPr>
          <a:xfrm>
            <a:off x="6126480" y="4434840"/>
            <a:ext cx="2103120" cy="365760"/>
          </a:xfrm>
          <a:prstGeom prst="rect">
            <a:avLst/>
          </a:prstGeom>
          <a:solidFill>
            <a:srgbClr val="3FD08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36208" y="4434840"/>
            <a:ext cx="1901951" cy="36576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1">
                <a:solidFill>
                  <a:srgbClr val="0B1020"/>
                </a:solidFill>
                <a:latin typeface="Segoe UI"/>
              </a:rPr>
              <a:t>Módulo</a:t>
            </a:r>
          </a:p>
        </p:txBody>
      </p:sp>
      <p:sp>
        <p:nvSpPr>
          <p:cNvPr id="30" name="Rectangle 29"/>
          <p:cNvSpPr/>
          <p:nvPr/>
        </p:nvSpPr>
        <p:spPr>
          <a:xfrm>
            <a:off x="8229600" y="4434840"/>
            <a:ext cx="3063240" cy="365760"/>
          </a:xfrm>
          <a:prstGeom prst="rect">
            <a:avLst/>
          </a:prstGeom>
          <a:solidFill>
            <a:srgbClr val="3FD08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39327" y="4434840"/>
            <a:ext cx="2862072" cy="36576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1">
                <a:solidFill>
                  <a:srgbClr val="0B1020"/>
                </a:solidFill>
                <a:latin typeface="Segoe UI"/>
              </a:rPr>
              <a:t>Qué valida</a:t>
            </a:r>
          </a:p>
        </p:txBody>
      </p:sp>
      <p:sp>
        <p:nvSpPr>
          <p:cNvPr id="32" name="Rectangle 31"/>
          <p:cNvSpPr/>
          <p:nvPr/>
        </p:nvSpPr>
        <p:spPr>
          <a:xfrm>
            <a:off x="6126480" y="4800600"/>
            <a:ext cx="2103120" cy="365760"/>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36208" y="4800600"/>
            <a:ext cx="1901951" cy="36576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graph-toon</a:t>
            </a:r>
          </a:p>
        </p:txBody>
      </p:sp>
      <p:sp>
        <p:nvSpPr>
          <p:cNvPr id="34" name="Rectangle 33"/>
          <p:cNvSpPr/>
          <p:nvPr/>
        </p:nvSpPr>
        <p:spPr>
          <a:xfrm>
            <a:off x="8229600" y="4800600"/>
            <a:ext cx="3063240" cy="365760"/>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39327" y="4800600"/>
            <a:ext cx="2862072" cy="36576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poda + codificación TOON</a:t>
            </a:r>
          </a:p>
        </p:txBody>
      </p:sp>
      <p:sp>
        <p:nvSpPr>
          <p:cNvPr id="36" name="Rectangle 35"/>
          <p:cNvSpPr/>
          <p:nvPr/>
        </p:nvSpPr>
        <p:spPr>
          <a:xfrm>
            <a:off x="6126480" y="5166360"/>
            <a:ext cx="2103120" cy="365760"/>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36208" y="5166360"/>
            <a:ext cx="1901951" cy="36576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graph-processor</a:t>
            </a:r>
          </a:p>
        </p:txBody>
      </p:sp>
      <p:sp>
        <p:nvSpPr>
          <p:cNvPr id="38" name="Rectangle 37"/>
          <p:cNvSpPr/>
          <p:nvPr/>
        </p:nvSpPr>
        <p:spPr>
          <a:xfrm>
            <a:off x="8229600" y="5166360"/>
            <a:ext cx="3063240" cy="365760"/>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9327" y="5166360"/>
            <a:ext cx="2862072" cy="36576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redes de seguridad del lienzo</a:t>
            </a:r>
          </a:p>
        </p:txBody>
      </p:sp>
      <p:sp>
        <p:nvSpPr>
          <p:cNvPr id="40" name="Rectangle 39"/>
          <p:cNvSpPr/>
          <p:nvPr/>
        </p:nvSpPr>
        <p:spPr>
          <a:xfrm>
            <a:off x="6126480" y="5532120"/>
            <a:ext cx="2103120" cy="365760"/>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36208" y="5532120"/>
            <a:ext cx="1901951" cy="36576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router / tasks</a:t>
            </a:r>
          </a:p>
        </p:txBody>
      </p:sp>
      <p:sp>
        <p:nvSpPr>
          <p:cNvPr id="42" name="Rectangle 41"/>
          <p:cNvSpPr/>
          <p:nvPr/>
        </p:nvSpPr>
        <p:spPr>
          <a:xfrm>
            <a:off x="8229600" y="5532120"/>
            <a:ext cx="3063240" cy="365760"/>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39327" y="5532120"/>
            <a:ext cx="2862072" cy="365760"/>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000" b="0">
                <a:solidFill>
                  <a:srgbClr val="F4F6FB"/>
                </a:solidFill>
                <a:latin typeface="Segoe UI"/>
              </a:rPr>
              <a:t>política de enrutamiento</a:t>
            </a:r>
          </a:p>
        </p:txBody>
      </p:sp>
      <p:sp>
        <p:nvSpPr>
          <p:cNvPr id="44" name="Rounded Rectangle 43"/>
          <p:cNvSpPr/>
          <p:nvPr/>
        </p:nvSpPr>
        <p:spPr>
          <a:xfrm>
            <a:off x="822960" y="5989320"/>
            <a:ext cx="10561320" cy="566928"/>
          </a:xfrm>
          <a:prstGeom prst="roundRect">
            <a:avLst>
              <a:gd name="adj" fmla="val 10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22960" y="5989320"/>
            <a:ext cx="109728" cy="566928"/>
          </a:xfrm>
          <a:prstGeom prst="rect">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97280" y="5989320"/>
            <a:ext cx="10195560" cy="566928"/>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050" b="1">
                <a:solidFill>
                  <a:srgbClr val="3FD08C"/>
                </a:solidFill>
                <a:latin typeface="Segoe UI"/>
              </a:rPr>
              <a:t>EVIDENCIA  </a:t>
            </a:r>
            <a:r>
              <a:rPr sz="1200" b="0">
                <a:solidFill>
                  <a:srgbClr val="F4F6FB"/>
                </a:solidFill>
                <a:latin typeface="Segoe UI"/>
              </a:rPr>
              <a:t>npm run typecheck &amp;&amp; npm test &amp;&amp; npm run test:coverage — mismo gate que CI (.github/workflows/ci.yml).</a:t>
            </a:r>
          </a:p>
        </p:txBody>
      </p:sp>
      <p:sp>
        <p:nvSpPr>
          <p:cNvPr id="47" name="TextBox 46"/>
          <p:cNvSpPr txBox="1"/>
          <p:nvPr/>
        </p:nvSpPr>
        <p:spPr>
          <a:xfrm>
            <a:off x="11018520" y="6419088"/>
            <a:ext cx="960120" cy="365760"/>
          </a:xfrm>
          <a:prstGeom prst="rect">
            <a:avLst/>
          </a:prstGeom>
          <a:noFill/>
        </p:spPr>
        <p:txBody>
          <a:bodyPr wrap="square" anchor="t" lIns="12700" rIns="12700" tIns="12700" bIns="12700">
            <a:spAutoFit/>
          </a:bodyPr>
          <a:lstStyle/>
          <a:p>
            <a:pPr algn="r">
              <a:lnSpc>
                <a:spcPct val="105000"/>
              </a:lnSpc>
              <a:spcBef>
                <a:spcPts val="0"/>
              </a:spcBef>
              <a:spcAft>
                <a:spcPts val="500"/>
              </a:spcAft>
            </a:pPr>
            <a:r>
              <a:rPr sz="1100" b="1">
                <a:solidFill>
                  <a:srgbClr val="9AA4C0"/>
                </a:solidFill>
                <a:latin typeface="Segoe UI"/>
              </a:rPr>
              <a:t>12</a:t>
            </a:r>
          </a:p>
        </p:txBody>
      </p:sp>
      <p:sp>
        <p:nvSpPr>
          <p:cNvPr id="48" name="Rectangle 47"/>
          <p:cNvSpPr/>
          <p:nvPr/>
        </p:nvSpPr>
        <p:spPr>
          <a:xfrm>
            <a:off x="0" y="6784848"/>
            <a:ext cx="12191695" cy="73152"/>
          </a:xfrm>
          <a:prstGeom prst="rect">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30352"/>
            <a:ext cx="292608" cy="54864"/>
          </a:xfrm>
          <a:prstGeom prst="rect">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07008" y="429768"/>
            <a:ext cx="10058400" cy="3657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3FD08C"/>
                </a:solidFill>
                <a:latin typeface="Segoe UI"/>
              </a:rPr>
              <a:t>PATRÓN TRANSVERSAL · CORTA LAS 7</a:t>
            </a:r>
          </a:p>
        </p:txBody>
      </p:sp>
      <p:sp>
        <p:nvSpPr>
          <p:cNvPr id="5" name="TextBox 4"/>
          <p:cNvSpPr txBox="1"/>
          <p:nvPr/>
        </p:nvSpPr>
        <p:spPr>
          <a:xfrm>
            <a:off x="777240" y="777240"/>
            <a:ext cx="10607040" cy="9144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3000" b="1">
                <a:solidFill>
                  <a:srgbClr val="F4F6FB"/>
                </a:solidFill>
                <a:latin typeface="Segoe UI"/>
              </a:rPr>
              <a:t>Degrada, no rompas</a:t>
            </a:r>
          </a:p>
        </p:txBody>
      </p:sp>
      <p:sp>
        <p:nvSpPr>
          <p:cNvPr id="6" name="TextBox 5"/>
          <p:cNvSpPr txBox="1"/>
          <p:nvPr/>
        </p:nvSpPr>
        <p:spPr>
          <a:xfrm>
            <a:off x="822960" y="1554480"/>
            <a:ext cx="10607040" cy="594360"/>
          </a:xfrm>
          <a:prstGeom prst="rect">
            <a:avLst/>
          </a:prstGeom>
          <a:noFill/>
        </p:spPr>
        <p:txBody>
          <a:bodyPr wrap="square" anchor="t" lIns="12700" rIns="12700" tIns="12700" bIns="12700">
            <a:spAutoFit/>
          </a:bodyPr>
          <a:lstStyle/>
          <a:p>
            <a:pPr algn="l">
              <a:lnSpc>
                <a:spcPct val="115000"/>
              </a:lnSpc>
              <a:spcBef>
                <a:spcPts val="0"/>
              </a:spcBef>
              <a:spcAft>
                <a:spcPts val="500"/>
              </a:spcAft>
            </a:pPr>
            <a:r>
              <a:rPr sz="1500" b="1">
                <a:solidFill>
                  <a:srgbClr val="F4F6FB"/>
                </a:solidFill>
                <a:latin typeface="Segoe UI"/>
              </a:rPr>
              <a:t>Con IA impredecible, el camino feliz es opcional; el camino degradado es OBLIGATORIO. </a:t>
            </a:r>
            <a:r>
              <a:rPr sz="1500" b="0">
                <a:solidFill>
                  <a:srgbClr val="9AA4C0"/>
                </a:solidFill>
                <a:latin typeface="Segoe UI"/>
              </a:rPr>
              <a:t>Todo punto frágil se envuelve y define su estado de caída.</a:t>
            </a:r>
          </a:p>
        </p:txBody>
      </p:sp>
      <p:sp>
        <p:nvSpPr>
          <p:cNvPr id="7" name="TextBox 6"/>
          <p:cNvSpPr txBox="1"/>
          <p:nvPr/>
        </p:nvSpPr>
        <p:spPr>
          <a:xfrm>
            <a:off x="822960" y="2423160"/>
            <a:ext cx="5120640" cy="32004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3FD08C"/>
                </a:solidFill>
                <a:latin typeface="Segoe UI"/>
              </a:rPr>
              <a:t>CONTEXTO · safeGraphToToon()</a:t>
            </a:r>
          </a:p>
        </p:txBody>
      </p:sp>
      <p:sp>
        <p:nvSpPr>
          <p:cNvPr id="8" name="Rounded Rectangle 7"/>
          <p:cNvSpPr/>
          <p:nvPr/>
        </p:nvSpPr>
        <p:spPr>
          <a:xfrm>
            <a:off x="822960" y="2880360"/>
            <a:ext cx="1554480" cy="640080"/>
          </a:xfrm>
          <a:prstGeom prst="roundRect">
            <a:avLst>
              <a:gd name="adj" fmla="val 12000"/>
            </a:avLst>
          </a:prstGeom>
          <a:solidFill>
            <a:srgbClr val="141C33"/>
          </a:solidFill>
          <a:ln w="15875">
            <a:solidFill>
              <a:srgbClr val="3FD0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880360"/>
            <a:ext cx="1444752" cy="640080"/>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250" b="1">
                <a:solidFill>
                  <a:srgbClr val="F4F6FB"/>
                </a:solidFill>
                <a:latin typeface="Segoe UI"/>
              </a:rPr>
              <a:t>TOON</a:t>
            </a:r>
          </a:p>
          <a:p>
            <a:pPr algn="ctr">
              <a:lnSpc>
                <a:spcPct val="100000"/>
              </a:lnSpc>
              <a:spcBef>
                <a:spcPts val="0"/>
              </a:spcBef>
              <a:spcAft>
                <a:spcPts val="100"/>
              </a:spcAft>
            </a:pPr>
            <a:r>
              <a:rPr sz="1000" b="0">
                <a:solidFill>
                  <a:srgbClr val="9AA4C0"/>
                </a:solidFill>
                <a:latin typeface="Segoe UI"/>
              </a:rPr>
              <a:t>ideal</a:t>
            </a:r>
          </a:p>
        </p:txBody>
      </p:sp>
      <p:sp>
        <p:nvSpPr>
          <p:cNvPr id="10" name="Right Arrow 9"/>
          <p:cNvSpPr/>
          <p:nvPr/>
        </p:nvSpPr>
        <p:spPr>
          <a:xfrm>
            <a:off x="2423160" y="3127248"/>
            <a:ext cx="457200" cy="155448"/>
          </a:xfrm>
          <a:prstGeom prst="right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48840" y="2816352"/>
            <a:ext cx="1005840" cy="274320"/>
          </a:xfrm>
          <a:prstGeom prst="rect">
            <a:avLst/>
          </a:prstGeom>
          <a:noFill/>
        </p:spPr>
        <p:txBody>
          <a:bodyPr wrap="square" anchor="t" lIns="12700" rIns="12700" tIns="12700" bIns="12700">
            <a:spAutoFit/>
          </a:bodyPr>
          <a:lstStyle/>
          <a:p>
            <a:pPr algn="ctr">
              <a:lnSpc>
                <a:spcPct val="105000"/>
              </a:lnSpc>
              <a:spcBef>
                <a:spcPts val="0"/>
              </a:spcBef>
              <a:spcAft>
                <a:spcPts val="500"/>
              </a:spcAft>
            </a:pPr>
            <a:r>
              <a:rPr sz="950" b="1">
                <a:solidFill>
                  <a:srgbClr val="9AA4C0"/>
                </a:solidFill>
                <a:latin typeface="Segoe UI"/>
              </a:rPr>
              <a:t>falla</a:t>
            </a:r>
          </a:p>
        </p:txBody>
      </p:sp>
      <p:sp>
        <p:nvSpPr>
          <p:cNvPr id="12" name="Rounded Rectangle 11"/>
          <p:cNvSpPr/>
          <p:nvPr/>
        </p:nvSpPr>
        <p:spPr>
          <a:xfrm>
            <a:off x="2971800" y="2880360"/>
            <a:ext cx="1645920" cy="640080"/>
          </a:xfrm>
          <a:prstGeom prst="roundRect">
            <a:avLst>
              <a:gd name="adj" fmla="val 12000"/>
            </a:avLst>
          </a:prstGeom>
          <a:solidFill>
            <a:srgbClr val="141C33"/>
          </a:solidFill>
          <a:ln w="15875">
            <a:solidFill>
              <a:srgbClr val="F5B3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26664" y="2880360"/>
            <a:ext cx="1536192" cy="640080"/>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250" b="1">
                <a:solidFill>
                  <a:srgbClr val="F4F6FB"/>
                </a:solidFill>
                <a:latin typeface="Segoe UI"/>
              </a:rPr>
              <a:t>JSON compacto</a:t>
            </a:r>
          </a:p>
          <a:p>
            <a:pPr algn="ctr">
              <a:lnSpc>
                <a:spcPct val="100000"/>
              </a:lnSpc>
              <a:spcBef>
                <a:spcPts val="0"/>
              </a:spcBef>
              <a:spcAft>
                <a:spcPts val="100"/>
              </a:spcAft>
            </a:pPr>
            <a:r>
              <a:rPr sz="1000" b="0">
                <a:solidFill>
                  <a:srgbClr val="9AA4C0"/>
                </a:solidFill>
                <a:latin typeface="Segoe UI"/>
              </a:rPr>
              <a:t>degradado</a:t>
            </a:r>
          </a:p>
        </p:txBody>
      </p:sp>
      <p:sp>
        <p:nvSpPr>
          <p:cNvPr id="14" name="Right Arrow 13"/>
          <p:cNvSpPr/>
          <p:nvPr/>
        </p:nvSpPr>
        <p:spPr>
          <a:xfrm>
            <a:off x="4663440" y="3127248"/>
            <a:ext cx="457200" cy="155448"/>
          </a:xfrm>
          <a:prstGeom prst="right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2816352"/>
            <a:ext cx="1005840" cy="274320"/>
          </a:xfrm>
          <a:prstGeom prst="rect">
            <a:avLst/>
          </a:prstGeom>
          <a:noFill/>
        </p:spPr>
        <p:txBody>
          <a:bodyPr wrap="square" anchor="t" lIns="12700" rIns="12700" tIns="12700" bIns="12700">
            <a:spAutoFit/>
          </a:bodyPr>
          <a:lstStyle/>
          <a:p>
            <a:pPr algn="ctr">
              <a:lnSpc>
                <a:spcPct val="105000"/>
              </a:lnSpc>
              <a:spcBef>
                <a:spcPts val="0"/>
              </a:spcBef>
              <a:spcAft>
                <a:spcPts val="500"/>
              </a:spcAft>
            </a:pPr>
            <a:r>
              <a:rPr sz="950" b="1">
                <a:solidFill>
                  <a:srgbClr val="9AA4C0"/>
                </a:solidFill>
                <a:latin typeface="Segoe UI"/>
              </a:rPr>
              <a:t>falla</a:t>
            </a:r>
          </a:p>
        </p:txBody>
      </p:sp>
      <p:sp>
        <p:nvSpPr>
          <p:cNvPr id="16" name="Rounded Rectangle 15"/>
          <p:cNvSpPr/>
          <p:nvPr/>
        </p:nvSpPr>
        <p:spPr>
          <a:xfrm>
            <a:off x="5212080" y="2880360"/>
            <a:ext cx="960120" cy="640080"/>
          </a:xfrm>
          <a:prstGeom prst="roundRect">
            <a:avLst>
              <a:gd name="adj" fmla="val 12000"/>
            </a:avLst>
          </a:prstGeom>
          <a:solidFill>
            <a:srgbClr val="141C33"/>
          </a:solidFill>
          <a:ln w="15875">
            <a:solidFill>
              <a:srgbClr val="9AA4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66944" y="2880360"/>
            <a:ext cx="850392" cy="640080"/>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250" b="1">
                <a:solidFill>
                  <a:srgbClr val="F4F6FB"/>
                </a:solidFill>
                <a:latin typeface="Segoe UI"/>
              </a:rPr>
              <a:t>""</a:t>
            </a:r>
          </a:p>
          <a:p>
            <a:pPr algn="ctr">
              <a:lnSpc>
                <a:spcPct val="100000"/>
              </a:lnSpc>
              <a:spcBef>
                <a:spcPts val="0"/>
              </a:spcBef>
              <a:spcAft>
                <a:spcPts val="100"/>
              </a:spcAft>
            </a:pPr>
            <a:r>
              <a:rPr sz="1000" b="0">
                <a:solidFill>
                  <a:srgbClr val="9AA4C0"/>
                </a:solidFill>
                <a:latin typeface="Segoe UI"/>
              </a:rPr>
              <a:t>vacío seguro</a:t>
            </a:r>
          </a:p>
        </p:txBody>
      </p:sp>
      <p:sp>
        <p:nvSpPr>
          <p:cNvPr id="18" name="TextBox 17"/>
          <p:cNvSpPr txBox="1"/>
          <p:nvPr/>
        </p:nvSpPr>
        <p:spPr>
          <a:xfrm>
            <a:off x="822960" y="3703320"/>
            <a:ext cx="5486400" cy="457200"/>
          </a:xfrm>
          <a:prstGeom prst="rect">
            <a:avLst/>
          </a:prstGeom>
          <a:noFill/>
        </p:spPr>
        <p:txBody>
          <a:bodyPr wrap="square" anchor="t" lIns="12700" rIns="12700" tIns="12700" bIns="12700">
            <a:spAutoFit/>
          </a:bodyPr>
          <a:lstStyle/>
          <a:p>
            <a:pPr algn="l">
              <a:lnSpc>
                <a:spcPct val="110000"/>
              </a:lnSpc>
              <a:spcBef>
                <a:spcPts val="0"/>
              </a:spcBef>
              <a:spcAft>
                <a:spcPts val="500"/>
              </a:spcAft>
            </a:pPr>
            <a:r>
              <a:rPr sz="1150" b="0">
                <a:solidFill>
                  <a:srgbClr val="9AA4C0"/>
                </a:solidFill>
                <a:latin typeface="Segoe UI"/>
              </a:rPr>
              <a:t>El grafo mal formado NUNCA tumba el turno del agente.</a:t>
            </a:r>
          </a:p>
        </p:txBody>
      </p:sp>
      <p:sp>
        <p:nvSpPr>
          <p:cNvPr id="19" name="TextBox 18"/>
          <p:cNvSpPr txBox="1"/>
          <p:nvPr/>
        </p:nvSpPr>
        <p:spPr>
          <a:xfrm>
            <a:off x="822960" y="4251960"/>
            <a:ext cx="6035040" cy="32004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3FD08C"/>
                </a:solidFill>
                <a:latin typeface="Segoe UI"/>
              </a:rPr>
              <a:t>LIENZO · graph-processor.ts</a:t>
            </a:r>
          </a:p>
        </p:txBody>
      </p:sp>
      <p:sp>
        <p:nvSpPr>
          <p:cNvPr id="20" name="Rounded Rectangle 19"/>
          <p:cNvSpPr/>
          <p:nvPr/>
        </p:nvSpPr>
        <p:spPr>
          <a:xfrm>
            <a:off x="822960" y="4663440"/>
            <a:ext cx="2468880" cy="685800"/>
          </a:xfrm>
          <a:prstGeom prst="roundRect">
            <a:avLst>
              <a:gd name="adj" fmla="val 12000"/>
            </a:avLst>
          </a:prstGeom>
          <a:solidFill>
            <a:srgbClr val="141C33"/>
          </a:solidFill>
          <a:ln w="15875">
            <a:solidFill>
              <a:srgbClr val="34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4663440"/>
            <a:ext cx="2359152" cy="685800"/>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250" b="1">
                <a:solidFill>
                  <a:srgbClr val="F4F6FB"/>
                </a:solidFill>
                <a:latin typeface="Segoe UI"/>
              </a:rPr>
              <a:t>¿Sin agregados con nodos?</a:t>
            </a:r>
          </a:p>
          <a:p>
            <a:pPr algn="ctr">
              <a:lnSpc>
                <a:spcPct val="100000"/>
              </a:lnSpc>
              <a:spcBef>
                <a:spcPts val="0"/>
              </a:spcBef>
              <a:spcAft>
                <a:spcPts val="100"/>
              </a:spcAft>
            </a:pPr>
            <a:r>
              <a:rPr sz="1000" b="0">
                <a:solidFill>
                  <a:srgbClr val="9AA4C0"/>
                </a:solidFill>
                <a:latin typeface="Segoe UI"/>
              </a:rPr>
              <a:t>→ expone “Visión General”</a:t>
            </a:r>
          </a:p>
        </p:txBody>
      </p:sp>
      <p:sp>
        <p:nvSpPr>
          <p:cNvPr id="22" name="Rounded Rectangle 21"/>
          <p:cNvSpPr/>
          <p:nvPr/>
        </p:nvSpPr>
        <p:spPr>
          <a:xfrm>
            <a:off x="3429000" y="4663440"/>
            <a:ext cx="2468880" cy="685800"/>
          </a:xfrm>
          <a:prstGeom prst="roundRect">
            <a:avLst>
              <a:gd name="adj" fmla="val 12000"/>
            </a:avLst>
          </a:prstGeom>
          <a:solidFill>
            <a:srgbClr val="141C33"/>
          </a:solidFill>
          <a:ln w="15875">
            <a:solidFill>
              <a:srgbClr val="34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4663440"/>
            <a:ext cx="2359152" cy="685800"/>
          </a:xfrm>
          <a:prstGeom prst="rect">
            <a:avLst/>
          </a:prstGeom>
          <a:noFill/>
        </p:spPr>
        <p:txBody>
          <a:bodyPr wrap="square" anchor="ctr" lIns="12700" rIns="12700" tIns="12700" bIns="12700">
            <a:spAutoFit/>
          </a:bodyPr>
          <a:lstStyle/>
          <a:p>
            <a:pPr algn="ctr">
              <a:lnSpc>
                <a:spcPct val="100000"/>
              </a:lnSpc>
              <a:spcBef>
                <a:spcPts val="0"/>
              </a:spcBef>
              <a:spcAft>
                <a:spcPts val="100"/>
              </a:spcAft>
            </a:pPr>
            <a:r>
              <a:rPr sz="1250" b="1">
                <a:solidFill>
                  <a:srgbClr val="F4F6FB"/>
                </a:solidFill>
                <a:latin typeface="Segoe UI"/>
              </a:rPr>
              <a:t>¿Filtro dejó vacío?</a:t>
            </a:r>
          </a:p>
          <a:p>
            <a:pPr algn="ctr">
              <a:lnSpc>
                <a:spcPct val="100000"/>
              </a:lnSpc>
              <a:spcBef>
                <a:spcPts val="0"/>
              </a:spcBef>
              <a:spcAft>
                <a:spcPts val="100"/>
              </a:spcAft>
            </a:pPr>
            <a:r>
              <a:rPr sz="1000" b="0">
                <a:solidFill>
                  <a:srgbClr val="9AA4C0"/>
                </a:solidFill>
                <a:latin typeface="Segoe UI"/>
              </a:rPr>
              <a:t>→ incluye nodos sueltos</a:t>
            </a:r>
          </a:p>
        </p:txBody>
      </p:sp>
      <p:sp>
        <p:nvSpPr>
          <p:cNvPr id="24" name="Rounded Rectangle 23"/>
          <p:cNvSpPr/>
          <p:nvPr/>
        </p:nvSpPr>
        <p:spPr>
          <a:xfrm>
            <a:off x="6309360" y="2423160"/>
            <a:ext cx="5074920" cy="3566160"/>
          </a:xfrm>
          <a:prstGeom prst="roundRect">
            <a:avLst>
              <a:gd name="adj" fmla="val 8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09360" y="2423160"/>
            <a:ext cx="109728" cy="3566160"/>
          </a:xfrm>
          <a:prstGeom prst="rect">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2651760"/>
            <a:ext cx="4617720" cy="3200400"/>
          </a:xfrm>
          <a:prstGeom prst="rect">
            <a:avLst/>
          </a:prstGeom>
          <a:noFill/>
        </p:spPr>
        <p:txBody>
          <a:bodyPr wrap="square" anchor="t" lIns="12700" rIns="12700" tIns="12700" bIns="12700">
            <a:spAutoFit/>
          </a:bodyPr>
          <a:lstStyle/>
          <a:p>
            <a:pPr algn="l">
              <a:lnSpc>
                <a:spcPct val="120000"/>
              </a:lnSpc>
              <a:spcBef>
                <a:spcPts val="0"/>
              </a:spcBef>
              <a:spcAft>
                <a:spcPts val="600"/>
              </a:spcAft>
            </a:pPr>
            <a:r>
              <a:rPr sz="1400" b="1">
                <a:solidFill>
                  <a:srgbClr val="3FD08C"/>
                </a:solidFill>
                <a:latin typeface="Segoe UI"/>
              </a:rPr>
              <a:t>Regla del proyecto</a:t>
            </a:r>
          </a:p>
          <a:p>
            <a:pPr algn="l">
              <a:lnSpc>
                <a:spcPct val="120000"/>
              </a:lnSpc>
              <a:spcBef>
                <a:spcPts val="0"/>
              </a:spcBef>
              <a:spcAft>
                <a:spcPts val="600"/>
              </a:spcAft>
            </a:pPr>
            <a:r>
              <a:rPr sz="1500" b="1">
                <a:solidFill>
                  <a:srgbClr val="F4F6FB"/>
                </a:solidFill>
                <a:latin typeface="Segoe UI"/>
              </a:rPr>
              <a:t>“El lienzo nunca queda en blanco.”</a:t>
            </a:r>
          </a:p>
          <a:p>
            <a:pPr algn="l">
              <a:lnSpc>
                <a:spcPct val="120000"/>
              </a:lnSpc>
              <a:spcBef>
                <a:spcPts val="0"/>
              </a:spcBef>
              <a:spcAft>
                <a:spcPts val="600"/>
              </a:spcAft>
            </a:pPr>
            <a:r>
              <a:rPr sz="800" b="0">
                <a:solidFill>
                  <a:srgbClr val="9AA4C0"/>
                </a:solidFill>
                <a:latin typeface="Segoe UI"/>
              </a:rPr>
              <a:t/>
            </a:r>
          </a:p>
          <a:p>
            <a:pPr algn="l">
              <a:lnSpc>
                <a:spcPct val="120000"/>
              </a:lnSpc>
              <a:spcBef>
                <a:spcPts val="0"/>
              </a:spcBef>
              <a:spcAft>
                <a:spcPts val="600"/>
              </a:spcAft>
            </a:pPr>
            <a:r>
              <a:rPr sz="1300" b="1">
                <a:solidFill>
                  <a:srgbClr val="3FD08C"/>
                </a:solidFill>
                <a:latin typeface="Segoe UI"/>
              </a:rPr>
              <a:t>Para replicar:</a:t>
            </a:r>
          </a:p>
          <a:p>
            <a:pPr algn="l">
              <a:lnSpc>
                <a:spcPct val="120000"/>
              </a:lnSpc>
              <a:spcBef>
                <a:spcPts val="0"/>
              </a:spcBef>
              <a:spcAft>
                <a:spcPts val="600"/>
              </a:spcAft>
            </a:pPr>
            <a:r>
              <a:rPr sz="1250" b="0">
                <a:solidFill>
                  <a:srgbClr val="F4F6FB"/>
                </a:solidFill>
                <a:latin typeface="Segoe UI"/>
              </a:rPr>
              <a:t>• Envuelve cada frontera frágil (I/O del modelo, parseo, render).</a:t>
            </a:r>
          </a:p>
          <a:p>
            <a:pPr algn="l">
              <a:lnSpc>
                <a:spcPct val="120000"/>
              </a:lnSpc>
              <a:spcBef>
                <a:spcPts val="0"/>
              </a:spcBef>
              <a:spcAft>
                <a:spcPts val="600"/>
              </a:spcAft>
            </a:pPr>
            <a:r>
              <a:rPr sz="1250" b="0">
                <a:solidFill>
                  <a:srgbClr val="F4F6FB"/>
                </a:solidFill>
                <a:latin typeface="Segoe UI"/>
              </a:rPr>
              <a:t>• Define el estado degradado ANTES de necesitarlo.</a:t>
            </a:r>
          </a:p>
          <a:p>
            <a:pPr algn="l">
              <a:lnSpc>
                <a:spcPct val="120000"/>
              </a:lnSpc>
              <a:spcBef>
                <a:spcPts val="0"/>
              </a:spcBef>
              <a:spcAft>
                <a:spcPts val="600"/>
              </a:spcAft>
            </a:pPr>
            <a:r>
              <a:rPr sz="1250" b="0">
                <a:solidFill>
                  <a:srgbClr val="F4F6FB"/>
                </a:solidFill>
                <a:latin typeface="Segoe UI"/>
              </a:rPr>
              <a:t>• Falla suave y visible, nunca en seco.</a:t>
            </a:r>
          </a:p>
          <a:p>
            <a:pPr algn="l">
              <a:lnSpc>
                <a:spcPct val="120000"/>
              </a:lnSpc>
              <a:spcBef>
                <a:spcPts val="0"/>
              </a:spcBef>
              <a:spcAft>
                <a:spcPts val="600"/>
              </a:spcAft>
            </a:pPr>
            <a:r>
              <a:rPr sz="1250" b="0">
                <a:solidFill>
                  <a:srgbClr val="F4F6FB"/>
                </a:solidFill>
                <a:latin typeface="Segoe UI"/>
              </a:rPr>
              <a:t>• Prueba el camino degradado como una feature más.</a:t>
            </a:r>
          </a:p>
        </p:txBody>
      </p:sp>
      <p:sp>
        <p:nvSpPr>
          <p:cNvPr id="27" name="TextBox 26"/>
          <p:cNvSpPr txBox="1"/>
          <p:nvPr/>
        </p:nvSpPr>
        <p:spPr>
          <a:xfrm>
            <a:off x="11018520" y="6419088"/>
            <a:ext cx="960120" cy="365760"/>
          </a:xfrm>
          <a:prstGeom prst="rect">
            <a:avLst/>
          </a:prstGeom>
          <a:noFill/>
        </p:spPr>
        <p:txBody>
          <a:bodyPr wrap="square" anchor="t" lIns="12700" rIns="12700" tIns="12700" bIns="12700">
            <a:spAutoFit/>
          </a:bodyPr>
          <a:lstStyle/>
          <a:p>
            <a:pPr algn="r">
              <a:lnSpc>
                <a:spcPct val="105000"/>
              </a:lnSpc>
              <a:spcBef>
                <a:spcPts val="0"/>
              </a:spcBef>
              <a:spcAft>
                <a:spcPts val="500"/>
              </a:spcAft>
            </a:pPr>
            <a:r>
              <a:rPr sz="1100" b="1">
                <a:solidFill>
                  <a:srgbClr val="9AA4C0"/>
                </a:solidFill>
                <a:latin typeface="Segoe UI"/>
              </a:rPr>
              <a:t>13</a:t>
            </a:r>
          </a:p>
        </p:txBody>
      </p:sp>
      <p:sp>
        <p:nvSpPr>
          <p:cNvPr id="28" name="Rectangle 27"/>
          <p:cNvSpPr/>
          <p:nvPr/>
        </p:nvSpPr>
        <p:spPr>
          <a:xfrm>
            <a:off x="0" y="6784848"/>
            <a:ext cx="12191695" cy="73152"/>
          </a:xfrm>
          <a:prstGeom prst="rect">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30352"/>
            <a:ext cx="292608" cy="54864"/>
          </a:xfrm>
          <a:prstGeom prst="rect">
            <a:avLst/>
          </a:prstGeom>
          <a:solidFill>
            <a:srgbClr val="34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07008" y="429768"/>
            <a:ext cx="10058400" cy="3657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34D3EE"/>
                </a:solidFill>
                <a:latin typeface="Segoe UI"/>
              </a:rPr>
              <a:t>CÓMO SE COMPONEN LAS 7</a:t>
            </a:r>
          </a:p>
        </p:txBody>
      </p:sp>
      <p:sp>
        <p:nvSpPr>
          <p:cNvPr id="5" name="TextBox 4"/>
          <p:cNvSpPr txBox="1"/>
          <p:nvPr/>
        </p:nvSpPr>
        <p:spPr>
          <a:xfrm>
            <a:off x="777240" y="777240"/>
            <a:ext cx="10607040" cy="9144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3000" b="1">
                <a:solidFill>
                  <a:srgbClr val="F4F6FB"/>
                </a:solidFill>
                <a:latin typeface="Segoe UI"/>
              </a:rPr>
              <a:t>Una petición, las 7 ingenierías</a:t>
            </a:r>
          </a:p>
        </p:txBody>
      </p:sp>
      <p:sp>
        <p:nvSpPr>
          <p:cNvPr id="6" name="TextBox 5"/>
          <p:cNvSpPr txBox="1"/>
          <p:nvPr/>
        </p:nvSpPr>
        <p:spPr>
          <a:xfrm>
            <a:off x="822960" y="1554480"/>
            <a:ext cx="10607040" cy="50292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500" b="1">
                <a:solidFill>
                  <a:srgbClr val="9AA4C0"/>
                </a:solidFill>
                <a:latin typeface="Segoe UI"/>
              </a:rPr>
              <a:t>“Modela el proceso de este PDF” — recorrido de extremo a extremo:</a:t>
            </a:r>
          </a:p>
        </p:txBody>
      </p:sp>
      <p:sp>
        <p:nvSpPr>
          <p:cNvPr id="7" name="Rounded Rectangle 6"/>
          <p:cNvSpPr/>
          <p:nvPr/>
        </p:nvSpPr>
        <p:spPr>
          <a:xfrm>
            <a:off x="822960" y="2331720"/>
            <a:ext cx="2468880" cy="1051560"/>
          </a:xfrm>
          <a:prstGeom prst="roundRect">
            <a:avLst>
              <a:gd name="adj" fmla="val 10000"/>
            </a:avLst>
          </a:prstGeom>
          <a:solidFill>
            <a:srgbClr val="141C33"/>
          </a:solidFill>
          <a:ln w="15875">
            <a:solidFill>
              <a:srgbClr val="F5B3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331720"/>
            <a:ext cx="2468880" cy="82296"/>
          </a:xfrm>
          <a:prstGeom prst="rect">
            <a:avLst/>
          </a:prstGeom>
          <a:solidFill>
            <a:srgbClr val="F5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441448"/>
            <a:ext cx="2194560" cy="4572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800" b="0">
                <a:solidFill>
                  <a:srgbClr val="F4F6FB"/>
                </a:solidFill>
                <a:latin typeface="Segoe UI"/>
              </a:rPr>
              <a:t>🎯  </a:t>
            </a:r>
            <a:r>
              <a:rPr sz="1450" b="1">
                <a:solidFill>
                  <a:srgbClr val="F5B341"/>
                </a:solidFill>
                <a:latin typeface="Segoe UI"/>
              </a:rPr>
              <a:t>Intent</a:t>
            </a:r>
          </a:p>
        </p:txBody>
      </p:sp>
      <p:sp>
        <p:nvSpPr>
          <p:cNvPr id="10" name="TextBox 9"/>
          <p:cNvSpPr txBox="1"/>
          <p:nvPr/>
        </p:nvSpPr>
        <p:spPr>
          <a:xfrm>
            <a:off x="960120" y="2935224"/>
            <a:ext cx="2194560" cy="41148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150" b="0">
                <a:solidFill>
                  <a:srgbClr val="9AA4C0"/>
                </a:solidFill>
                <a:latin typeface="Segoe UI"/>
              </a:rPr>
              <a:t>la necesidad → AiTask</a:t>
            </a:r>
          </a:p>
        </p:txBody>
      </p:sp>
      <p:sp>
        <p:nvSpPr>
          <p:cNvPr id="11" name="Right Arrow 10"/>
          <p:cNvSpPr/>
          <p:nvPr/>
        </p:nvSpPr>
        <p:spPr>
          <a:xfrm>
            <a:off x="3310128" y="2775204"/>
            <a:ext cx="201168" cy="155448"/>
          </a:xfrm>
          <a:prstGeom prst="right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47872" y="2331720"/>
            <a:ext cx="2468880" cy="1051560"/>
          </a:xfrm>
          <a:prstGeom prst="roundRect">
            <a:avLst>
              <a:gd name="adj" fmla="val 10000"/>
            </a:avLst>
          </a:prstGeom>
          <a:solidFill>
            <a:srgbClr val="141C33"/>
          </a:solidFill>
          <a:ln w="15875">
            <a:solidFill>
              <a:srgbClr val="34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47872" y="2331720"/>
            <a:ext cx="2468880" cy="82296"/>
          </a:xfrm>
          <a:prstGeom prst="rect">
            <a:avLst/>
          </a:prstGeom>
          <a:solidFill>
            <a:srgbClr val="34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85032" y="2441448"/>
            <a:ext cx="2194560" cy="4572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800" b="0">
                <a:solidFill>
                  <a:srgbClr val="F4F6FB"/>
                </a:solidFill>
                <a:latin typeface="Segoe UI"/>
              </a:rPr>
              <a:t>🧠  </a:t>
            </a:r>
            <a:r>
              <a:rPr sz="1450" b="1">
                <a:solidFill>
                  <a:srgbClr val="34D3EE"/>
                </a:solidFill>
                <a:latin typeface="Segoe UI"/>
              </a:rPr>
              <a:t>Context</a:t>
            </a:r>
          </a:p>
        </p:txBody>
      </p:sp>
      <p:sp>
        <p:nvSpPr>
          <p:cNvPr id="15" name="TextBox 14"/>
          <p:cNvSpPr txBox="1"/>
          <p:nvPr/>
        </p:nvSpPr>
        <p:spPr>
          <a:xfrm>
            <a:off x="3685032" y="2935224"/>
            <a:ext cx="2194560" cy="41148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150" b="0">
                <a:solidFill>
                  <a:srgbClr val="9AA4C0"/>
                </a:solidFill>
                <a:latin typeface="Segoe UI"/>
              </a:rPr>
              <a:t>PDF+grafo en TOON</a:t>
            </a:r>
          </a:p>
        </p:txBody>
      </p:sp>
      <p:sp>
        <p:nvSpPr>
          <p:cNvPr id="16" name="Right Arrow 15"/>
          <p:cNvSpPr/>
          <p:nvPr/>
        </p:nvSpPr>
        <p:spPr>
          <a:xfrm>
            <a:off x="6035040" y="2775204"/>
            <a:ext cx="201168" cy="155448"/>
          </a:xfrm>
          <a:prstGeom prst="right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72784" y="2331720"/>
            <a:ext cx="2468880" cy="1051560"/>
          </a:xfrm>
          <a:prstGeom prst="roundRect">
            <a:avLst>
              <a:gd name="adj" fmla="val 10000"/>
            </a:avLst>
          </a:prstGeom>
          <a:solidFill>
            <a:srgbClr val="141C33"/>
          </a:solidFill>
          <a:ln w="15875">
            <a:solidFill>
              <a:srgbClr val="5B8D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72784" y="2331720"/>
            <a:ext cx="2468880" cy="82296"/>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9944" y="2441448"/>
            <a:ext cx="2194560" cy="4572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800" b="0">
                <a:solidFill>
                  <a:srgbClr val="F4F6FB"/>
                </a:solidFill>
                <a:latin typeface="Segoe UI"/>
              </a:rPr>
              <a:t>🗣️  </a:t>
            </a:r>
            <a:r>
              <a:rPr sz="1450" b="1">
                <a:solidFill>
                  <a:srgbClr val="5B8DEF"/>
                </a:solidFill>
                <a:latin typeface="Segoe UI"/>
              </a:rPr>
              <a:t>Prompt</a:t>
            </a:r>
          </a:p>
        </p:txBody>
      </p:sp>
      <p:sp>
        <p:nvSpPr>
          <p:cNvPr id="20" name="TextBox 19"/>
          <p:cNvSpPr txBox="1"/>
          <p:nvPr/>
        </p:nvSpPr>
        <p:spPr>
          <a:xfrm>
            <a:off x="6409944" y="2935224"/>
            <a:ext cx="2194560" cy="41148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150" b="0">
                <a:solidFill>
                  <a:srgbClr val="9AA4C0"/>
                </a:solidFill>
                <a:latin typeface="Segoe UI"/>
              </a:rPr>
              <a:t>instrucción + saneo</a:t>
            </a:r>
          </a:p>
        </p:txBody>
      </p:sp>
      <p:sp>
        <p:nvSpPr>
          <p:cNvPr id="21" name="Right Arrow 20"/>
          <p:cNvSpPr/>
          <p:nvPr/>
        </p:nvSpPr>
        <p:spPr>
          <a:xfrm>
            <a:off x="8759952" y="2775204"/>
            <a:ext cx="201168" cy="155448"/>
          </a:xfrm>
          <a:prstGeom prst="right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997696" y="2331720"/>
            <a:ext cx="2468880" cy="1051560"/>
          </a:xfrm>
          <a:prstGeom prst="roundRect">
            <a:avLst>
              <a:gd name="adj" fmla="val 10000"/>
            </a:avLst>
          </a:prstGeom>
          <a:solidFill>
            <a:srgbClr val="141C33"/>
          </a:solidFill>
          <a:ln w="15875">
            <a:solidFill>
              <a:srgbClr val="F27A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97696" y="2331720"/>
            <a:ext cx="2468880" cy="82296"/>
          </a:xfrm>
          <a:prstGeom prst="rect">
            <a:avLst/>
          </a:prstGeom>
          <a:solidFill>
            <a:srgbClr val="F2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34856" y="2441448"/>
            <a:ext cx="2194560" cy="4572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800" b="0">
                <a:solidFill>
                  <a:srgbClr val="F4F6FB"/>
                </a:solidFill>
                <a:latin typeface="Segoe UI"/>
              </a:rPr>
              <a:t>🌊  </a:t>
            </a:r>
            <a:r>
              <a:rPr sz="1450" b="1">
                <a:solidFill>
                  <a:srgbClr val="F27A3D"/>
                </a:solidFill>
                <a:latin typeface="Segoe UI"/>
              </a:rPr>
              <a:t>Flow</a:t>
            </a:r>
          </a:p>
        </p:txBody>
      </p:sp>
      <p:sp>
        <p:nvSpPr>
          <p:cNvPr id="25" name="TextBox 24"/>
          <p:cNvSpPr txBox="1"/>
          <p:nvPr/>
        </p:nvSpPr>
        <p:spPr>
          <a:xfrm>
            <a:off x="9134856" y="2935224"/>
            <a:ext cx="2194560" cy="41148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150" b="0">
                <a:solidFill>
                  <a:srgbClr val="9AA4C0"/>
                </a:solidFill>
                <a:latin typeface="Segoe UI"/>
              </a:rPr>
              <a:t>router elige motor</a:t>
            </a:r>
          </a:p>
        </p:txBody>
      </p:sp>
      <p:sp>
        <p:nvSpPr>
          <p:cNvPr id="26" name="Rounded Rectangle 25"/>
          <p:cNvSpPr/>
          <p:nvPr/>
        </p:nvSpPr>
        <p:spPr>
          <a:xfrm>
            <a:off x="822960" y="3886200"/>
            <a:ext cx="2468880" cy="1051560"/>
          </a:xfrm>
          <a:prstGeom prst="roundRect">
            <a:avLst>
              <a:gd name="adj" fmla="val 10000"/>
            </a:avLst>
          </a:prstGeom>
          <a:solidFill>
            <a:srgbClr val="141C33"/>
          </a:solidFill>
          <a:ln w="15875">
            <a:solidFill>
              <a:srgbClr val="EF5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3886200"/>
            <a:ext cx="2468880" cy="82296"/>
          </a:xfrm>
          <a:prstGeom prst="rect">
            <a:avLst/>
          </a:prstGeom>
          <a:solidFill>
            <a:srgbClr val="E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3995928"/>
            <a:ext cx="2194560" cy="4572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800" b="0">
                <a:solidFill>
                  <a:srgbClr val="F4F6FB"/>
                </a:solidFill>
                <a:latin typeface="Segoe UI"/>
              </a:rPr>
              <a:t>🔂  </a:t>
            </a:r>
            <a:r>
              <a:rPr sz="1450" b="1">
                <a:solidFill>
                  <a:srgbClr val="EF5DA8"/>
                </a:solidFill>
                <a:latin typeface="Segoe UI"/>
              </a:rPr>
              <a:t>Loop</a:t>
            </a:r>
          </a:p>
        </p:txBody>
      </p:sp>
      <p:sp>
        <p:nvSpPr>
          <p:cNvPr id="29" name="TextBox 28"/>
          <p:cNvSpPr txBox="1"/>
          <p:nvPr/>
        </p:nvSpPr>
        <p:spPr>
          <a:xfrm>
            <a:off x="960120" y="4489704"/>
            <a:ext cx="2194560" cy="41148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150" b="0">
                <a:solidFill>
                  <a:srgbClr val="9AA4C0"/>
                </a:solidFill>
                <a:latin typeface="Segoe UI"/>
              </a:rPr>
              <a:t>ReAct ≤5 turnos</a:t>
            </a:r>
          </a:p>
        </p:txBody>
      </p:sp>
      <p:sp>
        <p:nvSpPr>
          <p:cNvPr id="30" name="Right Arrow 29"/>
          <p:cNvSpPr/>
          <p:nvPr/>
        </p:nvSpPr>
        <p:spPr>
          <a:xfrm>
            <a:off x="3310128" y="4329684"/>
            <a:ext cx="201168" cy="155448"/>
          </a:xfrm>
          <a:prstGeom prst="right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547872" y="3886200"/>
            <a:ext cx="2468880" cy="1051560"/>
          </a:xfrm>
          <a:prstGeom prst="roundRect">
            <a:avLst>
              <a:gd name="adj" fmla="val 10000"/>
            </a:avLst>
          </a:prstGeom>
          <a:solidFill>
            <a:srgbClr val="141C33"/>
          </a:solidFill>
          <a:ln w="15875">
            <a:solidFill>
              <a:srgbClr val="9B8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547872" y="3886200"/>
            <a:ext cx="2468880" cy="82296"/>
          </a:xfrm>
          <a:prstGeom prst="rect">
            <a:avLst/>
          </a:prstGeom>
          <a:solidFill>
            <a:srgbClr val="9B8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85032" y="3995928"/>
            <a:ext cx="2194560" cy="4572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800" b="0">
                <a:solidFill>
                  <a:srgbClr val="F4F6FB"/>
                </a:solidFill>
                <a:latin typeface="Segoe UI"/>
              </a:rPr>
              <a:t>🔁  </a:t>
            </a:r>
            <a:r>
              <a:rPr sz="1450" b="1">
                <a:solidFill>
                  <a:srgbClr val="9B8BF0"/>
                </a:solidFill>
                <a:latin typeface="Segoe UI"/>
              </a:rPr>
              <a:t>HITL</a:t>
            </a:r>
          </a:p>
        </p:txBody>
      </p:sp>
      <p:sp>
        <p:nvSpPr>
          <p:cNvPr id="34" name="TextBox 33"/>
          <p:cNvSpPr txBox="1"/>
          <p:nvPr/>
        </p:nvSpPr>
        <p:spPr>
          <a:xfrm>
            <a:off x="3685032" y="4489704"/>
            <a:ext cx="2194560" cy="41148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150" b="0">
                <a:solidFill>
                  <a:srgbClr val="9AA4C0"/>
                </a:solidFill>
                <a:latin typeface="Segoe UI"/>
              </a:rPr>
              <a:t>el usuario aprueba</a:t>
            </a:r>
          </a:p>
        </p:txBody>
      </p:sp>
      <p:sp>
        <p:nvSpPr>
          <p:cNvPr id="35" name="Right Arrow 34"/>
          <p:cNvSpPr/>
          <p:nvPr/>
        </p:nvSpPr>
        <p:spPr>
          <a:xfrm>
            <a:off x="6035040" y="4329684"/>
            <a:ext cx="201168" cy="155448"/>
          </a:xfrm>
          <a:prstGeom prst="rightArrow">
            <a:avLst/>
          </a:prstGeom>
          <a:solidFill>
            <a:srgbClr val="9AA4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272784" y="3886200"/>
            <a:ext cx="2468880" cy="1051560"/>
          </a:xfrm>
          <a:prstGeom prst="roundRect">
            <a:avLst>
              <a:gd name="adj" fmla="val 10000"/>
            </a:avLst>
          </a:prstGeom>
          <a:solidFill>
            <a:srgbClr val="141C33"/>
          </a:solidFill>
          <a:ln w="15875">
            <a:solidFill>
              <a:srgbClr val="3FD0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72784" y="3886200"/>
            <a:ext cx="2468880" cy="82296"/>
          </a:xfrm>
          <a:prstGeom prst="rect">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9944" y="3995928"/>
            <a:ext cx="2194560" cy="4572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800" b="0">
                <a:solidFill>
                  <a:srgbClr val="F4F6FB"/>
                </a:solidFill>
                <a:latin typeface="Segoe UI"/>
              </a:rPr>
              <a:t>🧪  </a:t>
            </a:r>
            <a:r>
              <a:rPr sz="1450" b="1">
                <a:solidFill>
                  <a:srgbClr val="3FD08C"/>
                </a:solidFill>
                <a:latin typeface="Segoe UI"/>
              </a:rPr>
              <a:t>Harness</a:t>
            </a:r>
          </a:p>
        </p:txBody>
      </p:sp>
      <p:sp>
        <p:nvSpPr>
          <p:cNvPr id="39" name="TextBox 38"/>
          <p:cNvSpPr txBox="1"/>
          <p:nvPr/>
        </p:nvSpPr>
        <p:spPr>
          <a:xfrm>
            <a:off x="6409944" y="4489704"/>
            <a:ext cx="2194560" cy="41148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150" b="0">
                <a:solidFill>
                  <a:srgbClr val="9AA4C0"/>
                </a:solidFill>
                <a:latin typeface="Segoe UI"/>
              </a:rPr>
              <a:t>tests lo blindan</a:t>
            </a:r>
          </a:p>
        </p:txBody>
      </p:sp>
      <p:sp>
        <p:nvSpPr>
          <p:cNvPr id="40" name="TextBox 39"/>
          <p:cNvSpPr txBox="1"/>
          <p:nvPr/>
        </p:nvSpPr>
        <p:spPr>
          <a:xfrm>
            <a:off x="9866376" y="3438144"/>
            <a:ext cx="914400" cy="365760"/>
          </a:xfrm>
          <a:prstGeom prst="rect">
            <a:avLst/>
          </a:prstGeom>
          <a:noFill/>
        </p:spPr>
        <p:txBody>
          <a:bodyPr wrap="square" anchor="t" lIns="12700" rIns="12700" tIns="12700" bIns="12700">
            <a:spAutoFit/>
          </a:bodyPr>
          <a:lstStyle/>
          <a:p>
            <a:pPr algn="ctr">
              <a:lnSpc>
                <a:spcPct val="105000"/>
              </a:lnSpc>
              <a:spcBef>
                <a:spcPts val="0"/>
              </a:spcBef>
              <a:spcAft>
                <a:spcPts val="500"/>
              </a:spcAft>
            </a:pPr>
            <a:r>
              <a:rPr sz="2000" b="1">
                <a:solidFill>
                  <a:srgbClr val="9AA4C0"/>
                </a:solidFill>
                <a:latin typeface="Segoe UI"/>
              </a:rPr>
              <a:t>↩</a:t>
            </a:r>
          </a:p>
        </p:txBody>
      </p:sp>
      <p:sp>
        <p:nvSpPr>
          <p:cNvPr id="41" name="Rounded Rectangle 40"/>
          <p:cNvSpPr/>
          <p:nvPr/>
        </p:nvSpPr>
        <p:spPr>
          <a:xfrm>
            <a:off x="8997696" y="3886200"/>
            <a:ext cx="2468880" cy="1051560"/>
          </a:xfrm>
          <a:prstGeom prst="roundRect">
            <a:avLst>
              <a:gd name="adj" fmla="val 10000"/>
            </a:avLst>
          </a:prstGeom>
          <a:solidFill>
            <a:srgbClr val="122A1E"/>
          </a:solidFill>
          <a:ln w="19050">
            <a:solidFill>
              <a:srgbClr val="3FD0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34856" y="3886200"/>
            <a:ext cx="2194560" cy="1051560"/>
          </a:xfrm>
          <a:prstGeom prst="rect">
            <a:avLst/>
          </a:prstGeom>
          <a:noFill/>
        </p:spPr>
        <p:txBody>
          <a:bodyPr wrap="square" anchor="ctr" lIns="12700" rIns="12700" tIns="12700" bIns="12700">
            <a:spAutoFit/>
          </a:bodyPr>
          <a:lstStyle/>
          <a:p>
            <a:pPr algn="ctr">
              <a:lnSpc>
                <a:spcPct val="105000"/>
              </a:lnSpc>
              <a:spcBef>
                <a:spcPts val="0"/>
              </a:spcBef>
              <a:spcAft>
                <a:spcPts val="200"/>
              </a:spcAft>
            </a:pPr>
            <a:r>
              <a:rPr sz="1350" b="1">
                <a:solidFill>
                  <a:srgbClr val="3FD08C"/>
                </a:solidFill>
                <a:latin typeface="Segoe UI"/>
              </a:rPr>
              <a:t>✅ Diagrama en el lienzo</a:t>
            </a:r>
          </a:p>
          <a:p>
            <a:pPr algn="ctr">
              <a:lnSpc>
                <a:spcPct val="105000"/>
              </a:lnSpc>
              <a:spcBef>
                <a:spcPts val="0"/>
              </a:spcBef>
              <a:spcAft>
                <a:spcPts val="200"/>
              </a:spcAft>
            </a:pPr>
            <a:r>
              <a:rPr sz="1100" b="0">
                <a:solidFill>
                  <a:srgbClr val="9AA4C0"/>
                </a:solidFill>
                <a:latin typeface="Segoe UI"/>
              </a:rPr>
              <a:t>confiable y aprobado</a:t>
            </a:r>
          </a:p>
        </p:txBody>
      </p:sp>
      <p:sp>
        <p:nvSpPr>
          <p:cNvPr id="43" name="Rounded Rectangle 42"/>
          <p:cNvSpPr/>
          <p:nvPr/>
        </p:nvSpPr>
        <p:spPr>
          <a:xfrm>
            <a:off x="822960" y="5806440"/>
            <a:ext cx="10561320" cy="658368"/>
          </a:xfrm>
          <a:prstGeom prst="roundRect">
            <a:avLst>
              <a:gd name="adj" fmla="val 8000"/>
            </a:avLst>
          </a:prstGeom>
          <a:solidFill>
            <a:srgbClr val="10172C"/>
          </a:solidFill>
          <a:ln w="12700">
            <a:solidFill>
              <a:srgbClr val="34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51560" y="5806440"/>
            <a:ext cx="10149840" cy="658368"/>
          </a:xfrm>
          <a:prstGeom prst="rect">
            <a:avLst/>
          </a:prstGeom>
          <a:noFill/>
        </p:spPr>
        <p:txBody>
          <a:bodyPr wrap="square" anchor="ctr" lIns="12700" rIns="12700" tIns="12700" bIns="12700">
            <a:spAutoFit/>
          </a:bodyPr>
          <a:lstStyle/>
          <a:p>
            <a:pPr algn="l">
              <a:lnSpc>
                <a:spcPct val="110000"/>
              </a:lnSpc>
              <a:spcBef>
                <a:spcPts val="0"/>
              </a:spcBef>
              <a:spcAft>
                <a:spcPts val="500"/>
              </a:spcAft>
            </a:pPr>
            <a:r>
              <a:rPr sz="1350" b="1">
                <a:solidFill>
                  <a:srgbClr val="34D3EE"/>
                </a:solidFill>
                <a:latin typeface="Segoe UI"/>
              </a:rPr>
              <a:t>Ninguna capa sobra. </a:t>
            </a:r>
            <a:r>
              <a:rPr sz="1250" b="0">
                <a:solidFill>
                  <a:srgbClr val="F4F6FB"/>
                </a:solidFill>
                <a:latin typeface="Segoe UI"/>
              </a:rPr>
              <a:t>Quita una y el sistema deja de ser confiable: sin Context alucina, sin Loop no compone, sin HITL corrompe, sin Harness no lo sabes.</a:t>
            </a:r>
          </a:p>
        </p:txBody>
      </p:sp>
      <p:sp>
        <p:nvSpPr>
          <p:cNvPr id="45" name="TextBox 44"/>
          <p:cNvSpPr txBox="1"/>
          <p:nvPr/>
        </p:nvSpPr>
        <p:spPr>
          <a:xfrm>
            <a:off x="11018520" y="6419088"/>
            <a:ext cx="960120" cy="365760"/>
          </a:xfrm>
          <a:prstGeom prst="rect">
            <a:avLst/>
          </a:prstGeom>
          <a:noFill/>
        </p:spPr>
        <p:txBody>
          <a:bodyPr wrap="square" anchor="t" lIns="12700" rIns="12700" tIns="12700" bIns="12700">
            <a:spAutoFit/>
          </a:bodyPr>
          <a:lstStyle/>
          <a:p>
            <a:pPr algn="r">
              <a:lnSpc>
                <a:spcPct val="105000"/>
              </a:lnSpc>
              <a:spcBef>
                <a:spcPts val="0"/>
              </a:spcBef>
              <a:spcAft>
                <a:spcPts val="500"/>
              </a:spcAft>
            </a:pPr>
            <a:r>
              <a:rPr sz="1100" b="1">
                <a:solidFill>
                  <a:srgbClr val="9AA4C0"/>
                </a:solidFill>
                <a:latin typeface="Segoe UI"/>
              </a:rPr>
              <a:t>14</a:t>
            </a:r>
          </a:p>
        </p:txBody>
      </p:sp>
      <p:sp>
        <p:nvSpPr>
          <p:cNvPr id="46" name="Rectangle 45"/>
          <p:cNvSpPr/>
          <p:nvPr/>
        </p:nvSpPr>
        <p:spPr>
          <a:xfrm>
            <a:off x="0" y="6784848"/>
            <a:ext cx="12191695" cy="73152"/>
          </a:xfrm>
          <a:prstGeom prst="rect">
            <a:avLst/>
          </a:prstGeom>
          <a:solidFill>
            <a:srgbClr val="34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30352"/>
            <a:ext cx="292608" cy="54864"/>
          </a:xfrm>
          <a:prstGeom prst="rect">
            <a:avLst/>
          </a:prstGeom>
          <a:solidFill>
            <a:srgbClr val="F5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07008" y="429768"/>
            <a:ext cx="10058400" cy="3657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F5B341"/>
                </a:solidFill>
                <a:latin typeface="Segoe UI"/>
              </a:rPr>
              <a:t>LLÉVATELO A TU STACK</a:t>
            </a:r>
          </a:p>
        </p:txBody>
      </p:sp>
      <p:sp>
        <p:nvSpPr>
          <p:cNvPr id="5" name="TextBox 4"/>
          <p:cNvSpPr txBox="1"/>
          <p:nvPr/>
        </p:nvSpPr>
        <p:spPr>
          <a:xfrm>
            <a:off x="777240" y="777240"/>
            <a:ext cx="10607040" cy="9144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3000" b="1">
                <a:solidFill>
                  <a:srgbClr val="F4F6FB"/>
                </a:solidFill>
                <a:latin typeface="Segoe UI"/>
              </a:rPr>
              <a:t>Los 8 patrones, para replicar</a:t>
            </a:r>
          </a:p>
        </p:txBody>
      </p:sp>
      <p:sp>
        <p:nvSpPr>
          <p:cNvPr id="6" name="Rectangle 5"/>
          <p:cNvSpPr/>
          <p:nvPr/>
        </p:nvSpPr>
        <p:spPr>
          <a:xfrm>
            <a:off x="822960" y="1691640"/>
            <a:ext cx="3977639" cy="534924"/>
          </a:xfrm>
          <a:prstGeom prst="rect">
            <a:avLst/>
          </a:prstGeom>
          <a:solidFill>
            <a:srgbClr val="F5B341"/>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691640"/>
            <a:ext cx="3776472" cy="53492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200" b="1">
                <a:solidFill>
                  <a:srgbClr val="0B1020"/>
                </a:solidFill>
                <a:latin typeface="Segoe UI"/>
              </a:rPr>
              <a:t>Principio</a:t>
            </a:r>
          </a:p>
        </p:txBody>
      </p:sp>
      <p:sp>
        <p:nvSpPr>
          <p:cNvPr id="8" name="Rectangle 7"/>
          <p:cNvSpPr/>
          <p:nvPr/>
        </p:nvSpPr>
        <p:spPr>
          <a:xfrm>
            <a:off x="4800600" y="1691640"/>
            <a:ext cx="6583680" cy="534924"/>
          </a:xfrm>
          <a:prstGeom prst="rect">
            <a:avLst/>
          </a:prstGeom>
          <a:solidFill>
            <a:srgbClr val="F5B341"/>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10328" y="1691640"/>
            <a:ext cx="6382512" cy="53492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200" b="1">
                <a:solidFill>
                  <a:srgbClr val="0B1020"/>
                </a:solidFill>
                <a:latin typeface="Segoe UI"/>
              </a:rPr>
              <a:t>Cómo aplicarlo (cualquier stack)</a:t>
            </a:r>
          </a:p>
        </p:txBody>
      </p:sp>
      <p:sp>
        <p:nvSpPr>
          <p:cNvPr id="10" name="Rectangle 9"/>
          <p:cNvSpPr/>
          <p:nvPr/>
        </p:nvSpPr>
        <p:spPr>
          <a:xfrm>
            <a:off x="822960" y="2226564"/>
            <a:ext cx="3977639" cy="53492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226564"/>
            <a:ext cx="3776472" cy="53492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F4F6FB"/>
                </a:solidFill>
                <a:latin typeface="Segoe UI"/>
              </a:rPr>
              <a:t>🧠 Contexto = presupuesto</a:t>
            </a:r>
          </a:p>
        </p:txBody>
      </p:sp>
      <p:sp>
        <p:nvSpPr>
          <p:cNvPr id="12" name="Rectangle 11"/>
          <p:cNvSpPr/>
          <p:nvPr/>
        </p:nvSpPr>
        <p:spPr>
          <a:xfrm>
            <a:off x="4800600" y="2226564"/>
            <a:ext cx="6583680" cy="53492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10328" y="2226564"/>
            <a:ext cx="6382512" cy="53492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Mide tokens · poda lo no semántico · tabula lo uniforme</a:t>
            </a:r>
          </a:p>
        </p:txBody>
      </p:sp>
      <p:sp>
        <p:nvSpPr>
          <p:cNvPr id="14" name="Rectangle 13"/>
          <p:cNvSpPr/>
          <p:nvPr/>
        </p:nvSpPr>
        <p:spPr>
          <a:xfrm>
            <a:off x="822960" y="2761488"/>
            <a:ext cx="3977639" cy="53492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761488"/>
            <a:ext cx="3776472" cy="53492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F4F6FB"/>
                </a:solidFill>
                <a:latin typeface="Segoe UI"/>
              </a:rPr>
              <a:t>🗣️ Salida del LLM = no confiable</a:t>
            </a:r>
          </a:p>
        </p:txBody>
      </p:sp>
      <p:sp>
        <p:nvSpPr>
          <p:cNvPr id="16" name="Rectangle 15"/>
          <p:cNvSpPr/>
          <p:nvPr/>
        </p:nvSpPr>
        <p:spPr>
          <a:xfrm>
            <a:off x="4800600" y="2761488"/>
            <a:ext cx="6583680" cy="53492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10328" y="2761488"/>
            <a:ext cx="6382512" cy="53492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Formato estricto + saneo en el borde + validar vs lista cerrada</a:t>
            </a:r>
          </a:p>
        </p:txBody>
      </p:sp>
      <p:sp>
        <p:nvSpPr>
          <p:cNvPr id="18" name="Rectangle 17"/>
          <p:cNvSpPr/>
          <p:nvPr/>
        </p:nvSpPr>
        <p:spPr>
          <a:xfrm>
            <a:off x="822960" y="3296412"/>
            <a:ext cx="3977639" cy="53492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96412"/>
            <a:ext cx="3776472" cy="53492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F4F6FB"/>
                </a:solidFill>
                <a:latin typeface="Segoe UI"/>
              </a:rPr>
              <a:t>🎯 Capacidad = dato</a:t>
            </a:r>
          </a:p>
        </p:txBody>
      </p:sp>
      <p:sp>
        <p:nvSpPr>
          <p:cNvPr id="20" name="Rectangle 19"/>
          <p:cNvSpPr/>
          <p:nvPr/>
        </p:nvSpPr>
        <p:spPr>
          <a:xfrm>
            <a:off x="4800600" y="3296412"/>
            <a:ext cx="6583680" cy="53492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10328" y="3296412"/>
            <a:ext cx="6382512" cy="53492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Catálogo declarativo con metadatos; no if/else disperso</a:t>
            </a:r>
          </a:p>
        </p:txBody>
      </p:sp>
      <p:sp>
        <p:nvSpPr>
          <p:cNvPr id="22" name="Rectangle 21"/>
          <p:cNvSpPr/>
          <p:nvPr/>
        </p:nvSpPr>
        <p:spPr>
          <a:xfrm>
            <a:off x="822960" y="3831335"/>
            <a:ext cx="3977639" cy="53492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3831335"/>
            <a:ext cx="3776472" cy="53492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F4F6FB"/>
                </a:solidFill>
                <a:latin typeface="Segoe UI"/>
              </a:rPr>
              <a:t>🌊 Enrutamiento explícito</a:t>
            </a:r>
          </a:p>
        </p:txBody>
      </p:sp>
      <p:sp>
        <p:nvSpPr>
          <p:cNvPr id="24" name="Rectangle 23"/>
          <p:cNvSpPr/>
          <p:nvPr/>
        </p:nvSpPr>
        <p:spPr>
          <a:xfrm>
            <a:off x="4800600" y="3831335"/>
            <a:ext cx="6583680" cy="53492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10328" y="3831335"/>
            <a:ext cx="6382512" cy="53492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Política central + decisión trazable (provider, reason)</a:t>
            </a:r>
          </a:p>
        </p:txBody>
      </p:sp>
      <p:sp>
        <p:nvSpPr>
          <p:cNvPr id="26" name="Rectangle 25"/>
          <p:cNvSpPr/>
          <p:nvPr/>
        </p:nvSpPr>
        <p:spPr>
          <a:xfrm>
            <a:off x="822960" y="4366259"/>
            <a:ext cx="3977639" cy="53492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366259"/>
            <a:ext cx="3776472" cy="53492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F4F6FB"/>
                </a:solidFill>
                <a:latin typeface="Segoe UI"/>
              </a:rPr>
              <a:t>🔂 Bucle con freno</a:t>
            </a:r>
          </a:p>
        </p:txBody>
      </p:sp>
      <p:sp>
        <p:nvSpPr>
          <p:cNvPr id="28" name="Rectangle 27"/>
          <p:cNvSpPr/>
          <p:nvPr/>
        </p:nvSpPr>
        <p:spPr>
          <a:xfrm>
            <a:off x="4800600" y="4366259"/>
            <a:ext cx="6583680" cy="53492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10328" y="4366259"/>
            <a:ext cx="6382512" cy="53492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Límite duro de iteraciones + contrato de terminación</a:t>
            </a:r>
          </a:p>
        </p:txBody>
      </p:sp>
      <p:sp>
        <p:nvSpPr>
          <p:cNvPr id="30" name="Rectangle 29"/>
          <p:cNvSpPr/>
          <p:nvPr/>
        </p:nvSpPr>
        <p:spPr>
          <a:xfrm>
            <a:off x="822960" y="4901183"/>
            <a:ext cx="3977639" cy="53492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8" y="4901183"/>
            <a:ext cx="3776472" cy="53492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F4F6FB"/>
                </a:solidFill>
                <a:latin typeface="Segoe UI"/>
              </a:rPr>
              <a:t>🔁 Humano en la compuerta</a:t>
            </a:r>
          </a:p>
        </p:txBody>
      </p:sp>
      <p:sp>
        <p:nvSpPr>
          <p:cNvPr id="32" name="Rectangle 31"/>
          <p:cNvSpPr/>
          <p:nvPr/>
        </p:nvSpPr>
        <p:spPr>
          <a:xfrm>
            <a:off x="4800600" y="4901183"/>
            <a:ext cx="6583680" cy="53492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10328" y="4901183"/>
            <a:ext cx="6382512" cy="53492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Separa “propuesto” de “aplicado”; aprobación imposible de saltar</a:t>
            </a:r>
          </a:p>
        </p:txBody>
      </p:sp>
      <p:sp>
        <p:nvSpPr>
          <p:cNvPr id="34" name="Rectangle 33"/>
          <p:cNvSpPr/>
          <p:nvPr/>
        </p:nvSpPr>
        <p:spPr>
          <a:xfrm>
            <a:off x="822960" y="5436107"/>
            <a:ext cx="3977639" cy="53492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2688" y="5436107"/>
            <a:ext cx="3776472" cy="53492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F4F6FB"/>
                </a:solidFill>
                <a:latin typeface="Segoe UI"/>
              </a:rPr>
              <a:t>🧪 Lógica pura probada</a:t>
            </a:r>
          </a:p>
        </p:txBody>
      </p:sp>
      <p:sp>
        <p:nvSpPr>
          <p:cNvPr id="36" name="Rectangle 35"/>
          <p:cNvSpPr/>
          <p:nvPr/>
        </p:nvSpPr>
        <p:spPr>
          <a:xfrm>
            <a:off x="4800600" y="5436107"/>
            <a:ext cx="6583680" cy="534924"/>
          </a:xfrm>
          <a:prstGeom prst="rect">
            <a:avLst/>
          </a:prstGeom>
          <a:solidFill>
            <a:srgbClr val="141C33"/>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10328" y="5436107"/>
            <a:ext cx="6382512" cy="53492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Aísla del framework · TDD · gate en CI que bloquea</a:t>
            </a:r>
          </a:p>
        </p:txBody>
      </p:sp>
      <p:sp>
        <p:nvSpPr>
          <p:cNvPr id="38" name="Rectangle 37"/>
          <p:cNvSpPr/>
          <p:nvPr/>
        </p:nvSpPr>
        <p:spPr>
          <a:xfrm>
            <a:off x="822960" y="5971031"/>
            <a:ext cx="3977639" cy="53492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2688" y="5971031"/>
            <a:ext cx="3776472" cy="53492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1">
                <a:solidFill>
                  <a:srgbClr val="F4F6FB"/>
                </a:solidFill>
                <a:latin typeface="Segoe UI"/>
              </a:rPr>
              <a:t>🛟 Degrada, no rompas</a:t>
            </a:r>
          </a:p>
        </p:txBody>
      </p:sp>
      <p:sp>
        <p:nvSpPr>
          <p:cNvPr id="40" name="Rectangle 39"/>
          <p:cNvSpPr/>
          <p:nvPr/>
        </p:nvSpPr>
        <p:spPr>
          <a:xfrm>
            <a:off x="4800600" y="5971031"/>
            <a:ext cx="6583680" cy="534924"/>
          </a:xfrm>
          <a:prstGeom prst="rect">
            <a:avLst/>
          </a:prstGeom>
          <a:solidFill>
            <a:srgbClr val="10172C"/>
          </a:solidFill>
          <a:ln w="12700">
            <a:solidFill>
              <a:srgbClr val="0B1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10328" y="5971031"/>
            <a:ext cx="6382512" cy="534924"/>
          </a:xfrm>
          <a:prstGeom prst="rect">
            <a:avLst/>
          </a:prstGeom>
          <a:noFill/>
        </p:spPr>
        <p:txBody>
          <a:bodyPr wrap="square" anchor="ctr" lIns="12700" rIns="12700" tIns="12700" bIns="12700">
            <a:spAutoFit/>
          </a:bodyPr>
          <a:lstStyle/>
          <a:p>
            <a:pPr algn="l">
              <a:lnSpc>
                <a:spcPct val="100000"/>
              </a:lnSpc>
              <a:spcBef>
                <a:spcPts val="0"/>
              </a:spcBef>
              <a:spcAft>
                <a:spcPts val="0"/>
              </a:spcAft>
            </a:pPr>
            <a:r>
              <a:rPr sz="1150" b="0">
                <a:solidFill>
                  <a:srgbClr val="F4F6FB"/>
                </a:solidFill>
                <a:latin typeface="Segoe UI"/>
              </a:rPr>
              <a:t>Estado de caída definido y probado en cada frontera frágil</a:t>
            </a:r>
          </a:p>
        </p:txBody>
      </p:sp>
      <p:sp>
        <p:nvSpPr>
          <p:cNvPr id="42" name="TextBox 41"/>
          <p:cNvSpPr txBox="1"/>
          <p:nvPr/>
        </p:nvSpPr>
        <p:spPr>
          <a:xfrm>
            <a:off x="11018520" y="6419088"/>
            <a:ext cx="960120" cy="365760"/>
          </a:xfrm>
          <a:prstGeom prst="rect">
            <a:avLst/>
          </a:prstGeom>
          <a:noFill/>
        </p:spPr>
        <p:txBody>
          <a:bodyPr wrap="square" anchor="t" lIns="12700" rIns="12700" tIns="12700" bIns="12700">
            <a:spAutoFit/>
          </a:bodyPr>
          <a:lstStyle/>
          <a:p>
            <a:pPr algn="r">
              <a:lnSpc>
                <a:spcPct val="105000"/>
              </a:lnSpc>
              <a:spcBef>
                <a:spcPts val="0"/>
              </a:spcBef>
              <a:spcAft>
                <a:spcPts val="500"/>
              </a:spcAft>
            </a:pPr>
            <a:r>
              <a:rPr sz="1100" b="1">
                <a:solidFill>
                  <a:srgbClr val="9AA4C0"/>
                </a:solidFill>
                <a:latin typeface="Segoe UI"/>
              </a:rPr>
              <a:t>15</a:t>
            </a:r>
          </a:p>
        </p:txBody>
      </p:sp>
      <p:sp>
        <p:nvSpPr>
          <p:cNvPr id="43" name="Rectangle 42"/>
          <p:cNvSpPr/>
          <p:nvPr/>
        </p:nvSpPr>
        <p:spPr>
          <a:xfrm>
            <a:off x="0" y="6784848"/>
            <a:ext cx="12191695" cy="73152"/>
          </a:xfrm>
          <a:prstGeom prst="rect">
            <a:avLst/>
          </a:prstGeom>
          <a:solidFill>
            <a:srgbClr val="F5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30352"/>
            <a:ext cx="292608" cy="54864"/>
          </a:xfrm>
          <a:prstGeom prst="rect">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07008" y="429768"/>
            <a:ext cx="10058400" cy="36576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200" b="1">
                <a:solidFill>
                  <a:srgbClr val="3FD08C"/>
                </a:solidFill>
                <a:latin typeface="Segoe UI"/>
              </a:rPr>
              <a:t>LA CONSECUENCIA · DEMO EN VIVO</a:t>
            </a:r>
          </a:p>
        </p:txBody>
      </p:sp>
      <p:sp>
        <p:nvSpPr>
          <p:cNvPr id="5" name="TextBox 4"/>
          <p:cNvSpPr txBox="1"/>
          <p:nvPr/>
        </p:nvSpPr>
        <p:spPr>
          <a:xfrm>
            <a:off x="777240" y="777240"/>
            <a:ext cx="10607040" cy="9144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3200" b="1">
                <a:solidFill>
                  <a:srgbClr val="F4F6FB"/>
                </a:solidFill>
                <a:latin typeface="Segoe UI"/>
              </a:rPr>
              <a:t>Processflow Architect</a:t>
            </a:r>
          </a:p>
        </p:txBody>
      </p:sp>
      <p:sp>
        <p:nvSpPr>
          <p:cNvPr id="6" name="TextBox 5"/>
          <p:cNvSpPr txBox="1"/>
          <p:nvPr/>
        </p:nvSpPr>
        <p:spPr>
          <a:xfrm>
            <a:off x="822960" y="1600200"/>
            <a:ext cx="10607040" cy="54864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500" b="0">
                <a:solidFill>
                  <a:srgbClr val="9AA4C0"/>
                </a:solidFill>
                <a:latin typeface="Segoe UI"/>
              </a:rPr>
              <a:t>Las 7 ingenierías funcionando juntas. Cada momento de la demo activa un patrón:</a:t>
            </a:r>
          </a:p>
        </p:txBody>
      </p:sp>
      <p:sp>
        <p:nvSpPr>
          <p:cNvPr id="7" name="Rounded Rectangle 6"/>
          <p:cNvSpPr/>
          <p:nvPr/>
        </p:nvSpPr>
        <p:spPr>
          <a:xfrm>
            <a:off x="822960" y="2423160"/>
            <a:ext cx="10561320" cy="576072"/>
          </a:xfrm>
          <a:prstGeom prst="roundRect">
            <a:avLst>
              <a:gd name="adj" fmla="val 12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423160"/>
            <a:ext cx="109728" cy="576072"/>
          </a:xfrm>
          <a:prstGeom prst="rect">
            <a:avLst/>
          </a:prstGeom>
          <a:solidFill>
            <a:srgbClr val="F5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51560" y="2537460"/>
            <a:ext cx="347472" cy="347472"/>
          </a:xfrm>
          <a:prstGeom prst="roundRect">
            <a:avLst>
              <a:gd name="adj" fmla="val 50000"/>
            </a:avLst>
          </a:prstGeom>
          <a:solidFill>
            <a:srgbClr val="F5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528316"/>
            <a:ext cx="347472" cy="365760"/>
          </a:xfrm>
          <a:prstGeom prst="rect">
            <a:avLst/>
          </a:prstGeom>
          <a:noFill/>
        </p:spPr>
        <p:txBody>
          <a:bodyPr wrap="square" anchor="ctr" lIns="12700" rIns="12700" tIns="12700" bIns="12700">
            <a:spAutoFit/>
          </a:bodyPr>
          <a:lstStyle/>
          <a:p>
            <a:pPr algn="ctr">
              <a:lnSpc>
                <a:spcPct val="105000"/>
              </a:lnSpc>
              <a:spcBef>
                <a:spcPts val="0"/>
              </a:spcBef>
              <a:spcAft>
                <a:spcPts val="500"/>
              </a:spcAft>
            </a:pPr>
            <a:r>
              <a:rPr sz="1400" b="1">
                <a:solidFill>
                  <a:srgbClr val="0B1020"/>
                </a:solidFill>
                <a:latin typeface="Segoe UI"/>
              </a:rPr>
              <a:t>1</a:t>
            </a:r>
          </a:p>
        </p:txBody>
      </p:sp>
      <p:sp>
        <p:nvSpPr>
          <p:cNvPr id="11" name="TextBox 10"/>
          <p:cNvSpPr txBox="1"/>
          <p:nvPr/>
        </p:nvSpPr>
        <p:spPr>
          <a:xfrm>
            <a:off x="1600200" y="2423160"/>
            <a:ext cx="6126480" cy="576072"/>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400" b="1">
                <a:solidFill>
                  <a:srgbClr val="F4F6FB"/>
                </a:solidFill>
                <a:latin typeface="Segoe UI"/>
              </a:rPr>
              <a:t>Suelto un PDF y pido “modela este proceso”</a:t>
            </a:r>
          </a:p>
        </p:txBody>
      </p:sp>
      <p:sp>
        <p:nvSpPr>
          <p:cNvPr id="12" name="TextBox 11"/>
          <p:cNvSpPr txBox="1"/>
          <p:nvPr/>
        </p:nvSpPr>
        <p:spPr>
          <a:xfrm>
            <a:off x="6858000" y="2423160"/>
            <a:ext cx="4480560" cy="576072"/>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250" b="1">
                <a:solidFill>
                  <a:srgbClr val="F5B341"/>
                </a:solidFill>
                <a:latin typeface="Segoe UI"/>
              </a:rPr>
              <a:t>🎯 Intent · 🧠 Context</a:t>
            </a:r>
          </a:p>
        </p:txBody>
      </p:sp>
      <p:sp>
        <p:nvSpPr>
          <p:cNvPr id="13" name="Rounded Rectangle 12"/>
          <p:cNvSpPr/>
          <p:nvPr/>
        </p:nvSpPr>
        <p:spPr>
          <a:xfrm>
            <a:off x="822960" y="3099815"/>
            <a:ext cx="10561320" cy="576072"/>
          </a:xfrm>
          <a:prstGeom prst="roundRect">
            <a:avLst>
              <a:gd name="adj" fmla="val 12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3099815"/>
            <a:ext cx="109728" cy="576072"/>
          </a:xfrm>
          <a:prstGeom prst="rect">
            <a:avLst/>
          </a:prstGeom>
          <a:solidFill>
            <a:srgbClr val="E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51560" y="3214115"/>
            <a:ext cx="347472" cy="347472"/>
          </a:xfrm>
          <a:prstGeom prst="roundRect">
            <a:avLst>
              <a:gd name="adj" fmla="val 50000"/>
            </a:avLst>
          </a:prstGeom>
          <a:solidFill>
            <a:srgbClr val="EF5D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204972"/>
            <a:ext cx="347472" cy="365760"/>
          </a:xfrm>
          <a:prstGeom prst="rect">
            <a:avLst/>
          </a:prstGeom>
          <a:noFill/>
        </p:spPr>
        <p:txBody>
          <a:bodyPr wrap="square" anchor="ctr" lIns="12700" rIns="12700" tIns="12700" bIns="12700">
            <a:spAutoFit/>
          </a:bodyPr>
          <a:lstStyle/>
          <a:p>
            <a:pPr algn="ctr">
              <a:lnSpc>
                <a:spcPct val="105000"/>
              </a:lnSpc>
              <a:spcBef>
                <a:spcPts val="0"/>
              </a:spcBef>
              <a:spcAft>
                <a:spcPts val="500"/>
              </a:spcAft>
            </a:pPr>
            <a:r>
              <a:rPr sz="1400" b="1">
                <a:solidFill>
                  <a:srgbClr val="0B1020"/>
                </a:solidFill>
                <a:latin typeface="Segoe UI"/>
              </a:rPr>
              <a:t>2</a:t>
            </a:r>
          </a:p>
        </p:txBody>
      </p:sp>
      <p:sp>
        <p:nvSpPr>
          <p:cNvPr id="17" name="TextBox 16"/>
          <p:cNvSpPr txBox="1"/>
          <p:nvPr/>
        </p:nvSpPr>
        <p:spPr>
          <a:xfrm>
            <a:off x="1600200" y="3099815"/>
            <a:ext cx="6126480" cy="576072"/>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400" b="1">
                <a:solidFill>
                  <a:srgbClr val="F4F6FB"/>
                </a:solidFill>
                <a:latin typeface="Segoe UI"/>
              </a:rPr>
              <a:t>El agente razona y propone un diagrama</a:t>
            </a:r>
          </a:p>
        </p:txBody>
      </p:sp>
      <p:sp>
        <p:nvSpPr>
          <p:cNvPr id="18" name="TextBox 17"/>
          <p:cNvSpPr txBox="1"/>
          <p:nvPr/>
        </p:nvSpPr>
        <p:spPr>
          <a:xfrm>
            <a:off x="6858000" y="3099815"/>
            <a:ext cx="4480560" cy="576072"/>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250" b="1">
                <a:solidFill>
                  <a:srgbClr val="EF5DA8"/>
                </a:solidFill>
                <a:latin typeface="Segoe UI"/>
              </a:rPr>
              <a:t>🔂 Loop · 🗣️ Prompt</a:t>
            </a:r>
          </a:p>
        </p:txBody>
      </p:sp>
      <p:sp>
        <p:nvSpPr>
          <p:cNvPr id="19" name="Rounded Rectangle 18"/>
          <p:cNvSpPr/>
          <p:nvPr/>
        </p:nvSpPr>
        <p:spPr>
          <a:xfrm>
            <a:off x="822960" y="3776472"/>
            <a:ext cx="10561320" cy="576072"/>
          </a:xfrm>
          <a:prstGeom prst="roundRect">
            <a:avLst>
              <a:gd name="adj" fmla="val 12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3776472"/>
            <a:ext cx="109728" cy="576072"/>
          </a:xfrm>
          <a:prstGeom prst="rect">
            <a:avLst/>
          </a:prstGeom>
          <a:solidFill>
            <a:srgbClr val="9B8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51560" y="3890772"/>
            <a:ext cx="347472" cy="347472"/>
          </a:xfrm>
          <a:prstGeom prst="roundRect">
            <a:avLst>
              <a:gd name="adj" fmla="val 50000"/>
            </a:avLst>
          </a:prstGeom>
          <a:solidFill>
            <a:srgbClr val="9B8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881628"/>
            <a:ext cx="347472" cy="365760"/>
          </a:xfrm>
          <a:prstGeom prst="rect">
            <a:avLst/>
          </a:prstGeom>
          <a:noFill/>
        </p:spPr>
        <p:txBody>
          <a:bodyPr wrap="square" anchor="ctr" lIns="12700" rIns="12700" tIns="12700" bIns="12700">
            <a:spAutoFit/>
          </a:bodyPr>
          <a:lstStyle/>
          <a:p>
            <a:pPr algn="ctr">
              <a:lnSpc>
                <a:spcPct val="105000"/>
              </a:lnSpc>
              <a:spcBef>
                <a:spcPts val="0"/>
              </a:spcBef>
              <a:spcAft>
                <a:spcPts val="500"/>
              </a:spcAft>
            </a:pPr>
            <a:r>
              <a:rPr sz="1400" b="1">
                <a:solidFill>
                  <a:srgbClr val="0B1020"/>
                </a:solidFill>
                <a:latin typeface="Segoe UI"/>
              </a:rPr>
              <a:t>3</a:t>
            </a:r>
          </a:p>
        </p:txBody>
      </p:sp>
      <p:sp>
        <p:nvSpPr>
          <p:cNvPr id="23" name="TextBox 22"/>
          <p:cNvSpPr txBox="1"/>
          <p:nvPr/>
        </p:nvSpPr>
        <p:spPr>
          <a:xfrm>
            <a:off x="1600200" y="3776472"/>
            <a:ext cx="6126480" cy="576072"/>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400" b="1">
                <a:solidFill>
                  <a:srgbClr val="F4F6FB"/>
                </a:solidFill>
                <a:latin typeface="Segoe UI"/>
              </a:rPr>
              <a:t>Reviso el artefacto y decido insertarlo</a:t>
            </a:r>
          </a:p>
        </p:txBody>
      </p:sp>
      <p:sp>
        <p:nvSpPr>
          <p:cNvPr id="24" name="TextBox 23"/>
          <p:cNvSpPr txBox="1"/>
          <p:nvPr/>
        </p:nvSpPr>
        <p:spPr>
          <a:xfrm>
            <a:off x="6858000" y="3776472"/>
            <a:ext cx="4480560" cy="576072"/>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250" b="1">
                <a:solidFill>
                  <a:srgbClr val="9B8BF0"/>
                </a:solidFill>
                <a:latin typeface="Segoe UI"/>
              </a:rPr>
              <a:t>🔁 Human-in-the-Loop</a:t>
            </a:r>
          </a:p>
        </p:txBody>
      </p:sp>
      <p:sp>
        <p:nvSpPr>
          <p:cNvPr id="25" name="Rounded Rectangle 24"/>
          <p:cNvSpPr/>
          <p:nvPr/>
        </p:nvSpPr>
        <p:spPr>
          <a:xfrm>
            <a:off x="822960" y="4453128"/>
            <a:ext cx="10561320" cy="576072"/>
          </a:xfrm>
          <a:prstGeom prst="roundRect">
            <a:avLst>
              <a:gd name="adj" fmla="val 12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960" y="4453128"/>
            <a:ext cx="109728" cy="576072"/>
          </a:xfrm>
          <a:prstGeom prst="rect">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51560" y="4567428"/>
            <a:ext cx="347472" cy="347472"/>
          </a:xfrm>
          <a:prstGeom prst="roundRect">
            <a:avLst>
              <a:gd name="adj" fmla="val 50000"/>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4558284"/>
            <a:ext cx="347472" cy="365760"/>
          </a:xfrm>
          <a:prstGeom prst="rect">
            <a:avLst/>
          </a:prstGeom>
          <a:noFill/>
        </p:spPr>
        <p:txBody>
          <a:bodyPr wrap="square" anchor="ctr" lIns="12700" rIns="12700" tIns="12700" bIns="12700">
            <a:spAutoFit/>
          </a:bodyPr>
          <a:lstStyle/>
          <a:p>
            <a:pPr algn="ctr">
              <a:lnSpc>
                <a:spcPct val="105000"/>
              </a:lnSpc>
              <a:spcBef>
                <a:spcPts val="0"/>
              </a:spcBef>
              <a:spcAft>
                <a:spcPts val="500"/>
              </a:spcAft>
            </a:pPr>
            <a:r>
              <a:rPr sz="1400" b="1">
                <a:solidFill>
                  <a:srgbClr val="0B1020"/>
                </a:solidFill>
                <a:latin typeface="Segoe UI"/>
              </a:rPr>
              <a:t>4</a:t>
            </a:r>
          </a:p>
        </p:txBody>
      </p:sp>
      <p:sp>
        <p:nvSpPr>
          <p:cNvPr id="29" name="TextBox 28"/>
          <p:cNvSpPr txBox="1"/>
          <p:nvPr/>
        </p:nvSpPr>
        <p:spPr>
          <a:xfrm>
            <a:off x="1600200" y="4453128"/>
            <a:ext cx="6126480" cy="576072"/>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400" b="1">
                <a:solidFill>
                  <a:srgbClr val="F4F6FB"/>
                </a:solidFill>
                <a:latin typeface="Segoe UI"/>
              </a:rPr>
              <a:t>Fuerzo un dato raro / corto la nube</a:t>
            </a:r>
          </a:p>
        </p:txBody>
      </p:sp>
      <p:sp>
        <p:nvSpPr>
          <p:cNvPr id="30" name="TextBox 29"/>
          <p:cNvSpPr txBox="1"/>
          <p:nvPr/>
        </p:nvSpPr>
        <p:spPr>
          <a:xfrm>
            <a:off x="6858000" y="4453128"/>
            <a:ext cx="4480560" cy="576072"/>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250" b="1">
                <a:solidFill>
                  <a:srgbClr val="3FD08C"/>
                </a:solidFill>
                <a:latin typeface="Segoe UI"/>
              </a:rPr>
              <a:t>🛟 Degrada — lienzo no vacío</a:t>
            </a:r>
          </a:p>
        </p:txBody>
      </p:sp>
      <p:sp>
        <p:nvSpPr>
          <p:cNvPr id="31" name="Rounded Rectangle 30"/>
          <p:cNvSpPr/>
          <p:nvPr/>
        </p:nvSpPr>
        <p:spPr>
          <a:xfrm>
            <a:off x="822960" y="5129784"/>
            <a:ext cx="10561320" cy="576072"/>
          </a:xfrm>
          <a:prstGeom prst="roundRect">
            <a:avLst>
              <a:gd name="adj" fmla="val 12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60" y="5129784"/>
            <a:ext cx="109728" cy="576072"/>
          </a:xfrm>
          <a:prstGeom prst="rect">
            <a:avLst/>
          </a:prstGeom>
          <a:solidFill>
            <a:srgbClr val="F2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51560" y="5244084"/>
            <a:ext cx="347472" cy="347472"/>
          </a:xfrm>
          <a:prstGeom prst="roundRect">
            <a:avLst>
              <a:gd name="adj" fmla="val 50000"/>
            </a:avLst>
          </a:prstGeom>
          <a:solidFill>
            <a:srgbClr val="F2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1560" y="5234940"/>
            <a:ext cx="347472" cy="365760"/>
          </a:xfrm>
          <a:prstGeom prst="rect">
            <a:avLst/>
          </a:prstGeom>
          <a:noFill/>
        </p:spPr>
        <p:txBody>
          <a:bodyPr wrap="square" anchor="ctr" lIns="12700" rIns="12700" tIns="12700" bIns="12700">
            <a:spAutoFit/>
          </a:bodyPr>
          <a:lstStyle/>
          <a:p>
            <a:pPr algn="ctr">
              <a:lnSpc>
                <a:spcPct val="105000"/>
              </a:lnSpc>
              <a:spcBef>
                <a:spcPts val="0"/>
              </a:spcBef>
              <a:spcAft>
                <a:spcPts val="500"/>
              </a:spcAft>
            </a:pPr>
            <a:r>
              <a:rPr sz="1400" b="1">
                <a:solidFill>
                  <a:srgbClr val="0B1020"/>
                </a:solidFill>
                <a:latin typeface="Segoe UI"/>
              </a:rPr>
              <a:t>5</a:t>
            </a:r>
          </a:p>
        </p:txBody>
      </p:sp>
      <p:sp>
        <p:nvSpPr>
          <p:cNvPr id="35" name="TextBox 34"/>
          <p:cNvSpPr txBox="1"/>
          <p:nvPr/>
        </p:nvSpPr>
        <p:spPr>
          <a:xfrm>
            <a:off x="1600200" y="5129784"/>
            <a:ext cx="6126480" cy="576072"/>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400" b="1">
                <a:solidFill>
                  <a:srgbClr val="F4F6FB"/>
                </a:solidFill>
                <a:latin typeface="Segoe UI"/>
              </a:rPr>
              <a:t>Activo modo híbrido en una tarea pesada</a:t>
            </a:r>
          </a:p>
        </p:txBody>
      </p:sp>
      <p:sp>
        <p:nvSpPr>
          <p:cNvPr id="36" name="TextBox 35"/>
          <p:cNvSpPr txBox="1"/>
          <p:nvPr/>
        </p:nvSpPr>
        <p:spPr>
          <a:xfrm>
            <a:off x="6858000" y="5129784"/>
            <a:ext cx="4480560" cy="576072"/>
          </a:xfrm>
          <a:prstGeom prst="rect">
            <a:avLst/>
          </a:prstGeom>
          <a:noFill/>
        </p:spPr>
        <p:txBody>
          <a:bodyPr wrap="square" anchor="ctr" lIns="12700" rIns="12700" tIns="12700" bIns="12700">
            <a:spAutoFit/>
          </a:bodyPr>
          <a:lstStyle/>
          <a:p>
            <a:pPr algn="l">
              <a:lnSpc>
                <a:spcPct val="105000"/>
              </a:lnSpc>
              <a:spcBef>
                <a:spcPts val="0"/>
              </a:spcBef>
              <a:spcAft>
                <a:spcPts val="500"/>
              </a:spcAft>
            </a:pPr>
            <a:r>
              <a:rPr sz="1250" b="1">
                <a:solidFill>
                  <a:srgbClr val="F27A3D"/>
                </a:solidFill>
                <a:latin typeface="Segoe UI"/>
              </a:rPr>
              <a:t>🌊 Flow — router trazable</a:t>
            </a:r>
          </a:p>
        </p:txBody>
      </p:sp>
      <p:sp>
        <p:nvSpPr>
          <p:cNvPr id="37" name="TextBox 36"/>
          <p:cNvSpPr txBox="1"/>
          <p:nvPr/>
        </p:nvSpPr>
        <p:spPr>
          <a:xfrm>
            <a:off x="11018520" y="6419088"/>
            <a:ext cx="960120" cy="365760"/>
          </a:xfrm>
          <a:prstGeom prst="rect">
            <a:avLst/>
          </a:prstGeom>
          <a:noFill/>
        </p:spPr>
        <p:txBody>
          <a:bodyPr wrap="square" anchor="t" lIns="12700" rIns="12700" tIns="12700" bIns="12700">
            <a:spAutoFit/>
          </a:bodyPr>
          <a:lstStyle/>
          <a:p>
            <a:pPr algn="r">
              <a:lnSpc>
                <a:spcPct val="105000"/>
              </a:lnSpc>
              <a:spcBef>
                <a:spcPts val="0"/>
              </a:spcBef>
              <a:spcAft>
                <a:spcPts val="500"/>
              </a:spcAft>
            </a:pPr>
            <a:r>
              <a:rPr sz="1100" b="1">
                <a:solidFill>
                  <a:srgbClr val="9AA4C0"/>
                </a:solidFill>
                <a:latin typeface="Segoe UI"/>
              </a:rPr>
              <a:t>16</a:t>
            </a:r>
          </a:p>
        </p:txBody>
      </p:sp>
      <p:sp>
        <p:nvSpPr>
          <p:cNvPr id="38" name="Rectangle 37"/>
          <p:cNvSpPr/>
          <p:nvPr/>
        </p:nvSpPr>
        <p:spPr>
          <a:xfrm>
            <a:off x="0" y="6784848"/>
            <a:ext cx="12191695" cy="73152"/>
          </a:xfrm>
          <a:prstGeom prst="rect">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138160" y="-914400"/>
            <a:ext cx="5486400" cy="5486400"/>
          </a:xfrm>
          <a:prstGeom prst="roundRect">
            <a:avLst>
              <a:gd name="adj" fmla="val 12000"/>
            </a:avLst>
          </a:prstGeom>
          <a:solidFill>
            <a:srgbClr val="14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325880"/>
            <a:ext cx="128016" cy="3200400"/>
          </a:xfrm>
          <a:prstGeom prst="rect">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097280"/>
            <a:ext cx="9601200" cy="54864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400" b="1">
                <a:solidFill>
                  <a:srgbClr val="3FD08C"/>
                </a:solidFill>
                <a:latin typeface="Segoe UI"/>
              </a:rPr>
              <a:t>PARA LLEVAR</a:t>
            </a:r>
          </a:p>
        </p:txBody>
      </p:sp>
      <p:sp>
        <p:nvSpPr>
          <p:cNvPr id="6" name="TextBox 5"/>
          <p:cNvSpPr txBox="1"/>
          <p:nvPr/>
        </p:nvSpPr>
        <p:spPr>
          <a:xfrm>
            <a:off x="1143000" y="1554480"/>
            <a:ext cx="10058400" cy="1280160"/>
          </a:xfrm>
          <a:prstGeom prst="rect">
            <a:avLst/>
          </a:prstGeom>
          <a:noFill/>
        </p:spPr>
        <p:txBody>
          <a:bodyPr wrap="square" anchor="t" lIns="12700" rIns="12700" tIns="12700" bIns="12700">
            <a:spAutoFit/>
          </a:bodyPr>
          <a:lstStyle/>
          <a:p>
            <a:pPr algn="l">
              <a:lnSpc>
                <a:spcPct val="100000"/>
              </a:lnSpc>
              <a:spcBef>
                <a:spcPts val="0"/>
              </a:spcBef>
              <a:spcAft>
                <a:spcPts val="500"/>
              </a:spcAft>
            </a:pPr>
            <a:r>
              <a:rPr sz="3400" b="1">
                <a:solidFill>
                  <a:srgbClr val="F4F6FB"/>
                </a:solidFill>
                <a:latin typeface="Segoe UI"/>
              </a:rPr>
              <a:t>El demo lo hace cualquiera.</a:t>
            </a:r>
          </a:p>
          <a:p>
            <a:pPr algn="l">
              <a:lnSpc>
                <a:spcPct val="100000"/>
              </a:lnSpc>
              <a:spcBef>
                <a:spcPts val="0"/>
              </a:spcBef>
              <a:spcAft>
                <a:spcPts val="500"/>
              </a:spcAft>
            </a:pPr>
            <a:r>
              <a:rPr sz="3400" b="1">
                <a:solidFill>
                  <a:srgbClr val="F4F6FB"/>
                </a:solidFill>
                <a:latin typeface="Segoe UI"/>
              </a:rPr>
              <a:t>La confiabilidad son las 7 ingenierías.</a:t>
            </a:r>
          </a:p>
        </p:txBody>
      </p:sp>
      <p:sp>
        <p:nvSpPr>
          <p:cNvPr id="7" name="TextBox 6"/>
          <p:cNvSpPr txBox="1"/>
          <p:nvPr/>
        </p:nvSpPr>
        <p:spPr>
          <a:xfrm>
            <a:off x="1188720" y="3200400"/>
            <a:ext cx="10058400" cy="2560320"/>
          </a:xfrm>
          <a:prstGeom prst="rect">
            <a:avLst/>
          </a:prstGeom>
          <a:noFill/>
        </p:spPr>
        <p:txBody>
          <a:bodyPr wrap="square" anchor="t" lIns="12700" rIns="12700" tIns="12700" bIns="12700">
            <a:spAutoFit/>
          </a:bodyPr>
          <a:lstStyle/>
          <a:p>
            <a:pPr algn="l">
              <a:lnSpc>
                <a:spcPct val="115000"/>
              </a:lnSpc>
              <a:spcBef>
                <a:spcPts val="0"/>
              </a:spcBef>
              <a:spcAft>
                <a:spcPts val="1100"/>
              </a:spcAft>
            </a:pPr>
            <a:r>
              <a:rPr sz="1500" b="1">
                <a:solidFill>
                  <a:srgbClr val="3FD08C"/>
                </a:solidFill>
                <a:latin typeface="Segoe UI"/>
              </a:rPr>
              <a:t>✔  </a:t>
            </a:r>
            <a:r>
              <a:rPr sz="1500" b="0">
                <a:solidFill>
                  <a:srgbClr val="F4F6FB"/>
                </a:solidFill>
                <a:latin typeface="Segoe UI"/>
              </a:rPr>
              <a:t>Prompt + Context + Intent = QUÉ le pides al modelo.</a:t>
            </a:r>
          </a:p>
          <a:p>
            <a:pPr algn="l">
              <a:lnSpc>
                <a:spcPct val="115000"/>
              </a:lnSpc>
              <a:spcBef>
                <a:spcPts val="0"/>
              </a:spcBef>
              <a:spcAft>
                <a:spcPts val="1100"/>
              </a:spcAft>
            </a:pPr>
            <a:r>
              <a:rPr sz="1500" b="1">
                <a:solidFill>
                  <a:srgbClr val="3FD08C"/>
                </a:solidFill>
                <a:latin typeface="Segoe UI"/>
              </a:rPr>
              <a:t>✔  </a:t>
            </a:r>
            <a:r>
              <a:rPr sz="1500" b="0">
                <a:solidFill>
                  <a:srgbClr val="F4F6FB"/>
                </a:solidFill>
                <a:latin typeface="Segoe UI"/>
              </a:rPr>
              <a:t>Flow + Loop + Human-in-the-Loop + Harness = CÓMO lo construyes alrededor.</a:t>
            </a:r>
          </a:p>
          <a:p>
            <a:pPr algn="l">
              <a:lnSpc>
                <a:spcPct val="115000"/>
              </a:lnSpc>
              <a:spcBef>
                <a:spcPts val="0"/>
              </a:spcBef>
              <a:spcAft>
                <a:spcPts val="1100"/>
              </a:spcAft>
            </a:pPr>
            <a:r>
              <a:rPr sz="1500" b="1">
                <a:solidFill>
                  <a:srgbClr val="3FD08C"/>
                </a:solidFill>
                <a:latin typeface="Segoe UI"/>
              </a:rPr>
              <a:t>✔  </a:t>
            </a:r>
            <a:r>
              <a:rPr sz="1500" b="0">
                <a:solidFill>
                  <a:srgbClr val="F4F6FB"/>
                </a:solidFill>
                <a:latin typeface="Segoe UI"/>
              </a:rPr>
              <a:t>Datos que importan: −79% tokens (contexto), 5 turnos (bucle), 0 escrituras sin humano.</a:t>
            </a:r>
          </a:p>
          <a:p>
            <a:pPr algn="l">
              <a:lnSpc>
                <a:spcPct val="115000"/>
              </a:lnSpc>
              <a:spcBef>
                <a:spcPts val="0"/>
              </a:spcBef>
              <a:spcAft>
                <a:spcPts val="1100"/>
              </a:spcAft>
            </a:pPr>
            <a:r>
              <a:rPr sz="1500" b="1">
                <a:solidFill>
                  <a:srgbClr val="3FD08C"/>
                </a:solidFill>
                <a:latin typeface="Segoe UI"/>
              </a:rPr>
              <a:t>✔  </a:t>
            </a:r>
            <a:r>
              <a:rPr sz="1500" b="0">
                <a:solidFill>
                  <a:srgbClr val="F4F6FB"/>
                </a:solidFill>
                <a:latin typeface="Segoe UI"/>
              </a:rPr>
              <a:t>El modelo local es una restricción que fuerza la buena arquitectura. Replícala igual en la nube.</a:t>
            </a:r>
          </a:p>
        </p:txBody>
      </p:sp>
      <p:sp>
        <p:nvSpPr>
          <p:cNvPr id="8" name="TextBox 7"/>
          <p:cNvSpPr txBox="1"/>
          <p:nvPr/>
        </p:nvSpPr>
        <p:spPr>
          <a:xfrm>
            <a:off x="1188720" y="6172200"/>
            <a:ext cx="10058400" cy="457200"/>
          </a:xfrm>
          <a:prstGeom prst="rect">
            <a:avLst/>
          </a:prstGeom>
          <a:noFill/>
        </p:spPr>
        <p:txBody>
          <a:bodyPr wrap="square" anchor="t" lIns="12700" rIns="12700" tIns="12700" bIns="12700">
            <a:spAutoFit/>
          </a:bodyPr>
          <a:lstStyle/>
          <a:p>
            <a:pPr algn="l">
              <a:lnSpc>
                <a:spcPct val="105000"/>
              </a:lnSpc>
              <a:spcBef>
                <a:spcPts val="0"/>
              </a:spcBef>
              <a:spcAft>
                <a:spcPts val="500"/>
              </a:spcAft>
            </a:pPr>
            <a:r>
              <a:rPr sz="1300" b="1">
                <a:solidFill>
                  <a:srgbClr val="9AA4C0"/>
                </a:solidFill>
                <a:latin typeface="Segoe UI"/>
              </a:rPr>
              <a:t>Processflow Architect · IA local por defecto · </a:t>
            </a:r>
            <a:r>
              <a:rPr sz="1300" b="1">
                <a:solidFill>
                  <a:srgbClr val="3FD08C"/>
                </a:solidFill>
                <a:latin typeface="Segoe UI"/>
              </a:rPr>
              <a:t>¿preguntas?</a:t>
            </a:r>
          </a:p>
        </p:txBody>
      </p:sp>
      <p:sp>
        <p:nvSpPr>
          <p:cNvPr id="9" name="Rectangle 8"/>
          <p:cNvSpPr/>
          <p:nvPr/>
        </p:nvSpPr>
        <p:spPr>
          <a:xfrm>
            <a:off x="0" y="6784848"/>
            <a:ext cx="12191695" cy="73152"/>
          </a:xfrm>
          <a:prstGeom prst="rect">
            <a:avLst/>
          </a:prstGeom>
          <a:solidFill>
            <a:srgbClr val="3FD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